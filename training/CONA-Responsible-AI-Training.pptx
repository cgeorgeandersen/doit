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111"/>
                </a:solidFill>
                <a:latin typeface="Arial"/>
              </a:defRPr>
            </a:pPr>
            <a:r>
              <a:rPr sz="1400" b="0" i="0" u="none" strike="noStrike">
                <a:solidFill>
                  <a:srgbClr val="111111"/>
                </a:solidFill>
                <a:latin typeface="Arial"/>
              </a:rPr>
              <a:t>Planned vs delivered, $k to date (illustrative)</a:t>
            </a:r>
          </a:p>
        </c:rich>
      </c:tx>
      <c:layout/>
      <c:overlay val="0"/>
    </c:title>
    <c:autoTitleDeleted val="0"/>
    <c:plotArea>
      <c:layout/>
      <c:barChart>
        <c:barDir val="bar"/>
        <c:grouping val="clustered"/>
        <c:varyColors val="0"/>
        <c:ser>
          <c:idx val="0"/>
          <c:order val="0"/>
          <c:tx>
            <c:strRef>
              <c:f>Sheet1!$B$1</c:f>
              <c:strCache>
                <c:ptCount val="1"/>
                <c:pt idx="0">
                  <c:v>Planned</c:v>
                </c:pt>
              </c:strCache>
            </c:strRef>
          </c:tx>
          <c:spPr>
            <a:solidFill>
              <a:srgbClr val="111111"/>
            </a:solidFill>
            <a:effectLst/>
          </c:spPr>
          <c:invertIfNegative val="0"/>
          <c:dLbls>
            <c:numFmt formatCode="&quot;$&quot;#,##0&quot;k&quot;" sourceLinked="0"/>
            <c:txPr>
              <a:bodyPr/>
              <a:lstStyle/>
              <a:p>
                <a:pPr>
                  <a:defRPr b="0" i="0" strike="noStrike" sz="1100" u="none">
                    <a:solidFill>
                      <a:srgbClr val="111111"/>
                    </a:solidFill>
                    <a:latin typeface="Arial"/>
                  </a:defRPr>
                </a:pPr>
              </a:p>
            </c:txPr>
            <c:showLegendKey val="0"/>
            <c:showVal val="1"/>
            <c:showCatName val="0"/>
            <c:showSerName val="0"/>
            <c:showPercent val="0"/>
            <c:showBubbleSize val="0"/>
            <c:showLeaderLines val="0"/>
          </c:dLbls>
          <c:cat>
            <c:multiLvlStrRef>
              <c:f>Sheet1!$A$2:$A$4</c:f>
              <c:multiLvlStrCache>
                <c:ptCount val="3"/>
                <c:lvl>
                  <c:pt idx="0">
                    <c:v>Support reply drafts</c:v>
                  </c:pt>
                  <c:pt idx="1">
                    <c:v>Contract review</c:v>
                  </c:pt>
                  <c:pt idx="2">
                    <c:v>Incident summaries</c:v>
                  </c:pt>
                </c:lvl>
              </c:multiLvlStrCache>
            </c:multiLvlStrRef>
          </c:cat>
          <c:val>
            <c:numRef>
              <c:f>Sheet1!$B$2:$B$4</c:f>
              <c:numCache>
                <c:formatCode>General</c:formatCode>
                <c:ptCount val="3"/>
                <c:pt idx="0">
                  <c:v>158</c:v>
                </c:pt>
                <c:pt idx="1">
                  <c:v>60</c:v>
                </c:pt>
                <c:pt idx="2">
                  <c:v>40</c:v>
                </c:pt>
              </c:numCache>
            </c:numRef>
          </c:val>
        </c:ser>
        <c:ser>
          <c:idx val="1"/>
          <c:order val="1"/>
          <c:tx>
            <c:strRef>
              <c:f>Sheet1!$C$1</c:f>
              <c:strCache>
                <c:ptCount val="1"/>
                <c:pt idx="0">
                  <c:v>Delivered</c:v>
                </c:pt>
              </c:strCache>
            </c:strRef>
          </c:tx>
          <c:spPr>
            <a:solidFill>
              <a:srgbClr val="E4002B"/>
            </a:solidFill>
            <a:effectLst/>
          </c:spPr>
          <c:invertIfNegative val="0"/>
          <c:dLbls>
            <c:numFmt formatCode="&quot;$&quot;#,##0&quot;k&quot;" sourceLinked="0"/>
            <c:txPr>
              <a:bodyPr/>
              <a:lstStyle/>
              <a:p>
                <a:pPr>
                  <a:defRPr b="0" i="0" strike="noStrike" sz="1100" u="none">
                    <a:solidFill>
                      <a:srgbClr val="111111"/>
                    </a:solidFill>
                    <a:latin typeface="Arial"/>
                  </a:defRPr>
                </a:pPr>
              </a:p>
            </c:txPr>
            <c:showLegendKey val="0"/>
            <c:showVal val="1"/>
            <c:showCatName val="0"/>
            <c:showSerName val="0"/>
            <c:showPercent val="0"/>
            <c:showBubbleSize val="0"/>
            <c:showLeaderLines val="0"/>
          </c:dLbls>
          <c:cat>
            <c:multiLvlStrRef>
              <c:f>Sheet1!$A$2:$A$4</c:f>
              <c:multiLvlStrCache>
                <c:ptCount val="3"/>
                <c:lvl>
                  <c:pt idx="0">
                    <c:v>Support reply drafts</c:v>
                  </c:pt>
                  <c:pt idx="1">
                    <c:v>Contract review</c:v>
                  </c:pt>
                  <c:pt idx="2">
                    <c:v>Incident summaries</c:v>
                  </c:pt>
                </c:lvl>
              </c:multiLvlStrCache>
            </c:multiLvlStrRef>
          </c:cat>
          <c:val>
            <c:numRef>
              <c:f>Sheet1!$C$2:$C$4</c:f>
              <c:numCache>
                <c:formatCode>General</c:formatCode>
                <c:ptCount val="3"/>
                <c:pt idx="0">
                  <c:v>172</c:v>
                </c:pt>
                <c:pt idx="1">
                  <c:v>41</c:v>
                </c:pt>
                <c:pt idx="2">
                  <c:v>38</c:v>
                </c:pt>
              </c:numCache>
            </c:numRef>
          </c:val>
        </c:ser>
        <c:dLbls>
          <c:numFmt formatCode="&quot;$&quot;#,##0&quot;k&quot;" sourceLinked="0"/>
          <c:txPr>
            <a:bodyPr/>
            <a:lstStyle/>
            <a:p>
              <a:pPr>
                <a:defRPr b="0" i="0" strike="noStrike" sz="1100" u="none">
                  <a:solidFill>
                    <a:srgbClr val="11111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D3D3D"/>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session takes about 75 minutes, including a short knowledge check at the end. It's for everyone at CONA Services, not just technical teams. By the end you'll know how to use AI tools like Microsoft 365 Copilot well and safely, what our six responsible AI principles mean in practice, how we decide which AI projects go ahead, and how we show that AI is worth the investment. Everything here follows Microsoft's published guidance, because we're a Microsoft 365 company and it's the framework our tools are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modules. Emphasise that modules 1 to 3 are for everyone, every day. Module 4 matters most for anyone who owns or sponsors a project, but everyone should know it exists so they know when to use it. Module 5 is how we show leadership that this is worth it, and it depends on everyone logging their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outcomes. If someone only remembers one thing, it should be the second: the six principles are the questions we ask about any use of AI. The rest of the session hangs off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The goal is to give everyone the same mental model of what these tools are, so the rest of the session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new-hire analogy is the one to land. A very capable new hire who's read everything but never worked here. You'd give them context, check their work, and not let them make decisions about people on day one. AI is the same. Call out the arithmetic point: models predict text, they don't calculate. For numbers, use Excel and let AI explain or write the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down the table and ask the room before revealing the middle column if you have time. The point: AI is one tool among several. Conventional automation (Power Automate, a macro, a scheduled report) is often the better answer when rules are clear. That's not a failure of AI; it's good judgement. Our Idea check in the portal will tell you when that's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Copilot is grounded in your own work data through Microsoft Graph, which means it can only use what you can already access. That's great for usefulness. It also means that if something has been shared too widely, Copilot will find it quickly. We come back to that in module 3. The training commitment is Microsoft's published position for Microsoft 365 Copilot; point people to our AI policy for our own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disappointing answers come from short prompts. The fix is the same thing you'd do for a colleague: say who it's for, what you want, give them the material, and say what good looks like. Read out the strong example. Point out that nothing in it is technical; it's just a clear brief. The portal's prompt library has 41 ready-made prompts built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These six principles come from Microsoft's Responsible AI Standard. They're the same principles Microsoft's Cloud Adoption Framework uses to assess AI risk, and they're the backbone of our own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six on one page. Microsoft's one-line definition is in italics, and underneath is the plain question each one turns into for us. Over the next six slides we'll take each principle, say what it means for your day-to-day use, and what it means for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Fairness. For everyday use, the key message is don't use AI to judge people. For projects, the first question is whether it's what Microsoft calls a sensitive use, meaning it could affect someone's job, pay, credit, housing or access to services. If so, it's automatically our highest risk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and safety. Day to day, this is simply: check before you trust. For projects, it's about testing on real examples, writing the pass mark down before the pilot starts so it can't be quietly moved, and monitoring once it's live. Every project needs a way to switch it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and security. The everyday rules are approved tools, minimum data, and careful sharing. For projects: privacy review for personal data, security review for any new vendor or model. The placeholder trick is the most useful habit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Inclusiveness is easy to forget. Think about who uses a tool and who is affected by it: people using screen readers, people working in a second language, people who prefer to work differently. Projects should test for this and keep a non-AI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Transparency means people understand when AI is involved and what its limits are. Day to day, don't pass AI output off as a checked fact. Open the references Copilot shows you. For projects, label AI output and explain its limits in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Accountability is the principle everything else rests on. A person owns every output and every project. For projects that means a named owner, a named reviewer, a complaints route, and approvals from people who aren't involved in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triggers come directly from Microsoft's Responsible AI Standard, where they trigger Microsoft's own sensitive-use review. We use them the same way. If an AI use could affect someone's life opportunities, cause harm, or touch human rights, it goes to the highest tier with Legal and Security involved. Stress the last line: it's not a ban, it's making sure the right people review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Transparency, with accountability close behind; customers should know AI is involved and a person should check. It's also Tier 3 in our process because output reaches customers unchecked. B: Privacy and security. The fix is the sharing, not Copilot. C: Fairness, and it's a sensitive use because it affects people's pay and careers, so Tier 3 with a person making every decision. D: Reliability and safety; monitoring and a pass mark would have caught it. Several principles usually apply; the point is to get people asking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This is the everyday practice module. These habits apply every time you use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traffic light is the simplest way to remember this. Most everyday work is green. Personal and confidential data is amber: fine in approved tools like Microsoft 365 Copilot, but only share what's needed. Red is never: company data in personal accounts or public chatbots, secrets, and regulated data without written approval. Tell people exactly where the AI policy lives and who to ask. Adjust this slide if our policy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practical slide for a Microsoft 365 company. Copilot doesn't create new access, but it makes existing over-sharing visible very quickly. The fix is good sharing habits and sensitivity labels, which are part of Microsoft Purview. Ask everyone to check the sharing settings on the three folders or sites they use most this week. Confirm with IT which sensitivity labels we use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quick passes: facts, promises, tone, gaps. Together they take about two minutes. The promises pass is the one people skip, and it's where the real incidents come from: an AI-drafted email that promised a credit or a delivery date nobody approved. This is accountability and reliability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to module 4. Personal productivity, meaning your own drafts, summaries and rewrites that you check, doesn't need approval. But the moment AI output reaches customers, affects people, uses sensitive data at scale, acts automatically, or becomes something a team depends on, it's a project. Start it on the Projects page of the AI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Governance isn't there to stop things. It's how we say yes to AI projects safely and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Microsoft's Cloud Adoption Framework sets out four steps for governing AI: assess risks, document policies, enforce them, and monitor. Microsoft's guidance uses the six principles as the lens for assessment and recommends quarterly risk reviews for high-risk AI and annual reviews for lower-risk systems. We've built each step into the AI portal so the process is the same for every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stages from idea to closed. The two red ones are the checkpoints leadership cares about most: approval, and going live. The gates are enforced in the portal, which is the 'enforce' step from Microsoft's framework. The independent-approver rule comes from Microsoft's guidance that reviews should be done by people who aren't involved in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tier is set by a nine-question risk screen in the portal. The first three questions are Microsoft's sensitive uses; any yes makes it Tier 3. Tier 3 projects get a risk review every quarter once live, in line with Microsoft's guidance for high-risk AI. Everything else gets a yearly review. Most everyday projects will be Tier 1 or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list. Tier 1 projects need the basics: intake, risk tier, brief, approval, benefits and a review. Tier 2 adds a pilot with a pass mark and the Responsible AI assessment. Tier 3 adds Privacy and Legal sign-off before going live. The governance pack PDF bundles all of it with an audit trail, which is what an auditor or the board will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Responsible AI assessment is the heart of the 'assess' step. It's six short answers, one per principle. Keep answers concrete: names, numbers, dates. 'We'll monitor it' is not an answer; 'the support ops lead reviews the weekly edit rate and error log'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Accountability in practice. Everyone has a role, including people who never start a project. Confirm the names for the AI review board and the AI governance lead before you present, and add them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'monitor' step. The most common failure in AI governance is treating approval as the finish line. Models, data and how people use a tool all change over time. Scheduled reviews and benefits tracking keep it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If we can't show AI is worth it, we lose the budget and the goodwill. If we overstate it, we lose trust. This module is about getting that balance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that make our numbers credible. First, time saved only counts once someone says where the time goes: a hire we don't need, overtime that stops, or named work people move to. Second, the confidence haircut: an uncertain benefit is counted at a fraction of its value, the way you'd value a raffle ticket at its odds. Costs are never discounted, because we'll pay them either way. Leaders trust numbers that visibly under-promise.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numbers on the Value page of the AI portal and in the quarterly value report. The chart is illustrative, showing how planned and delivered benefits are compared project by project. Delivered value, backed by evidence, is the number that matters most, because it's real. Hours back shows scale, but it isn't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Excel, not AI. AI can explain or write the formula. 2: The document was shared more widely than intended and Copilot found it, because Copilot only uses what you can already open. Tell the owner or IT so they can fix the sharing. 3: Consequential impact on someone's legal position or life opportunities; risk of physical or psychological injury; threat to human rights. 4: Before the pilot started, so it can't be moved to make the pilot pass. 5: None of it, until someone names where the time goes: a hire not needed, overtime stopped, or named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plan. Share the portal link in the chat now. Encourage managers to run the 30-minute team session within the month. Champions are the people who help others. We want at least one in every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three red placeholders before presenting: the portal link, the review board contact, and the IT service desk link. The Microsoft sources are public and worth sharing with anyone who wants to go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words to leave them with. Use it well: brief it like a colleague and use it on real work. Check it: facts, promises, tone, gaps. Own it: you're accountable for what you send, and every AI project has a named owner.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4002B"/>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320040"/>
          </a:xfrm>
          <a:prstGeom prst="rect">
            <a:avLst/>
          </a:prstGeom>
          <a:noFill/>
          <a:ln/>
        </p:spPr>
        <p:txBody>
          <a:bodyPr wrap="square" lIns="0" tIns="0" rIns="0" bIns="0" rtlCol="0" anchor="t"/>
          <a:lstStyle/>
          <a:p>
            <a:pPr indent="0" marL="0">
              <a:buNone/>
            </a:pPr>
            <a:r>
              <a:rPr lang="en-US" sz="1300" b="1" spc="300" kern="0" dirty="0">
                <a:solidFill>
                  <a:srgbClr val="FFFFFF"/>
                </a:solidFill>
                <a:latin typeface="Arial" pitchFamily="34" charset="0"/>
                <a:ea typeface="Arial" pitchFamily="34" charset="-122"/>
                <a:cs typeface="Arial" pitchFamily="34" charset="-120"/>
              </a:rPr>
              <a:t>CONA SERVICES  ·  AI ENABLEMENT</a:t>
            </a:r>
            <a:endParaRPr lang="en-US" sz="1300" dirty="0"/>
          </a:p>
        </p:txBody>
      </p:sp>
      <p:sp>
        <p:nvSpPr>
          <p:cNvPr id="3" name="Text 1"/>
          <p:cNvSpPr txBox="1"/>
          <p:nvPr/>
        </p:nvSpPr>
        <p:spPr>
          <a:xfrm>
            <a:off x="548640" y="1554480"/>
            <a:ext cx="8229600" cy="219456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Responsible AI</a:t>
            </a:r>
            <a:endParaRPr lang="en-US" sz="5400" dirty="0"/>
          </a:p>
          <a:p>
            <a:pPr indent="0" marL="0">
              <a:buNone/>
            </a:pPr>
            <a:r>
              <a:rPr lang="en-US" sz="5400" b="1" dirty="0">
                <a:solidFill>
                  <a:srgbClr val="FFFFFF"/>
                </a:solidFill>
                <a:latin typeface="Arial" pitchFamily="34" charset="0"/>
                <a:ea typeface="Arial" pitchFamily="34" charset="-122"/>
                <a:cs typeface="Arial" pitchFamily="34" charset="-120"/>
              </a:rPr>
              <a:t>at CONA Services</a:t>
            </a:r>
            <a:endParaRPr lang="en-US" sz="5400" dirty="0"/>
          </a:p>
        </p:txBody>
      </p:sp>
      <p:sp>
        <p:nvSpPr>
          <p:cNvPr id="4" name="Text 2"/>
          <p:cNvSpPr txBox="1"/>
          <p:nvPr/>
        </p:nvSpPr>
        <p:spPr>
          <a:xfrm>
            <a:off x="548640" y="3840480"/>
            <a:ext cx="8229600" cy="54864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Using AI well, using it safely, and proving it's worth it</a:t>
            </a:r>
            <a:endParaRPr lang="en-US" sz="2200" dirty="0"/>
          </a:p>
        </p:txBody>
      </p:sp>
      <p:sp>
        <p:nvSpPr>
          <p:cNvPr id="5" name="Text 3"/>
          <p:cNvSpPr txBox="1"/>
          <p:nvPr/>
        </p:nvSpPr>
        <p:spPr>
          <a:xfrm>
            <a:off x="548640" y="4754880"/>
            <a:ext cx="9144000" cy="365760"/>
          </a:xfrm>
          <a:prstGeom prst="rect">
            <a:avLst/>
          </a:prstGeom>
          <a:noFill/>
          <a:ln/>
        </p:spPr>
        <p:txBody>
          <a:bodyPr wrap="square" lIns="0" tIns="0" rIns="0" bIns="0" rtlCol="0" anchor="t"/>
          <a:lstStyle/>
          <a:p>
            <a:pPr indent="0" marL="0">
              <a:buNone/>
            </a:pPr>
            <a:r>
              <a:rPr lang="en-US" sz="1400" dirty="0">
                <a:solidFill>
                  <a:srgbClr val="FFE3E8"/>
                </a:solidFill>
                <a:latin typeface="Arial" pitchFamily="34" charset="0"/>
                <a:ea typeface="Arial" pitchFamily="34" charset="-122"/>
                <a:cs typeface="Arial" pitchFamily="34" charset="-120"/>
              </a:rPr>
              <a:t>Company-wide training  ·  Built on Microsoft's Responsible AI Standard and the Cloud Adoption Framework for AI</a:t>
            </a:r>
            <a:endParaRPr lang="en-US" sz="1400" dirty="0"/>
          </a:p>
        </p:txBody>
      </p:sp>
      <p:sp>
        <p:nvSpPr>
          <p:cNvPr id="6" name="Shape 4"/>
          <p:cNvSpPr/>
          <p:nvPr/>
        </p:nvSpPr>
        <p:spPr>
          <a:xfrm>
            <a:off x="9326880" y="1371600"/>
            <a:ext cx="2286000" cy="228600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9875520" y="1920240"/>
            <a:ext cx="1188720" cy="1188720"/>
          </a:xfrm>
          <a:prstGeom prst="rect">
            <a:avLst/>
          </a:prstGeom>
        </p:spPr>
      </p:pic>
      <p:sp>
        <p:nvSpPr>
          <p:cNvPr id="8" name="Text 5"/>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9" name="Text 6"/>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FFD1DA"/>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TODAY</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Five short modules, about 75 minutes</a:t>
            </a:r>
            <a:endParaRPr lang="en-US" sz="3200" dirty="0"/>
          </a:p>
        </p:txBody>
      </p:sp>
      <p:sp>
        <p:nvSpPr>
          <p:cNvPr id="4" name="Text 2"/>
          <p:cNvSpPr txBox="1"/>
          <p:nvPr/>
        </p:nvSpPr>
        <p:spPr>
          <a:xfrm>
            <a:off x="548640" y="1965960"/>
            <a:ext cx="822960" cy="640080"/>
          </a:xfrm>
          <a:prstGeom prst="rect">
            <a:avLst/>
          </a:prstGeom>
          <a:noFill/>
          <a:ln/>
        </p:spPr>
        <p:txBody>
          <a:bodyPr wrap="square" lIns="0" tIns="0" rIns="0" bIns="0" rtlCol="0" anchor="t"/>
          <a:lstStyle/>
          <a:p>
            <a:pPr indent="0" marL="0">
              <a:buNone/>
            </a:pPr>
            <a:r>
              <a:rPr lang="en-US" sz="3000" b="1" dirty="0">
                <a:solidFill>
                  <a:srgbClr val="E4002B"/>
                </a:solidFill>
                <a:latin typeface="Arial" pitchFamily="34" charset="0"/>
                <a:ea typeface="Arial" pitchFamily="34" charset="-122"/>
                <a:cs typeface="Arial" pitchFamily="34" charset="-120"/>
              </a:rPr>
              <a:t>01</a:t>
            </a:r>
            <a:endParaRPr lang="en-US" sz="3000" dirty="0"/>
          </a:p>
        </p:txBody>
      </p:sp>
      <p:sp>
        <p:nvSpPr>
          <p:cNvPr id="5" name="Text 3"/>
          <p:cNvSpPr txBox="1"/>
          <p:nvPr/>
        </p:nvSpPr>
        <p:spPr>
          <a:xfrm>
            <a:off x="1463040" y="1984248"/>
            <a:ext cx="4572000" cy="36576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AI basics</a:t>
            </a:r>
            <a:endParaRPr lang="en-US" sz="2000" dirty="0"/>
          </a:p>
        </p:txBody>
      </p:sp>
      <p:sp>
        <p:nvSpPr>
          <p:cNvPr id="6" name="Text 4"/>
          <p:cNvSpPr txBox="1"/>
          <p:nvPr/>
        </p:nvSpPr>
        <p:spPr>
          <a:xfrm>
            <a:off x="1463040" y="2350008"/>
            <a:ext cx="7315200" cy="32004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What it's good at, what it isn't, and how Copilot works</a:t>
            </a:r>
            <a:endParaRPr lang="en-US" sz="1400" dirty="0"/>
          </a:p>
        </p:txBody>
      </p:sp>
      <p:sp>
        <p:nvSpPr>
          <p:cNvPr id="7" name="Text 5"/>
          <p:cNvSpPr txBox="1"/>
          <p:nvPr/>
        </p:nvSpPr>
        <p:spPr>
          <a:xfrm>
            <a:off x="10180015" y="2057400"/>
            <a:ext cx="1463040" cy="365760"/>
          </a:xfrm>
          <a:prstGeom prst="rect">
            <a:avLst/>
          </a:prstGeom>
          <a:noFill/>
          <a:ln/>
        </p:spPr>
        <p:txBody>
          <a:bodyPr wrap="square" lIns="0" tIns="0" rIns="0" bIns="0" rtlCol="0" anchor="t"/>
          <a:lstStyle/>
          <a:p>
            <a:pPr algn="r" indent="0" marL="0">
              <a:buNone/>
            </a:pPr>
            <a:r>
              <a:rPr lang="en-US" sz="1400" dirty="0">
                <a:solidFill>
                  <a:srgbClr val="3D3D3D"/>
                </a:solidFill>
                <a:latin typeface="Arial" pitchFamily="34" charset="0"/>
                <a:ea typeface="Arial" pitchFamily="34" charset="-122"/>
                <a:cs typeface="Arial" pitchFamily="34" charset="-120"/>
              </a:rPr>
              <a:t>10 min</a:t>
            </a:r>
            <a:endParaRPr lang="en-US" sz="1400" dirty="0"/>
          </a:p>
        </p:txBody>
      </p:sp>
      <p:sp>
        <p:nvSpPr>
          <p:cNvPr id="8" name="Shape 6"/>
          <p:cNvSpPr/>
          <p:nvPr/>
        </p:nvSpPr>
        <p:spPr>
          <a:xfrm>
            <a:off x="1463040" y="2734056"/>
            <a:ext cx="10180015" cy="0"/>
          </a:xfrm>
          <a:prstGeom prst="line">
            <a:avLst/>
          </a:prstGeom>
          <a:noFill/>
          <a:ln w="12700">
            <a:solidFill>
              <a:srgbClr val="E2E2E2"/>
            </a:solidFill>
            <a:prstDash val="solid"/>
          </a:ln>
        </p:spPr>
      </p:sp>
      <p:sp>
        <p:nvSpPr>
          <p:cNvPr id="9" name="Text 7"/>
          <p:cNvSpPr txBox="1"/>
          <p:nvPr/>
        </p:nvSpPr>
        <p:spPr>
          <a:xfrm>
            <a:off x="548640" y="2788920"/>
            <a:ext cx="822960" cy="640080"/>
          </a:xfrm>
          <a:prstGeom prst="rect">
            <a:avLst/>
          </a:prstGeom>
          <a:noFill/>
          <a:ln/>
        </p:spPr>
        <p:txBody>
          <a:bodyPr wrap="square" lIns="0" tIns="0" rIns="0" bIns="0" rtlCol="0" anchor="t"/>
          <a:lstStyle/>
          <a:p>
            <a:pPr indent="0" marL="0">
              <a:buNone/>
            </a:pPr>
            <a:r>
              <a:rPr lang="en-US" sz="3000" b="1" dirty="0">
                <a:solidFill>
                  <a:srgbClr val="E4002B"/>
                </a:solidFill>
                <a:latin typeface="Arial" pitchFamily="34" charset="0"/>
                <a:ea typeface="Arial" pitchFamily="34" charset="-122"/>
                <a:cs typeface="Arial" pitchFamily="34" charset="-120"/>
              </a:rPr>
              <a:t>02</a:t>
            </a:r>
            <a:endParaRPr lang="en-US" sz="3000" dirty="0"/>
          </a:p>
        </p:txBody>
      </p:sp>
      <p:sp>
        <p:nvSpPr>
          <p:cNvPr id="10" name="Text 8"/>
          <p:cNvSpPr txBox="1"/>
          <p:nvPr/>
        </p:nvSpPr>
        <p:spPr>
          <a:xfrm>
            <a:off x="1463040" y="2807208"/>
            <a:ext cx="4572000" cy="36576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Microsoft's six principles</a:t>
            </a:r>
            <a:endParaRPr lang="en-US" sz="2000" dirty="0"/>
          </a:p>
        </p:txBody>
      </p:sp>
      <p:sp>
        <p:nvSpPr>
          <p:cNvPr id="11" name="Text 9"/>
          <p:cNvSpPr txBox="1"/>
          <p:nvPr/>
        </p:nvSpPr>
        <p:spPr>
          <a:xfrm>
            <a:off x="1463040" y="3172968"/>
            <a:ext cx="7315200" cy="32004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The rules we use to judge any use of AI</a:t>
            </a:r>
            <a:endParaRPr lang="en-US" sz="1400" dirty="0"/>
          </a:p>
        </p:txBody>
      </p:sp>
      <p:sp>
        <p:nvSpPr>
          <p:cNvPr id="12" name="Text 10"/>
          <p:cNvSpPr txBox="1"/>
          <p:nvPr/>
        </p:nvSpPr>
        <p:spPr>
          <a:xfrm>
            <a:off x="10180015" y="2880360"/>
            <a:ext cx="1463040" cy="365760"/>
          </a:xfrm>
          <a:prstGeom prst="rect">
            <a:avLst/>
          </a:prstGeom>
          <a:noFill/>
          <a:ln/>
        </p:spPr>
        <p:txBody>
          <a:bodyPr wrap="square" lIns="0" tIns="0" rIns="0" bIns="0" rtlCol="0" anchor="t"/>
          <a:lstStyle/>
          <a:p>
            <a:pPr algn="r" indent="0" marL="0">
              <a:buNone/>
            </a:pPr>
            <a:r>
              <a:rPr lang="en-US" sz="1400" dirty="0">
                <a:solidFill>
                  <a:srgbClr val="3D3D3D"/>
                </a:solidFill>
                <a:latin typeface="Arial" pitchFamily="34" charset="0"/>
                <a:ea typeface="Arial" pitchFamily="34" charset="-122"/>
                <a:cs typeface="Arial" pitchFamily="34" charset="-120"/>
              </a:rPr>
              <a:t>15 min</a:t>
            </a:r>
            <a:endParaRPr lang="en-US" sz="1400" dirty="0"/>
          </a:p>
        </p:txBody>
      </p:sp>
      <p:sp>
        <p:nvSpPr>
          <p:cNvPr id="13" name="Shape 11"/>
          <p:cNvSpPr/>
          <p:nvPr/>
        </p:nvSpPr>
        <p:spPr>
          <a:xfrm>
            <a:off x="1463040" y="3557016"/>
            <a:ext cx="10180015" cy="0"/>
          </a:xfrm>
          <a:prstGeom prst="line">
            <a:avLst/>
          </a:prstGeom>
          <a:noFill/>
          <a:ln w="12700">
            <a:solidFill>
              <a:srgbClr val="E2E2E2"/>
            </a:solidFill>
            <a:prstDash val="solid"/>
          </a:ln>
        </p:spPr>
      </p:sp>
      <p:sp>
        <p:nvSpPr>
          <p:cNvPr id="14" name="Text 12"/>
          <p:cNvSpPr txBox="1"/>
          <p:nvPr/>
        </p:nvSpPr>
        <p:spPr>
          <a:xfrm>
            <a:off x="548640" y="3611880"/>
            <a:ext cx="822960" cy="640080"/>
          </a:xfrm>
          <a:prstGeom prst="rect">
            <a:avLst/>
          </a:prstGeom>
          <a:noFill/>
          <a:ln/>
        </p:spPr>
        <p:txBody>
          <a:bodyPr wrap="square" lIns="0" tIns="0" rIns="0" bIns="0" rtlCol="0" anchor="t"/>
          <a:lstStyle/>
          <a:p>
            <a:pPr indent="0" marL="0">
              <a:buNone/>
            </a:pPr>
            <a:r>
              <a:rPr lang="en-US" sz="3000" b="1" dirty="0">
                <a:solidFill>
                  <a:srgbClr val="E4002B"/>
                </a:solidFill>
                <a:latin typeface="Arial" pitchFamily="34" charset="0"/>
                <a:ea typeface="Arial" pitchFamily="34" charset="-122"/>
                <a:cs typeface="Arial" pitchFamily="34" charset="-120"/>
              </a:rPr>
              <a:t>03</a:t>
            </a:r>
            <a:endParaRPr lang="en-US" sz="3000" dirty="0"/>
          </a:p>
        </p:txBody>
      </p:sp>
      <p:sp>
        <p:nvSpPr>
          <p:cNvPr id="15" name="Text 13"/>
          <p:cNvSpPr txBox="1"/>
          <p:nvPr/>
        </p:nvSpPr>
        <p:spPr>
          <a:xfrm>
            <a:off x="1463040" y="3630168"/>
            <a:ext cx="4572000" cy="36576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Using AI safely every day</a:t>
            </a:r>
            <a:endParaRPr lang="en-US" sz="2000" dirty="0"/>
          </a:p>
        </p:txBody>
      </p:sp>
      <p:sp>
        <p:nvSpPr>
          <p:cNvPr id="16" name="Text 14"/>
          <p:cNvSpPr txBox="1"/>
          <p:nvPr/>
        </p:nvSpPr>
        <p:spPr>
          <a:xfrm>
            <a:off x="1463040" y="3995928"/>
            <a:ext cx="7315200" cy="32004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Data, sharing, checking, and when to ask</a:t>
            </a:r>
            <a:endParaRPr lang="en-US" sz="1400" dirty="0"/>
          </a:p>
        </p:txBody>
      </p:sp>
      <p:sp>
        <p:nvSpPr>
          <p:cNvPr id="17" name="Text 15"/>
          <p:cNvSpPr txBox="1"/>
          <p:nvPr/>
        </p:nvSpPr>
        <p:spPr>
          <a:xfrm>
            <a:off x="10180015" y="3703320"/>
            <a:ext cx="1463040" cy="365760"/>
          </a:xfrm>
          <a:prstGeom prst="rect">
            <a:avLst/>
          </a:prstGeom>
          <a:noFill/>
          <a:ln/>
        </p:spPr>
        <p:txBody>
          <a:bodyPr wrap="square" lIns="0" tIns="0" rIns="0" bIns="0" rtlCol="0" anchor="t"/>
          <a:lstStyle/>
          <a:p>
            <a:pPr algn="r" indent="0" marL="0">
              <a:buNone/>
            </a:pPr>
            <a:r>
              <a:rPr lang="en-US" sz="1400" dirty="0">
                <a:solidFill>
                  <a:srgbClr val="3D3D3D"/>
                </a:solidFill>
                <a:latin typeface="Arial" pitchFamily="34" charset="0"/>
                <a:ea typeface="Arial" pitchFamily="34" charset="-122"/>
                <a:cs typeface="Arial" pitchFamily="34" charset="-120"/>
              </a:rPr>
              <a:t>15 min</a:t>
            </a:r>
            <a:endParaRPr lang="en-US" sz="1400" dirty="0"/>
          </a:p>
        </p:txBody>
      </p:sp>
      <p:sp>
        <p:nvSpPr>
          <p:cNvPr id="18" name="Shape 16"/>
          <p:cNvSpPr/>
          <p:nvPr/>
        </p:nvSpPr>
        <p:spPr>
          <a:xfrm>
            <a:off x="1463040" y="4379976"/>
            <a:ext cx="10180015" cy="0"/>
          </a:xfrm>
          <a:prstGeom prst="line">
            <a:avLst/>
          </a:prstGeom>
          <a:noFill/>
          <a:ln w="12700">
            <a:solidFill>
              <a:srgbClr val="E2E2E2"/>
            </a:solidFill>
            <a:prstDash val="solid"/>
          </a:ln>
        </p:spPr>
      </p:sp>
      <p:sp>
        <p:nvSpPr>
          <p:cNvPr id="19" name="Text 17"/>
          <p:cNvSpPr txBox="1"/>
          <p:nvPr/>
        </p:nvSpPr>
        <p:spPr>
          <a:xfrm>
            <a:off x="548640" y="4434840"/>
            <a:ext cx="822960" cy="640080"/>
          </a:xfrm>
          <a:prstGeom prst="rect">
            <a:avLst/>
          </a:prstGeom>
          <a:noFill/>
          <a:ln/>
        </p:spPr>
        <p:txBody>
          <a:bodyPr wrap="square" lIns="0" tIns="0" rIns="0" bIns="0" rtlCol="0" anchor="t"/>
          <a:lstStyle/>
          <a:p>
            <a:pPr indent="0" marL="0">
              <a:buNone/>
            </a:pPr>
            <a:r>
              <a:rPr lang="en-US" sz="3000" b="1" dirty="0">
                <a:solidFill>
                  <a:srgbClr val="E4002B"/>
                </a:solidFill>
                <a:latin typeface="Arial" pitchFamily="34" charset="0"/>
                <a:ea typeface="Arial" pitchFamily="34" charset="-122"/>
                <a:cs typeface="Arial" pitchFamily="34" charset="-120"/>
              </a:rPr>
              <a:t>04</a:t>
            </a:r>
            <a:endParaRPr lang="en-US" sz="3000" dirty="0"/>
          </a:p>
        </p:txBody>
      </p:sp>
      <p:sp>
        <p:nvSpPr>
          <p:cNvPr id="20" name="Text 18"/>
          <p:cNvSpPr txBox="1"/>
          <p:nvPr/>
        </p:nvSpPr>
        <p:spPr>
          <a:xfrm>
            <a:off x="1463040" y="4453128"/>
            <a:ext cx="4572000" cy="36576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How we govern AI projects</a:t>
            </a:r>
            <a:endParaRPr lang="en-US" sz="2000" dirty="0"/>
          </a:p>
        </p:txBody>
      </p:sp>
      <p:sp>
        <p:nvSpPr>
          <p:cNvPr id="21" name="Text 19"/>
          <p:cNvSpPr txBox="1"/>
          <p:nvPr/>
        </p:nvSpPr>
        <p:spPr>
          <a:xfrm>
            <a:off x="1463040" y="4818888"/>
            <a:ext cx="7315200" cy="32004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Risk tiers, approvals and the paperwork</a:t>
            </a:r>
            <a:endParaRPr lang="en-US" sz="1400" dirty="0"/>
          </a:p>
        </p:txBody>
      </p:sp>
      <p:sp>
        <p:nvSpPr>
          <p:cNvPr id="22" name="Text 20"/>
          <p:cNvSpPr txBox="1"/>
          <p:nvPr/>
        </p:nvSpPr>
        <p:spPr>
          <a:xfrm>
            <a:off x="10180015" y="4526280"/>
            <a:ext cx="1463040" cy="365760"/>
          </a:xfrm>
          <a:prstGeom prst="rect">
            <a:avLst/>
          </a:prstGeom>
          <a:noFill/>
          <a:ln/>
        </p:spPr>
        <p:txBody>
          <a:bodyPr wrap="square" lIns="0" tIns="0" rIns="0" bIns="0" rtlCol="0" anchor="t"/>
          <a:lstStyle/>
          <a:p>
            <a:pPr algn="r" indent="0" marL="0">
              <a:buNone/>
            </a:pPr>
            <a:r>
              <a:rPr lang="en-US" sz="1400" dirty="0">
                <a:solidFill>
                  <a:srgbClr val="3D3D3D"/>
                </a:solidFill>
                <a:latin typeface="Arial" pitchFamily="34" charset="0"/>
                <a:ea typeface="Arial" pitchFamily="34" charset="-122"/>
                <a:cs typeface="Arial" pitchFamily="34" charset="-120"/>
              </a:rPr>
              <a:t>20 min</a:t>
            </a:r>
            <a:endParaRPr lang="en-US" sz="1400" dirty="0"/>
          </a:p>
        </p:txBody>
      </p:sp>
      <p:sp>
        <p:nvSpPr>
          <p:cNvPr id="23" name="Shape 21"/>
          <p:cNvSpPr/>
          <p:nvPr/>
        </p:nvSpPr>
        <p:spPr>
          <a:xfrm>
            <a:off x="1463040" y="5202936"/>
            <a:ext cx="10180015" cy="0"/>
          </a:xfrm>
          <a:prstGeom prst="line">
            <a:avLst/>
          </a:prstGeom>
          <a:noFill/>
          <a:ln w="12700">
            <a:solidFill>
              <a:srgbClr val="E2E2E2"/>
            </a:solidFill>
            <a:prstDash val="solid"/>
          </a:ln>
        </p:spPr>
      </p:sp>
      <p:sp>
        <p:nvSpPr>
          <p:cNvPr id="24" name="Text 22"/>
          <p:cNvSpPr txBox="1"/>
          <p:nvPr/>
        </p:nvSpPr>
        <p:spPr>
          <a:xfrm>
            <a:off x="548640" y="5257800"/>
            <a:ext cx="822960" cy="640080"/>
          </a:xfrm>
          <a:prstGeom prst="rect">
            <a:avLst/>
          </a:prstGeom>
          <a:noFill/>
          <a:ln/>
        </p:spPr>
        <p:txBody>
          <a:bodyPr wrap="square" lIns="0" tIns="0" rIns="0" bIns="0" rtlCol="0" anchor="t"/>
          <a:lstStyle/>
          <a:p>
            <a:pPr indent="0" marL="0">
              <a:buNone/>
            </a:pPr>
            <a:r>
              <a:rPr lang="en-US" sz="3000" b="1" dirty="0">
                <a:solidFill>
                  <a:srgbClr val="E4002B"/>
                </a:solidFill>
                <a:latin typeface="Arial" pitchFamily="34" charset="0"/>
                <a:ea typeface="Arial" pitchFamily="34" charset="-122"/>
                <a:cs typeface="Arial" pitchFamily="34" charset="-120"/>
              </a:rPr>
              <a:t>05</a:t>
            </a:r>
            <a:endParaRPr lang="en-US" sz="3000" dirty="0"/>
          </a:p>
        </p:txBody>
      </p:sp>
      <p:sp>
        <p:nvSpPr>
          <p:cNvPr id="25" name="Text 23"/>
          <p:cNvSpPr txBox="1"/>
          <p:nvPr/>
        </p:nvSpPr>
        <p:spPr>
          <a:xfrm>
            <a:off x="1463040" y="5276088"/>
            <a:ext cx="4572000" cy="36576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Proving the value</a:t>
            </a:r>
            <a:endParaRPr lang="en-US" sz="2000" dirty="0"/>
          </a:p>
        </p:txBody>
      </p:sp>
      <p:sp>
        <p:nvSpPr>
          <p:cNvPr id="26" name="Text 24"/>
          <p:cNvSpPr txBox="1"/>
          <p:nvPr/>
        </p:nvSpPr>
        <p:spPr>
          <a:xfrm>
            <a:off x="1463040" y="5641848"/>
            <a:ext cx="7315200" cy="32004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How we measure what AI is worth</a:t>
            </a:r>
            <a:endParaRPr lang="en-US" sz="1400" dirty="0"/>
          </a:p>
        </p:txBody>
      </p:sp>
      <p:sp>
        <p:nvSpPr>
          <p:cNvPr id="27" name="Text 25"/>
          <p:cNvSpPr txBox="1"/>
          <p:nvPr/>
        </p:nvSpPr>
        <p:spPr>
          <a:xfrm>
            <a:off x="10180015" y="5349240"/>
            <a:ext cx="1463040" cy="365760"/>
          </a:xfrm>
          <a:prstGeom prst="rect">
            <a:avLst/>
          </a:prstGeom>
          <a:noFill/>
          <a:ln/>
        </p:spPr>
        <p:txBody>
          <a:bodyPr wrap="square" lIns="0" tIns="0" rIns="0" bIns="0" rtlCol="0" anchor="t"/>
          <a:lstStyle/>
          <a:p>
            <a:pPr algn="r" indent="0" marL="0">
              <a:buNone/>
            </a:pPr>
            <a:r>
              <a:rPr lang="en-US" sz="1400" dirty="0">
                <a:solidFill>
                  <a:srgbClr val="3D3D3D"/>
                </a:solidFill>
                <a:latin typeface="Arial" pitchFamily="34" charset="0"/>
                <a:ea typeface="Arial" pitchFamily="34" charset="-122"/>
                <a:cs typeface="Arial" pitchFamily="34" charset="-120"/>
              </a:rPr>
              <a:t>10 min</a:t>
            </a:r>
            <a:endParaRPr lang="en-US" sz="1400" dirty="0"/>
          </a:p>
        </p:txBody>
      </p:sp>
      <p:sp>
        <p:nvSpPr>
          <p:cNvPr id="28" name="Text 26"/>
          <p:cNvSpPr txBox="1"/>
          <p:nvPr/>
        </p:nvSpPr>
        <p:spPr>
          <a:xfrm>
            <a:off x="548640" y="6172200"/>
            <a:ext cx="8229600" cy="274320"/>
          </a:xfrm>
          <a:prstGeom prst="rect">
            <a:avLst/>
          </a:prstGeom>
          <a:noFill/>
          <a:ln/>
        </p:spPr>
        <p:txBody>
          <a:bodyPr wrap="square" lIns="0" tIns="0" rIns="0" bIns="0" rtlCol="0" anchor="t"/>
          <a:lstStyle/>
          <a:p>
            <a:pPr indent="0" marL="0">
              <a:buNone/>
            </a:pPr>
            <a:r>
              <a:rPr lang="en-US" sz="1300" i="1" dirty="0">
                <a:solidFill>
                  <a:srgbClr val="6B6B6B"/>
                </a:solidFill>
                <a:latin typeface="Arial" pitchFamily="34" charset="0"/>
                <a:ea typeface="Arial" pitchFamily="34" charset="-122"/>
                <a:cs typeface="Arial" pitchFamily="34" charset="-120"/>
              </a:rPr>
              <a:t>Plus a five-question knowledge check and your first 30 days.</a:t>
            </a:r>
            <a:endParaRPr lang="en-US" sz="1300" dirty="0"/>
          </a:p>
        </p:txBody>
      </p:sp>
      <p:sp>
        <p:nvSpPr>
          <p:cNvPr id="29" name="Text 27"/>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30" name="Text 28"/>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BY THE END OF TODAY</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Four things you'll be able to do</a:t>
            </a:r>
            <a:endParaRPr lang="en-US" sz="3200" dirty="0"/>
          </a:p>
        </p:txBody>
      </p:sp>
      <p:sp>
        <p:nvSpPr>
          <p:cNvPr id="4" name="Shape 2"/>
          <p:cNvSpPr/>
          <p:nvPr/>
        </p:nvSpPr>
        <p:spPr>
          <a:xfrm>
            <a:off x="548640" y="2011680"/>
            <a:ext cx="2606040" cy="3566160"/>
          </a:xfrm>
          <a:prstGeom prst="rect">
            <a:avLst/>
          </a:prstGeom>
          <a:solidFill>
            <a:srgbClr val="F4F4F4"/>
          </a:solidFill>
          <a:ln w="12700">
            <a:solidFill>
              <a:srgbClr val="F4F4F4"/>
            </a:solidFill>
            <a:prstDash val="solid"/>
          </a:ln>
        </p:spPr>
      </p:sp>
      <p:sp>
        <p:nvSpPr>
          <p:cNvPr id="5" name="Shape 3"/>
          <p:cNvSpPr/>
          <p:nvPr/>
        </p:nvSpPr>
        <p:spPr>
          <a:xfrm>
            <a:off x="822960" y="2286000"/>
            <a:ext cx="822960" cy="822960"/>
          </a:xfrm>
          <a:prstGeom prst="ellipse">
            <a:avLst/>
          </a:prstGeom>
          <a:solidFill>
            <a:srgbClr val="E4002B"/>
          </a:solidFill>
          <a:ln w="12700">
            <a:solidFill>
              <a:srgbClr val="E4002B"/>
            </a:solidFill>
            <a:prstDash val="solid"/>
          </a:ln>
        </p:spPr>
      </p:sp>
      <p:pic>
        <p:nvPicPr>
          <p:cNvPr id="6" name="Image 0" descr="preencoded.png">    </p:cNvPr>
          <p:cNvPicPr>
            <a:picLocks noChangeAspect="1"/>
          </p:cNvPicPr>
          <p:nvPr/>
        </p:nvPicPr>
        <p:blipFill>
          <a:blip r:embed="rId1"/>
          <a:stretch>
            <a:fillRect/>
          </a:stretch>
        </p:blipFill>
        <p:spPr>
          <a:xfrm>
            <a:off x="1028700" y="2491740"/>
            <a:ext cx="411480" cy="411480"/>
          </a:xfrm>
          <a:prstGeom prst="rect">
            <a:avLst/>
          </a:prstGeom>
        </p:spPr>
      </p:pic>
      <p:sp>
        <p:nvSpPr>
          <p:cNvPr id="7" name="Text 4"/>
          <p:cNvSpPr txBox="1"/>
          <p:nvPr/>
        </p:nvSpPr>
        <p:spPr>
          <a:xfrm>
            <a:off x="822960" y="3291840"/>
            <a:ext cx="2103120" cy="73152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Use AI on real work</a:t>
            </a:r>
            <a:endParaRPr lang="en-US" sz="1900" dirty="0"/>
          </a:p>
        </p:txBody>
      </p:sp>
      <p:sp>
        <p:nvSpPr>
          <p:cNvPr id="8" name="Text 5"/>
          <p:cNvSpPr txBox="1"/>
          <p:nvPr/>
        </p:nvSpPr>
        <p:spPr>
          <a:xfrm>
            <a:off x="822960" y="4069080"/>
            <a:ext cx="2103120" cy="137160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Brief Copilot like a colleague and get a useful first draft, not a generic one.</a:t>
            </a:r>
            <a:endParaRPr lang="en-US" sz="1400" dirty="0"/>
          </a:p>
        </p:txBody>
      </p:sp>
      <p:sp>
        <p:nvSpPr>
          <p:cNvPr id="9" name="Shape 6"/>
          <p:cNvSpPr/>
          <p:nvPr/>
        </p:nvSpPr>
        <p:spPr>
          <a:xfrm>
            <a:off x="3383280" y="2011680"/>
            <a:ext cx="2606040" cy="3566160"/>
          </a:xfrm>
          <a:prstGeom prst="rect">
            <a:avLst/>
          </a:prstGeom>
          <a:solidFill>
            <a:srgbClr val="F4F4F4"/>
          </a:solidFill>
          <a:ln w="12700">
            <a:solidFill>
              <a:srgbClr val="F4F4F4"/>
            </a:solidFill>
            <a:prstDash val="solid"/>
          </a:ln>
        </p:spPr>
      </p:sp>
      <p:sp>
        <p:nvSpPr>
          <p:cNvPr id="10" name="Shape 7"/>
          <p:cNvSpPr/>
          <p:nvPr/>
        </p:nvSpPr>
        <p:spPr>
          <a:xfrm>
            <a:off x="3657600" y="2286000"/>
            <a:ext cx="822960" cy="822960"/>
          </a:xfrm>
          <a:prstGeom prst="ellipse">
            <a:avLst/>
          </a:prstGeom>
          <a:solidFill>
            <a:srgbClr val="E4002B"/>
          </a:solidFill>
          <a:ln w="12700">
            <a:solidFill>
              <a:srgbClr val="E4002B"/>
            </a:solidFill>
            <a:prstDash val="solid"/>
          </a:ln>
        </p:spPr>
      </p:sp>
      <p:pic>
        <p:nvPicPr>
          <p:cNvPr id="11" name="Image 1" descr="preencoded.png">    </p:cNvPr>
          <p:cNvPicPr>
            <a:picLocks noChangeAspect="1"/>
          </p:cNvPicPr>
          <p:nvPr/>
        </p:nvPicPr>
        <p:blipFill>
          <a:blip r:embed="rId2"/>
          <a:stretch>
            <a:fillRect/>
          </a:stretch>
        </p:blipFill>
        <p:spPr>
          <a:xfrm>
            <a:off x="3863340" y="2491740"/>
            <a:ext cx="411480" cy="411480"/>
          </a:xfrm>
          <a:prstGeom prst="rect">
            <a:avLst/>
          </a:prstGeom>
        </p:spPr>
      </p:pic>
      <p:sp>
        <p:nvSpPr>
          <p:cNvPr id="12" name="Text 8"/>
          <p:cNvSpPr txBox="1"/>
          <p:nvPr/>
        </p:nvSpPr>
        <p:spPr>
          <a:xfrm>
            <a:off x="3657600" y="3291840"/>
            <a:ext cx="2103120" cy="73152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Apply the six principles</a:t>
            </a:r>
            <a:endParaRPr lang="en-US" sz="1900" dirty="0"/>
          </a:p>
        </p:txBody>
      </p:sp>
      <p:sp>
        <p:nvSpPr>
          <p:cNvPr id="13" name="Text 9"/>
          <p:cNvSpPr txBox="1"/>
          <p:nvPr/>
        </p:nvSpPr>
        <p:spPr>
          <a:xfrm>
            <a:off x="3657600" y="4069080"/>
            <a:ext cx="2103120" cy="137160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Ask the right questions before AI touches customers, people or sensitive data.</a:t>
            </a:r>
            <a:endParaRPr lang="en-US" sz="1400" dirty="0"/>
          </a:p>
        </p:txBody>
      </p:sp>
      <p:sp>
        <p:nvSpPr>
          <p:cNvPr id="14" name="Shape 10"/>
          <p:cNvSpPr/>
          <p:nvPr/>
        </p:nvSpPr>
        <p:spPr>
          <a:xfrm>
            <a:off x="6217920" y="2011680"/>
            <a:ext cx="2606040" cy="3566160"/>
          </a:xfrm>
          <a:prstGeom prst="rect">
            <a:avLst/>
          </a:prstGeom>
          <a:solidFill>
            <a:srgbClr val="F4F4F4"/>
          </a:solidFill>
          <a:ln w="12700">
            <a:solidFill>
              <a:srgbClr val="F4F4F4"/>
            </a:solidFill>
            <a:prstDash val="solid"/>
          </a:ln>
        </p:spPr>
      </p:sp>
      <p:sp>
        <p:nvSpPr>
          <p:cNvPr id="15" name="Shape 11"/>
          <p:cNvSpPr/>
          <p:nvPr/>
        </p:nvSpPr>
        <p:spPr>
          <a:xfrm>
            <a:off x="6492240" y="2286000"/>
            <a:ext cx="822960" cy="822960"/>
          </a:xfrm>
          <a:prstGeom prst="ellipse">
            <a:avLst/>
          </a:prstGeom>
          <a:solidFill>
            <a:srgbClr val="E4002B"/>
          </a:solidFill>
          <a:ln w="12700">
            <a:solidFill>
              <a:srgbClr val="E4002B"/>
            </a:solidFill>
            <a:prstDash val="solid"/>
          </a:ln>
        </p:spPr>
      </p:sp>
      <p:pic>
        <p:nvPicPr>
          <p:cNvPr id="16" name="Image 2" descr="preencoded.png">    </p:cNvPr>
          <p:cNvPicPr>
            <a:picLocks noChangeAspect="1"/>
          </p:cNvPicPr>
          <p:nvPr/>
        </p:nvPicPr>
        <p:blipFill>
          <a:blip r:embed="rId3"/>
          <a:stretch>
            <a:fillRect/>
          </a:stretch>
        </p:blipFill>
        <p:spPr>
          <a:xfrm>
            <a:off x="6697980" y="2491740"/>
            <a:ext cx="411480" cy="411480"/>
          </a:xfrm>
          <a:prstGeom prst="rect">
            <a:avLst/>
          </a:prstGeom>
        </p:spPr>
      </p:pic>
      <p:sp>
        <p:nvSpPr>
          <p:cNvPr id="17" name="Text 12"/>
          <p:cNvSpPr txBox="1"/>
          <p:nvPr/>
        </p:nvSpPr>
        <p:spPr>
          <a:xfrm>
            <a:off x="6492240" y="3291840"/>
            <a:ext cx="2103120" cy="73152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Know when it's a project</a:t>
            </a:r>
            <a:endParaRPr lang="en-US" sz="1900" dirty="0"/>
          </a:p>
        </p:txBody>
      </p:sp>
      <p:sp>
        <p:nvSpPr>
          <p:cNvPr id="18" name="Text 13"/>
          <p:cNvSpPr txBox="1"/>
          <p:nvPr/>
        </p:nvSpPr>
        <p:spPr>
          <a:xfrm>
            <a:off x="6492240" y="4069080"/>
            <a:ext cx="2103120" cy="137160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Spot when an idea needs a risk tier, a review and an approval.</a:t>
            </a:r>
            <a:endParaRPr lang="en-US" sz="1400" dirty="0"/>
          </a:p>
        </p:txBody>
      </p:sp>
      <p:sp>
        <p:nvSpPr>
          <p:cNvPr id="19" name="Shape 14"/>
          <p:cNvSpPr/>
          <p:nvPr/>
        </p:nvSpPr>
        <p:spPr>
          <a:xfrm>
            <a:off x="9052560" y="2011680"/>
            <a:ext cx="2606040" cy="3566160"/>
          </a:xfrm>
          <a:prstGeom prst="rect">
            <a:avLst/>
          </a:prstGeom>
          <a:solidFill>
            <a:srgbClr val="F4F4F4"/>
          </a:solidFill>
          <a:ln w="12700">
            <a:solidFill>
              <a:srgbClr val="F4F4F4"/>
            </a:solidFill>
            <a:prstDash val="solid"/>
          </a:ln>
        </p:spPr>
      </p:sp>
      <p:sp>
        <p:nvSpPr>
          <p:cNvPr id="20" name="Shape 15"/>
          <p:cNvSpPr/>
          <p:nvPr/>
        </p:nvSpPr>
        <p:spPr>
          <a:xfrm>
            <a:off x="9326880" y="2286000"/>
            <a:ext cx="822960" cy="822960"/>
          </a:xfrm>
          <a:prstGeom prst="ellipse">
            <a:avLst/>
          </a:prstGeom>
          <a:solidFill>
            <a:srgbClr val="E4002B"/>
          </a:solidFill>
          <a:ln w="12700">
            <a:solidFill>
              <a:srgbClr val="E4002B"/>
            </a:solidFill>
            <a:prstDash val="solid"/>
          </a:ln>
        </p:spPr>
      </p:sp>
      <p:pic>
        <p:nvPicPr>
          <p:cNvPr id="21" name="Image 3" descr="preencoded.png">    </p:cNvPr>
          <p:cNvPicPr>
            <a:picLocks noChangeAspect="1"/>
          </p:cNvPicPr>
          <p:nvPr/>
        </p:nvPicPr>
        <p:blipFill>
          <a:blip r:embed="rId4"/>
          <a:stretch>
            <a:fillRect/>
          </a:stretch>
        </p:blipFill>
        <p:spPr>
          <a:xfrm>
            <a:off x="9532620" y="2491740"/>
            <a:ext cx="411480" cy="411480"/>
          </a:xfrm>
          <a:prstGeom prst="rect">
            <a:avLst/>
          </a:prstGeom>
        </p:spPr>
      </p:pic>
      <p:sp>
        <p:nvSpPr>
          <p:cNvPr id="22" name="Text 16"/>
          <p:cNvSpPr txBox="1"/>
          <p:nvPr/>
        </p:nvSpPr>
        <p:spPr>
          <a:xfrm>
            <a:off x="9326880" y="3291840"/>
            <a:ext cx="2103120" cy="73152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Show what it's worth</a:t>
            </a:r>
            <a:endParaRPr lang="en-US" sz="1900" dirty="0"/>
          </a:p>
        </p:txBody>
      </p:sp>
      <p:sp>
        <p:nvSpPr>
          <p:cNvPr id="23" name="Text 17"/>
          <p:cNvSpPr txBox="1"/>
          <p:nvPr/>
        </p:nvSpPr>
        <p:spPr>
          <a:xfrm>
            <a:off x="9326880" y="4069080"/>
            <a:ext cx="2103120" cy="137160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Log wins and track benefits honestly, so the numbers stand up.</a:t>
            </a:r>
            <a:endParaRPr lang="en-US" sz="1400" dirty="0"/>
          </a:p>
        </p:txBody>
      </p:sp>
      <p:sp>
        <p:nvSpPr>
          <p:cNvPr id="24" name="Text 18"/>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25" name="Text 19"/>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4002B"/>
        </a:solidFill>
      </p:bgPr>
    </p:bg>
    <p:spTree>
      <p:nvGrpSpPr>
        <p:cNvPr id="1" name=""/>
        <p:cNvGrpSpPr/>
        <p:nvPr/>
      </p:nvGrpSpPr>
      <p:grpSpPr>
        <a:xfrm>
          <a:off x="0" y="0"/>
          <a:ext cx="0" cy="0"/>
          <a:chOff x="0" y="0"/>
          <a:chExt cx="0" cy="0"/>
        </a:xfrm>
      </p:grpSpPr>
      <p:sp>
        <p:nvSpPr>
          <p:cNvPr id="2" name="Text 0"/>
          <p:cNvSpPr txBox="1"/>
          <p:nvPr/>
        </p:nvSpPr>
        <p:spPr>
          <a:xfrm>
            <a:off x="548640" y="1005840"/>
            <a:ext cx="3657600" cy="1463040"/>
          </a:xfrm>
          <a:prstGeom prst="rect">
            <a:avLst/>
          </a:prstGeom>
          <a:noFill/>
          <a:ln/>
        </p:spPr>
        <p:txBody>
          <a:bodyPr wrap="square" lIns="0" tIns="0" rIns="0" bIns="0" rtlCol="0" anchor="t"/>
          <a:lstStyle/>
          <a:p>
            <a:pPr indent="0" marL="0">
              <a:buNone/>
            </a:pPr>
            <a:r>
              <a:rPr lang="en-US" sz="11000" b="1" dirty="0">
                <a:solidFill>
                  <a:srgbClr val="FFFFFF"/>
                </a:solidFill>
                <a:latin typeface="Arial" pitchFamily="34" charset="0"/>
                <a:ea typeface="Arial" pitchFamily="34" charset="-122"/>
                <a:cs typeface="Arial" pitchFamily="34" charset="-120"/>
              </a:rPr>
              <a:t>01</a:t>
            </a:r>
            <a:endParaRPr lang="en-US" sz="11000" dirty="0"/>
          </a:p>
        </p:txBody>
      </p:sp>
      <p:sp>
        <p:nvSpPr>
          <p:cNvPr id="3" name="Text 1"/>
          <p:cNvSpPr txBox="1"/>
          <p:nvPr/>
        </p:nvSpPr>
        <p:spPr>
          <a:xfrm>
            <a:off x="548640" y="2697480"/>
            <a:ext cx="10515600" cy="1371600"/>
          </a:xfrm>
          <a:prstGeom prst="rect">
            <a:avLst/>
          </a:prstGeom>
          <a:noFill/>
          <a:ln/>
        </p:spPr>
        <p:txBody>
          <a:bodyPr wrap="square" lIns="0" tIns="0" rIns="0" bIns="0" rtlCol="0" anchor="b"/>
          <a:lstStyle/>
          <a:p>
            <a:pPr indent="0" marL="0">
              <a:buNone/>
            </a:pPr>
            <a:r>
              <a:rPr lang="en-US" sz="4000" b="1" dirty="0">
                <a:solidFill>
                  <a:srgbClr val="FFFFFF"/>
                </a:solidFill>
                <a:latin typeface="Arial" pitchFamily="34" charset="0"/>
                <a:ea typeface="Arial" pitchFamily="34" charset="-122"/>
                <a:cs typeface="Arial" pitchFamily="34" charset="-120"/>
              </a:rPr>
              <a:t>AI basics</a:t>
            </a:r>
            <a:endParaRPr lang="en-US" sz="4000" dirty="0"/>
          </a:p>
        </p:txBody>
      </p:sp>
      <p:sp>
        <p:nvSpPr>
          <p:cNvPr id="4" name="Text 2"/>
          <p:cNvSpPr txBox="1"/>
          <p:nvPr/>
        </p:nvSpPr>
        <p:spPr>
          <a:xfrm>
            <a:off x="548640" y="4343400"/>
            <a:ext cx="9601200" cy="822960"/>
          </a:xfrm>
          <a:prstGeom prst="rect">
            <a:avLst/>
          </a:prstGeom>
          <a:noFill/>
          <a:ln/>
        </p:spPr>
        <p:txBody>
          <a:bodyPr wrap="square" lIns="0" tIns="0" rIns="0" bIns="0" rtlCol="0" anchor="t"/>
          <a:lstStyle/>
          <a:p>
            <a:pPr indent="0" marL="0">
              <a:buNone/>
            </a:pPr>
            <a:r>
              <a:rPr lang="en-US" sz="1800" dirty="0">
                <a:solidFill>
                  <a:srgbClr val="FFE3E8"/>
                </a:solidFill>
                <a:latin typeface="Arial" pitchFamily="34" charset="0"/>
                <a:ea typeface="Arial" pitchFamily="34" charset="-122"/>
                <a:cs typeface="Arial" pitchFamily="34" charset="-120"/>
              </a:rPr>
              <a:t>What it's good at, what it isn't, and how Microsoft 365 Copilot works</a:t>
            </a:r>
            <a:endParaRPr lang="en-US" sz="1800" dirty="0"/>
          </a:p>
        </p:txBody>
      </p:sp>
      <p:sp>
        <p:nvSpPr>
          <p:cNvPr id="5" name="Text 3"/>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FFD1DA"/>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AI BASICS</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A smart new hire who has never worked here</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Well read, fast, eager to help. It doesn't know our customers, systems or last week's decision unless you tell it.</a:t>
            </a:r>
            <a:endParaRPr lang="en-US" sz="1600" dirty="0"/>
          </a:p>
        </p:txBody>
      </p:sp>
      <p:sp>
        <p:nvSpPr>
          <p:cNvPr id="5" name="Shape 3"/>
          <p:cNvSpPr/>
          <p:nvPr/>
        </p:nvSpPr>
        <p:spPr>
          <a:xfrm>
            <a:off x="548640" y="2240280"/>
            <a:ext cx="5394960" cy="3840480"/>
          </a:xfrm>
          <a:prstGeom prst="rect">
            <a:avLst/>
          </a:prstGeom>
          <a:solidFill>
            <a:srgbClr val="F4F4F4"/>
          </a:solidFill>
          <a:ln w="12700">
            <a:solidFill>
              <a:srgbClr val="F4F4F4"/>
            </a:solidFill>
            <a:prstDash val="solid"/>
          </a:ln>
        </p:spPr>
      </p:sp>
      <p:sp>
        <p:nvSpPr>
          <p:cNvPr id="6" name="Shape 4"/>
          <p:cNvSpPr/>
          <p:nvPr/>
        </p:nvSpPr>
        <p:spPr>
          <a:xfrm>
            <a:off x="822960" y="2468880"/>
            <a:ext cx="640080" cy="640080"/>
          </a:xfrm>
          <a:prstGeom prst="ellipse">
            <a:avLst/>
          </a:prstGeom>
          <a:solidFill>
            <a:srgbClr val="111111"/>
          </a:solidFill>
          <a:ln w="12700">
            <a:solidFill>
              <a:srgbClr val="111111"/>
            </a:solidFill>
            <a:prstDash val="solid"/>
          </a:ln>
        </p:spPr>
      </p:sp>
      <p:pic>
        <p:nvPicPr>
          <p:cNvPr id="7" name="Image 0" descr="preencoded.png">    </p:cNvPr>
          <p:cNvPicPr>
            <a:picLocks noChangeAspect="1"/>
          </p:cNvPicPr>
          <p:nvPr/>
        </p:nvPicPr>
        <p:blipFill>
          <a:blip r:embed="rId1"/>
          <a:stretch>
            <a:fillRect/>
          </a:stretch>
        </p:blipFill>
        <p:spPr>
          <a:xfrm>
            <a:off x="982980" y="2628900"/>
            <a:ext cx="320040" cy="320040"/>
          </a:xfrm>
          <a:prstGeom prst="rect">
            <a:avLst/>
          </a:prstGeom>
        </p:spPr>
      </p:pic>
      <p:sp>
        <p:nvSpPr>
          <p:cNvPr id="8" name="Text 5"/>
          <p:cNvSpPr txBox="1"/>
          <p:nvPr/>
        </p:nvSpPr>
        <p:spPr>
          <a:xfrm>
            <a:off x="1645920" y="2578608"/>
            <a:ext cx="365760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Good at</a:t>
            </a:r>
            <a:endParaRPr lang="en-US" sz="2200" dirty="0"/>
          </a:p>
        </p:txBody>
      </p:sp>
      <p:sp>
        <p:nvSpPr>
          <p:cNvPr id="9" name="Text 6"/>
          <p:cNvSpPr txBox="1"/>
          <p:nvPr/>
        </p:nvSpPr>
        <p:spPr>
          <a:xfrm>
            <a:off x="822960" y="3291840"/>
            <a:ext cx="4846320" cy="2651760"/>
          </a:xfrm>
          <a:prstGeom prst="rect">
            <a:avLst/>
          </a:prstGeom>
          <a:noFill/>
          <a:ln/>
        </p:spPr>
        <p:txBody>
          <a:bodyPr wrap="square" rtlCol="0" anchor="t"/>
          <a:lstStyle/>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Drafting emails, documents and summaries</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Rewriting: shorter, clearer, a different tone</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Pulling structure out of messy notes</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Explaining formulas, code and jargon</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Comparing two documents</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Brainstorming options and questions</a:t>
            </a:r>
            <a:endParaRPr lang="en-US" sz="1500" dirty="0"/>
          </a:p>
        </p:txBody>
      </p:sp>
      <p:sp>
        <p:nvSpPr>
          <p:cNvPr id="10" name="Shape 7"/>
          <p:cNvSpPr/>
          <p:nvPr/>
        </p:nvSpPr>
        <p:spPr>
          <a:xfrm>
            <a:off x="6245352" y="2240280"/>
            <a:ext cx="5394960" cy="3840480"/>
          </a:xfrm>
          <a:prstGeom prst="rect">
            <a:avLst/>
          </a:prstGeom>
          <a:solidFill>
            <a:srgbClr val="FDECEF"/>
          </a:solidFill>
          <a:ln w="12700">
            <a:solidFill>
              <a:srgbClr val="FDECEF"/>
            </a:solidFill>
            <a:prstDash val="solid"/>
          </a:ln>
        </p:spPr>
      </p:sp>
      <p:sp>
        <p:nvSpPr>
          <p:cNvPr id="11" name="Shape 8"/>
          <p:cNvSpPr/>
          <p:nvPr/>
        </p:nvSpPr>
        <p:spPr>
          <a:xfrm>
            <a:off x="6519672" y="2468880"/>
            <a:ext cx="640080" cy="640080"/>
          </a:xfrm>
          <a:prstGeom prst="ellipse">
            <a:avLst/>
          </a:prstGeom>
          <a:solidFill>
            <a:srgbClr val="E4002B"/>
          </a:solidFill>
          <a:ln w="12700">
            <a:solidFill>
              <a:srgbClr val="E4002B"/>
            </a:solidFill>
            <a:prstDash val="solid"/>
          </a:ln>
        </p:spPr>
      </p:sp>
      <p:pic>
        <p:nvPicPr>
          <p:cNvPr id="12" name="Image 1" descr="preencoded.png">    </p:cNvPr>
          <p:cNvPicPr>
            <a:picLocks noChangeAspect="1"/>
          </p:cNvPicPr>
          <p:nvPr/>
        </p:nvPicPr>
        <p:blipFill>
          <a:blip r:embed="rId2"/>
          <a:stretch>
            <a:fillRect/>
          </a:stretch>
        </p:blipFill>
        <p:spPr>
          <a:xfrm>
            <a:off x="6679692" y="2628900"/>
            <a:ext cx="320040" cy="320040"/>
          </a:xfrm>
          <a:prstGeom prst="rect">
            <a:avLst/>
          </a:prstGeom>
        </p:spPr>
      </p:pic>
      <p:sp>
        <p:nvSpPr>
          <p:cNvPr id="13" name="Text 9"/>
          <p:cNvSpPr txBox="1"/>
          <p:nvPr/>
        </p:nvSpPr>
        <p:spPr>
          <a:xfrm>
            <a:off x="7342632" y="2578608"/>
            <a:ext cx="365760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Not good at</a:t>
            </a:r>
            <a:endParaRPr lang="en-US" sz="2200" dirty="0"/>
          </a:p>
        </p:txBody>
      </p:sp>
      <p:sp>
        <p:nvSpPr>
          <p:cNvPr id="14" name="Text 10"/>
          <p:cNvSpPr txBox="1"/>
          <p:nvPr/>
        </p:nvSpPr>
        <p:spPr>
          <a:xfrm>
            <a:off x="6519672" y="3291840"/>
            <a:ext cx="4846320" cy="2651760"/>
          </a:xfrm>
          <a:prstGeom prst="rect">
            <a:avLst/>
          </a:prstGeom>
          <a:noFill/>
          <a:ln/>
        </p:spPr>
        <p:txBody>
          <a:bodyPr wrap="square" rtlCol="0" anchor="t"/>
          <a:lstStyle/>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Exact arithmetic: it can add up wrong and sound sure</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Facts it wasn't given: it may invent a policy or a statistic</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Knowing our context: customers, history, decisions</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Giving the same answer twice</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Judgement calls about people</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Knowing when it's wrong</a:t>
            </a:r>
            <a:endParaRPr lang="en-US" sz="1500" dirty="0"/>
          </a:p>
        </p:txBody>
      </p:sp>
      <p:sp>
        <p:nvSpPr>
          <p:cNvPr id="15" name="Text 11"/>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16" name="Text 12"/>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AI BASICS</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Use the right tool for the job</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A lot of work doesn't need AI. Knowing that is part of using it well.</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94415" cy="914400"/>
        </p:xfrm>
        <a:graphic>
          <a:graphicData uri="http://schemas.openxmlformats.org/drawingml/2006/table">
            <a:tbl>
              <a:tblPr/>
              <a:tblGrid>
                <a:gridCol w="4206240"/>
                <a:gridCol w="2834640"/>
                <a:gridCol w="4050792"/>
              </a:tblGrid>
              <a:tr h="502920">
                <a:tc>
                  <a:txBody>
                    <a:bodyPr/>
                    <a:lstStyle/>
                    <a:p>
                      <a:pPr indent="0" marL="0">
                        <a:buNone/>
                      </a:pPr>
                      <a:r>
                        <a:rPr lang="en-US" sz="1400" b="1" dirty="0">
                          <a:solidFill>
                            <a:srgbClr val="FFFFFF"/>
                          </a:solidFill>
                          <a:latin typeface="Arial" pitchFamily="34" charset="0"/>
                          <a:ea typeface="Arial" pitchFamily="34" charset="-122"/>
                          <a:cs typeface="Arial" pitchFamily="34" charset="-120"/>
                        </a:rPr>
                        <a:t>The job</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1111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Best tool</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1111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Why</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11111"/>
                    </a:solidFill>
                  </a:tcPr>
                </a:tc>
              </a:tr>
              <a:tr h="502920">
                <a:tc>
                  <a:txBody>
                    <a:bodyPr/>
                    <a:lstStyle/>
                    <a:p>
                      <a:pPr indent="0" marL="0">
                        <a:buNone/>
                      </a:pPr>
                      <a:r>
                        <a:rPr lang="en-US" sz="1400" dirty="0">
                          <a:solidFill>
                            <a:srgbClr val="3D3D3D"/>
                          </a:solidFill>
                          <a:latin typeface="Arial" pitchFamily="34" charset="0"/>
                          <a:ea typeface="Arial" pitchFamily="34" charset="-122"/>
                          <a:cs typeface="Arial" pitchFamily="34" charset="-120"/>
                        </a:rPr>
                        <a:t>Summarise a 40-message email thread</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b="1" dirty="0">
                          <a:solidFill>
                            <a:srgbClr val="111111"/>
                          </a:solidFill>
                          <a:latin typeface="Arial" pitchFamily="34" charset="0"/>
                          <a:ea typeface="Arial" pitchFamily="34" charset="-122"/>
                          <a:cs typeface="Arial" pitchFamily="34" charset="-120"/>
                        </a:rPr>
                        <a:t>Copilot in Outlook</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Reading and condensing language is its strength</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3D3D3D"/>
                          </a:solidFill>
                          <a:latin typeface="Arial" pitchFamily="34" charset="0"/>
                          <a:ea typeface="Arial" pitchFamily="34" charset="-122"/>
                          <a:cs typeface="Arial" pitchFamily="34" charset="-120"/>
                        </a:rPr>
                        <a:t>Total a column of 400 numbers</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b="1" dirty="0">
                          <a:solidFill>
                            <a:srgbClr val="111111"/>
                          </a:solidFill>
                          <a:latin typeface="Arial" pitchFamily="34" charset="0"/>
                          <a:ea typeface="Arial" pitchFamily="34" charset="-122"/>
                          <a:cs typeface="Arial" pitchFamily="34" charset="-120"/>
                        </a:rPr>
                        <a:t>Excel</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Exact every time. AI can explain the formula</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r>
              <a:tr h="502920">
                <a:tc>
                  <a:txBody>
                    <a:bodyPr/>
                    <a:lstStyle/>
                    <a:p>
                      <a:pPr indent="0" marL="0">
                        <a:buNone/>
                      </a:pPr>
                      <a:r>
                        <a:rPr lang="en-US" sz="1400" dirty="0">
                          <a:solidFill>
                            <a:srgbClr val="3D3D3D"/>
                          </a:solidFill>
                          <a:latin typeface="Arial" pitchFamily="34" charset="0"/>
                          <a:ea typeface="Arial" pitchFamily="34" charset="-122"/>
                          <a:cs typeface="Arial" pitchFamily="34" charset="-120"/>
                        </a:rPr>
                        <a:t>Apply the same written rules to every request</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b="1" dirty="0">
                          <a:solidFill>
                            <a:srgbClr val="111111"/>
                          </a:solidFill>
                          <a:latin typeface="Arial" pitchFamily="34" charset="0"/>
                          <a:ea typeface="Arial" pitchFamily="34" charset="-122"/>
                          <a:cs typeface="Arial" pitchFamily="34" charset="-120"/>
                        </a:rPr>
                        <a:t>Power Automate or a workflow</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Rules run identically and leave an audit trail</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3D3D3D"/>
                          </a:solidFill>
                          <a:latin typeface="Arial" pitchFamily="34" charset="0"/>
                          <a:ea typeface="Arial" pitchFamily="34" charset="-122"/>
                          <a:cs typeface="Arial" pitchFamily="34" charset="-120"/>
                        </a:rPr>
                        <a:t>Draft a first version of a proposal</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b="1" dirty="0">
                          <a:solidFill>
                            <a:srgbClr val="111111"/>
                          </a:solidFill>
                          <a:latin typeface="Arial" pitchFamily="34" charset="0"/>
                          <a:ea typeface="Arial" pitchFamily="34" charset="-122"/>
                          <a:cs typeface="Arial" pitchFamily="34" charset="-120"/>
                        </a:rPr>
                        <a:t>Copilot in Word</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A strong first draft saves hours; you edit</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r>
              <a:tr h="502920">
                <a:tc>
                  <a:txBody>
                    <a:bodyPr/>
                    <a:lstStyle/>
                    <a:p>
                      <a:pPr indent="0" marL="0">
                        <a:buNone/>
                      </a:pPr>
                      <a:r>
                        <a:rPr lang="en-US" sz="1400" dirty="0">
                          <a:solidFill>
                            <a:srgbClr val="3D3D3D"/>
                          </a:solidFill>
                          <a:latin typeface="Arial" pitchFamily="34" charset="0"/>
                          <a:ea typeface="Arial" pitchFamily="34" charset="-122"/>
                          <a:cs typeface="Arial" pitchFamily="34" charset="-120"/>
                        </a:rPr>
                        <a:t>Decide who gets a pay rise</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b="1" dirty="0">
                          <a:solidFill>
                            <a:srgbClr val="111111"/>
                          </a:solidFill>
                          <a:latin typeface="Arial" pitchFamily="34" charset="0"/>
                          <a:ea typeface="Arial" pitchFamily="34" charset="-122"/>
                          <a:cs typeface="Arial" pitchFamily="34" charset="-120"/>
                        </a:rPr>
                        <a:t>A person</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Decisions about people stay with people</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3D3D3D"/>
                          </a:solidFill>
                          <a:latin typeface="Arial" pitchFamily="34" charset="0"/>
                          <a:ea typeface="Arial" pitchFamily="34" charset="-122"/>
                          <a:cs typeface="Arial" pitchFamily="34" charset="-120"/>
                        </a:rPr>
                        <a:t>Report on something a system already tracks</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b="1" dirty="0">
                          <a:solidFill>
                            <a:srgbClr val="111111"/>
                          </a:solidFill>
                          <a:latin typeface="Arial" pitchFamily="34" charset="0"/>
                          <a:ea typeface="Arial" pitchFamily="34" charset="-122"/>
                          <a:cs typeface="Arial" pitchFamily="34" charset="-120"/>
                        </a:rPr>
                        <a:t>The existing report</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It's already built, supported and trusted</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r>
            </a:tbl>
          </a:graphicData>
        </a:graphic>
      </p:graphicFrame>
      <p:sp>
        <p:nvSpPr>
          <p:cNvPr id="6" name="Text 3"/>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7"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AI BASICS</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How Microsoft 365 Copilot works</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It answers using the content you already have permission to see, inside our Microsoft 365 tenant.</a:t>
            </a:r>
            <a:endParaRPr lang="en-US" sz="1600" dirty="0"/>
          </a:p>
        </p:txBody>
      </p:sp>
      <p:sp>
        <p:nvSpPr>
          <p:cNvPr id="5" name="Shape 3"/>
          <p:cNvSpPr/>
          <p:nvPr/>
        </p:nvSpPr>
        <p:spPr>
          <a:xfrm>
            <a:off x="1371600" y="2240280"/>
            <a:ext cx="914400" cy="914400"/>
          </a:xfrm>
          <a:prstGeom prst="ellipse">
            <a:avLst/>
          </a:prstGeom>
          <a:solidFill>
            <a:srgbClr val="E4002B"/>
          </a:solidFill>
          <a:ln w="12700">
            <a:solidFill>
              <a:srgbClr val="E4002B"/>
            </a:solidFill>
            <a:prstDash val="solid"/>
          </a:ln>
        </p:spPr>
      </p:sp>
      <p:pic>
        <p:nvPicPr>
          <p:cNvPr id="6" name="Image 0" descr="preencoded.png">    </p:cNvPr>
          <p:cNvPicPr>
            <a:picLocks noChangeAspect="1"/>
          </p:cNvPicPr>
          <p:nvPr/>
        </p:nvPicPr>
        <p:blipFill>
          <a:blip r:embed="rId1"/>
          <a:stretch>
            <a:fillRect/>
          </a:stretch>
        </p:blipFill>
        <p:spPr>
          <a:xfrm>
            <a:off x="1600200" y="2468880"/>
            <a:ext cx="457200" cy="457200"/>
          </a:xfrm>
          <a:prstGeom prst="rect">
            <a:avLst/>
          </a:prstGeom>
        </p:spPr>
      </p:pic>
      <p:sp>
        <p:nvSpPr>
          <p:cNvPr id="7" name="Text 4"/>
          <p:cNvSpPr txBox="1"/>
          <p:nvPr/>
        </p:nvSpPr>
        <p:spPr>
          <a:xfrm>
            <a:off x="548640" y="3291840"/>
            <a:ext cx="2560320" cy="411480"/>
          </a:xfrm>
          <a:prstGeom prst="rect">
            <a:avLst/>
          </a:prstGeom>
          <a:noFill/>
          <a:ln/>
        </p:spPr>
        <p:txBody>
          <a:bodyPr wrap="square" lIns="0" tIns="0" rIns="0" bIns="0" rtlCol="0" anchor="t"/>
          <a:lstStyle/>
          <a:p>
            <a:pPr algn="ctr" indent="0" marL="0">
              <a:buNone/>
            </a:pPr>
            <a:r>
              <a:rPr lang="en-US" sz="2000" b="1" dirty="0">
                <a:solidFill>
                  <a:srgbClr val="111111"/>
                </a:solidFill>
                <a:latin typeface="Arial" pitchFamily="34" charset="0"/>
                <a:ea typeface="Arial" pitchFamily="34" charset="-122"/>
                <a:cs typeface="Arial" pitchFamily="34" charset="-120"/>
              </a:rPr>
              <a:t>You ask</a:t>
            </a:r>
            <a:endParaRPr lang="en-US" sz="2000" dirty="0"/>
          </a:p>
        </p:txBody>
      </p:sp>
      <p:sp>
        <p:nvSpPr>
          <p:cNvPr id="8" name="Text 5"/>
          <p:cNvSpPr txBox="1"/>
          <p:nvPr/>
        </p:nvSpPr>
        <p:spPr>
          <a:xfrm>
            <a:off x="640080" y="3749040"/>
            <a:ext cx="2377440" cy="1005840"/>
          </a:xfrm>
          <a:prstGeom prst="rect">
            <a:avLst/>
          </a:prstGeom>
          <a:noFill/>
          <a:ln/>
        </p:spPr>
        <p:txBody>
          <a:bodyPr wrap="square" lIns="0" tIns="0" rIns="0" bIns="0" rtlCol="0" anchor="t"/>
          <a:lstStyle/>
          <a:p>
            <a:pPr algn="ctr" indent="0" marL="0">
              <a:buNone/>
            </a:pPr>
            <a:r>
              <a:rPr lang="en-US" sz="1400" dirty="0">
                <a:solidFill>
                  <a:srgbClr val="3D3D3D"/>
                </a:solidFill>
                <a:latin typeface="Arial" pitchFamily="34" charset="0"/>
                <a:ea typeface="Arial" pitchFamily="34" charset="-122"/>
                <a:cs typeface="Arial" pitchFamily="34" charset="-120"/>
              </a:rPr>
              <a:t>A prompt in Word, Outlook, Teams, Excel or Copilot Chat</a:t>
            </a:r>
            <a:endParaRPr lang="en-US" sz="1400" dirty="0"/>
          </a:p>
        </p:txBody>
      </p:sp>
      <p:sp>
        <p:nvSpPr>
          <p:cNvPr id="9" name="Text 6"/>
          <p:cNvSpPr txBox="1"/>
          <p:nvPr/>
        </p:nvSpPr>
        <p:spPr>
          <a:xfrm>
            <a:off x="2880360" y="2377440"/>
            <a:ext cx="548640" cy="548640"/>
          </a:xfrm>
          <a:prstGeom prst="rect">
            <a:avLst/>
          </a:prstGeom>
          <a:noFill/>
          <a:ln/>
        </p:spPr>
        <p:txBody>
          <a:bodyPr wrap="square" lIns="0" tIns="0" rIns="0" bIns="0" rtlCol="0" anchor="t"/>
          <a:lstStyle/>
          <a:p>
            <a:pPr algn="ctr" indent="0" marL="0">
              <a:buNone/>
            </a:pPr>
            <a:r>
              <a:rPr lang="en-US" sz="3200" dirty="0">
                <a:solidFill>
                  <a:srgbClr val="6B6B6B"/>
                </a:solidFill>
                <a:latin typeface="Arial" pitchFamily="34" charset="0"/>
                <a:ea typeface="Arial" pitchFamily="34" charset="-122"/>
                <a:cs typeface="Arial" pitchFamily="34" charset="-120"/>
              </a:rPr>
              <a:t>→</a:t>
            </a:r>
            <a:endParaRPr lang="en-US" sz="3200" dirty="0"/>
          </a:p>
        </p:txBody>
      </p:sp>
      <p:sp>
        <p:nvSpPr>
          <p:cNvPr id="10" name="Shape 7"/>
          <p:cNvSpPr/>
          <p:nvPr/>
        </p:nvSpPr>
        <p:spPr>
          <a:xfrm>
            <a:off x="4206240" y="2240280"/>
            <a:ext cx="914400" cy="914400"/>
          </a:xfrm>
          <a:prstGeom prst="ellipse">
            <a:avLst/>
          </a:prstGeom>
          <a:solidFill>
            <a:srgbClr val="E4002B"/>
          </a:solidFill>
          <a:ln w="12700">
            <a:solidFill>
              <a:srgbClr val="E4002B"/>
            </a:solidFill>
            <a:prstDash val="solid"/>
          </a:ln>
        </p:spPr>
      </p:sp>
      <p:pic>
        <p:nvPicPr>
          <p:cNvPr id="11" name="Image 1" descr="preencoded.png">    </p:cNvPr>
          <p:cNvPicPr>
            <a:picLocks noChangeAspect="1"/>
          </p:cNvPicPr>
          <p:nvPr/>
        </p:nvPicPr>
        <p:blipFill>
          <a:blip r:embed="rId2"/>
          <a:stretch>
            <a:fillRect/>
          </a:stretch>
        </p:blipFill>
        <p:spPr>
          <a:xfrm>
            <a:off x="4434840" y="2468880"/>
            <a:ext cx="457200" cy="457200"/>
          </a:xfrm>
          <a:prstGeom prst="rect">
            <a:avLst/>
          </a:prstGeom>
        </p:spPr>
      </p:pic>
      <p:sp>
        <p:nvSpPr>
          <p:cNvPr id="12" name="Text 8"/>
          <p:cNvSpPr txBox="1"/>
          <p:nvPr/>
        </p:nvSpPr>
        <p:spPr>
          <a:xfrm>
            <a:off x="3383280" y="3291840"/>
            <a:ext cx="2560320" cy="411480"/>
          </a:xfrm>
          <a:prstGeom prst="rect">
            <a:avLst/>
          </a:prstGeom>
          <a:noFill/>
          <a:ln/>
        </p:spPr>
        <p:txBody>
          <a:bodyPr wrap="square" lIns="0" tIns="0" rIns="0" bIns="0" rtlCol="0" anchor="t"/>
          <a:lstStyle/>
          <a:p>
            <a:pPr algn="ctr" indent="0" marL="0">
              <a:buNone/>
            </a:pPr>
            <a:r>
              <a:rPr lang="en-US" sz="2000" b="1" dirty="0">
                <a:solidFill>
                  <a:srgbClr val="111111"/>
                </a:solidFill>
                <a:latin typeface="Arial" pitchFamily="34" charset="0"/>
                <a:ea typeface="Arial" pitchFamily="34" charset="-122"/>
                <a:cs typeface="Arial" pitchFamily="34" charset="-120"/>
              </a:rPr>
              <a:t>It looks</a:t>
            </a:r>
            <a:endParaRPr lang="en-US" sz="2000" dirty="0"/>
          </a:p>
        </p:txBody>
      </p:sp>
      <p:sp>
        <p:nvSpPr>
          <p:cNvPr id="13" name="Text 9"/>
          <p:cNvSpPr txBox="1"/>
          <p:nvPr/>
        </p:nvSpPr>
        <p:spPr>
          <a:xfrm>
            <a:off x="3474720" y="3749040"/>
            <a:ext cx="2377440" cy="1005840"/>
          </a:xfrm>
          <a:prstGeom prst="rect">
            <a:avLst/>
          </a:prstGeom>
          <a:noFill/>
          <a:ln/>
        </p:spPr>
        <p:txBody>
          <a:bodyPr wrap="square" lIns="0" tIns="0" rIns="0" bIns="0" rtlCol="0" anchor="t"/>
          <a:lstStyle/>
          <a:p>
            <a:pPr algn="ctr" indent="0" marL="0">
              <a:buNone/>
            </a:pPr>
            <a:r>
              <a:rPr lang="en-US" sz="1400" dirty="0">
                <a:solidFill>
                  <a:srgbClr val="3D3D3D"/>
                </a:solidFill>
                <a:latin typeface="Arial" pitchFamily="34" charset="0"/>
                <a:ea typeface="Arial" pitchFamily="34" charset="-122"/>
                <a:cs typeface="Arial" pitchFamily="34" charset="-120"/>
              </a:rPr>
              <a:t>Searches the emails, chats, meetings and files you can already open</a:t>
            </a:r>
            <a:endParaRPr lang="en-US" sz="1400" dirty="0"/>
          </a:p>
        </p:txBody>
      </p:sp>
      <p:sp>
        <p:nvSpPr>
          <p:cNvPr id="14" name="Text 10"/>
          <p:cNvSpPr txBox="1"/>
          <p:nvPr/>
        </p:nvSpPr>
        <p:spPr>
          <a:xfrm>
            <a:off x="5715000" y="2377440"/>
            <a:ext cx="548640" cy="548640"/>
          </a:xfrm>
          <a:prstGeom prst="rect">
            <a:avLst/>
          </a:prstGeom>
          <a:noFill/>
          <a:ln/>
        </p:spPr>
        <p:txBody>
          <a:bodyPr wrap="square" lIns="0" tIns="0" rIns="0" bIns="0" rtlCol="0" anchor="t"/>
          <a:lstStyle/>
          <a:p>
            <a:pPr algn="ctr" indent="0" marL="0">
              <a:buNone/>
            </a:pPr>
            <a:r>
              <a:rPr lang="en-US" sz="3200" dirty="0">
                <a:solidFill>
                  <a:srgbClr val="6B6B6B"/>
                </a:solidFill>
                <a:latin typeface="Arial" pitchFamily="34" charset="0"/>
                <a:ea typeface="Arial" pitchFamily="34" charset="-122"/>
                <a:cs typeface="Arial" pitchFamily="34" charset="-120"/>
              </a:rPr>
              <a:t>→</a:t>
            </a:r>
            <a:endParaRPr lang="en-US" sz="3200" dirty="0"/>
          </a:p>
        </p:txBody>
      </p:sp>
      <p:sp>
        <p:nvSpPr>
          <p:cNvPr id="15" name="Shape 11"/>
          <p:cNvSpPr/>
          <p:nvPr/>
        </p:nvSpPr>
        <p:spPr>
          <a:xfrm>
            <a:off x="7040880" y="2240280"/>
            <a:ext cx="914400" cy="914400"/>
          </a:xfrm>
          <a:prstGeom prst="ellipse">
            <a:avLst/>
          </a:prstGeom>
          <a:solidFill>
            <a:srgbClr val="E4002B"/>
          </a:solidFill>
          <a:ln w="12700">
            <a:solidFill>
              <a:srgbClr val="E4002B"/>
            </a:solidFill>
            <a:prstDash val="solid"/>
          </a:ln>
        </p:spPr>
      </p:sp>
      <p:pic>
        <p:nvPicPr>
          <p:cNvPr id="16" name="Image 2" descr="preencoded.png">    </p:cNvPr>
          <p:cNvPicPr>
            <a:picLocks noChangeAspect="1"/>
          </p:cNvPicPr>
          <p:nvPr/>
        </p:nvPicPr>
        <p:blipFill>
          <a:blip r:embed="rId3"/>
          <a:stretch>
            <a:fillRect/>
          </a:stretch>
        </p:blipFill>
        <p:spPr>
          <a:xfrm>
            <a:off x="7269480" y="2468880"/>
            <a:ext cx="457200" cy="457200"/>
          </a:xfrm>
          <a:prstGeom prst="rect">
            <a:avLst/>
          </a:prstGeom>
        </p:spPr>
      </p:pic>
      <p:sp>
        <p:nvSpPr>
          <p:cNvPr id="17" name="Text 12"/>
          <p:cNvSpPr txBox="1"/>
          <p:nvPr/>
        </p:nvSpPr>
        <p:spPr>
          <a:xfrm>
            <a:off x="6217920" y="3291840"/>
            <a:ext cx="2560320" cy="411480"/>
          </a:xfrm>
          <a:prstGeom prst="rect">
            <a:avLst/>
          </a:prstGeom>
          <a:noFill/>
          <a:ln/>
        </p:spPr>
        <p:txBody>
          <a:bodyPr wrap="square" lIns="0" tIns="0" rIns="0" bIns="0" rtlCol="0" anchor="t"/>
          <a:lstStyle/>
          <a:p>
            <a:pPr algn="ctr" indent="0" marL="0">
              <a:buNone/>
            </a:pPr>
            <a:r>
              <a:rPr lang="en-US" sz="2000" b="1" dirty="0">
                <a:solidFill>
                  <a:srgbClr val="111111"/>
                </a:solidFill>
                <a:latin typeface="Arial" pitchFamily="34" charset="0"/>
                <a:ea typeface="Arial" pitchFamily="34" charset="-122"/>
                <a:cs typeface="Arial" pitchFamily="34" charset="-120"/>
              </a:rPr>
              <a:t>It drafts</a:t>
            </a:r>
            <a:endParaRPr lang="en-US" sz="2000" dirty="0"/>
          </a:p>
        </p:txBody>
      </p:sp>
      <p:sp>
        <p:nvSpPr>
          <p:cNvPr id="18" name="Text 13"/>
          <p:cNvSpPr txBox="1"/>
          <p:nvPr/>
        </p:nvSpPr>
        <p:spPr>
          <a:xfrm>
            <a:off x="6309360" y="3749040"/>
            <a:ext cx="2377440" cy="1005840"/>
          </a:xfrm>
          <a:prstGeom prst="rect">
            <a:avLst/>
          </a:prstGeom>
          <a:noFill/>
          <a:ln/>
        </p:spPr>
        <p:txBody>
          <a:bodyPr wrap="square" lIns="0" tIns="0" rIns="0" bIns="0" rtlCol="0" anchor="t"/>
          <a:lstStyle/>
          <a:p>
            <a:pPr algn="ctr" indent="0" marL="0">
              <a:buNone/>
            </a:pPr>
            <a:r>
              <a:rPr lang="en-US" sz="1400" dirty="0">
                <a:solidFill>
                  <a:srgbClr val="3D3D3D"/>
                </a:solidFill>
                <a:latin typeface="Arial" pitchFamily="34" charset="0"/>
                <a:ea typeface="Arial" pitchFamily="34" charset="-122"/>
                <a:cs typeface="Arial" pitchFamily="34" charset="-120"/>
              </a:rPr>
              <a:t>A large language model writes the answer from what it found</a:t>
            </a:r>
            <a:endParaRPr lang="en-US" sz="1400" dirty="0"/>
          </a:p>
        </p:txBody>
      </p:sp>
      <p:sp>
        <p:nvSpPr>
          <p:cNvPr id="19" name="Text 14"/>
          <p:cNvSpPr txBox="1"/>
          <p:nvPr/>
        </p:nvSpPr>
        <p:spPr>
          <a:xfrm>
            <a:off x="8549640" y="2377440"/>
            <a:ext cx="548640" cy="548640"/>
          </a:xfrm>
          <a:prstGeom prst="rect">
            <a:avLst/>
          </a:prstGeom>
          <a:noFill/>
          <a:ln/>
        </p:spPr>
        <p:txBody>
          <a:bodyPr wrap="square" lIns="0" tIns="0" rIns="0" bIns="0" rtlCol="0" anchor="t"/>
          <a:lstStyle/>
          <a:p>
            <a:pPr algn="ctr" indent="0" marL="0">
              <a:buNone/>
            </a:pPr>
            <a:r>
              <a:rPr lang="en-US" sz="3200" dirty="0">
                <a:solidFill>
                  <a:srgbClr val="6B6B6B"/>
                </a:solidFill>
                <a:latin typeface="Arial" pitchFamily="34" charset="0"/>
                <a:ea typeface="Arial" pitchFamily="34" charset="-122"/>
                <a:cs typeface="Arial" pitchFamily="34" charset="-120"/>
              </a:rPr>
              <a:t>→</a:t>
            </a:r>
            <a:endParaRPr lang="en-US" sz="3200" dirty="0"/>
          </a:p>
        </p:txBody>
      </p:sp>
      <p:sp>
        <p:nvSpPr>
          <p:cNvPr id="20" name="Shape 15"/>
          <p:cNvSpPr/>
          <p:nvPr/>
        </p:nvSpPr>
        <p:spPr>
          <a:xfrm>
            <a:off x="9875520" y="2240280"/>
            <a:ext cx="914400" cy="914400"/>
          </a:xfrm>
          <a:prstGeom prst="ellipse">
            <a:avLst/>
          </a:prstGeom>
          <a:solidFill>
            <a:srgbClr val="111111"/>
          </a:solidFill>
          <a:ln w="12700">
            <a:solidFill>
              <a:srgbClr val="111111"/>
            </a:solidFill>
            <a:prstDash val="solid"/>
          </a:ln>
        </p:spPr>
      </p:sp>
      <p:pic>
        <p:nvPicPr>
          <p:cNvPr id="21" name="Image 3" descr="preencoded.png">    </p:cNvPr>
          <p:cNvPicPr>
            <a:picLocks noChangeAspect="1"/>
          </p:cNvPicPr>
          <p:nvPr/>
        </p:nvPicPr>
        <p:blipFill>
          <a:blip r:embed="rId4"/>
          <a:stretch>
            <a:fillRect/>
          </a:stretch>
        </p:blipFill>
        <p:spPr>
          <a:xfrm>
            <a:off x="10104120" y="2468880"/>
            <a:ext cx="457200" cy="457200"/>
          </a:xfrm>
          <a:prstGeom prst="rect">
            <a:avLst/>
          </a:prstGeom>
        </p:spPr>
      </p:pic>
      <p:sp>
        <p:nvSpPr>
          <p:cNvPr id="22" name="Text 16"/>
          <p:cNvSpPr txBox="1"/>
          <p:nvPr/>
        </p:nvSpPr>
        <p:spPr>
          <a:xfrm>
            <a:off x="9052560" y="3291840"/>
            <a:ext cx="2560320" cy="411480"/>
          </a:xfrm>
          <a:prstGeom prst="rect">
            <a:avLst/>
          </a:prstGeom>
          <a:noFill/>
          <a:ln/>
        </p:spPr>
        <p:txBody>
          <a:bodyPr wrap="square" lIns="0" tIns="0" rIns="0" bIns="0" rtlCol="0" anchor="t"/>
          <a:lstStyle/>
          <a:p>
            <a:pPr algn="ctr" indent="0" marL="0">
              <a:buNone/>
            </a:pPr>
            <a:r>
              <a:rPr lang="en-US" sz="2000" b="1" dirty="0">
                <a:solidFill>
                  <a:srgbClr val="111111"/>
                </a:solidFill>
                <a:latin typeface="Arial" pitchFamily="34" charset="0"/>
                <a:ea typeface="Arial" pitchFamily="34" charset="-122"/>
                <a:cs typeface="Arial" pitchFamily="34" charset="-120"/>
              </a:rPr>
              <a:t>You check</a:t>
            </a:r>
            <a:endParaRPr lang="en-US" sz="2000" dirty="0"/>
          </a:p>
        </p:txBody>
      </p:sp>
      <p:sp>
        <p:nvSpPr>
          <p:cNvPr id="23" name="Text 17"/>
          <p:cNvSpPr txBox="1"/>
          <p:nvPr/>
        </p:nvSpPr>
        <p:spPr>
          <a:xfrm>
            <a:off x="9144000" y="3749040"/>
            <a:ext cx="2377440" cy="1005840"/>
          </a:xfrm>
          <a:prstGeom prst="rect">
            <a:avLst/>
          </a:prstGeom>
          <a:noFill/>
          <a:ln/>
        </p:spPr>
        <p:txBody>
          <a:bodyPr wrap="square" lIns="0" tIns="0" rIns="0" bIns="0" rtlCol="0" anchor="t"/>
          <a:lstStyle/>
          <a:p>
            <a:pPr algn="ctr" indent="0" marL="0">
              <a:buNone/>
            </a:pPr>
            <a:r>
              <a:rPr lang="en-US" sz="1400" dirty="0">
                <a:solidFill>
                  <a:srgbClr val="3D3D3D"/>
                </a:solidFill>
                <a:latin typeface="Arial" pitchFamily="34" charset="0"/>
                <a:ea typeface="Arial" pitchFamily="34" charset="-122"/>
                <a:cs typeface="Arial" pitchFamily="34" charset="-120"/>
              </a:rPr>
              <a:t>Answers show references. Open them before you rely on it</a:t>
            </a:r>
            <a:endParaRPr lang="en-US" sz="1400" dirty="0"/>
          </a:p>
        </p:txBody>
      </p:sp>
      <p:sp>
        <p:nvSpPr>
          <p:cNvPr id="24" name="Shape 18"/>
          <p:cNvSpPr/>
          <p:nvPr/>
        </p:nvSpPr>
        <p:spPr>
          <a:xfrm>
            <a:off x="548640" y="4983480"/>
            <a:ext cx="11094415" cy="1097280"/>
          </a:xfrm>
          <a:prstGeom prst="rect">
            <a:avLst/>
          </a:prstGeom>
          <a:solidFill>
            <a:srgbClr val="F4F4F4"/>
          </a:solidFill>
          <a:ln w="12700">
            <a:solidFill>
              <a:srgbClr val="F4F4F4"/>
            </a:solidFill>
            <a:prstDash val="solid"/>
          </a:ln>
        </p:spPr>
      </p:sp>
      <p:sp>
        <p:nvSpPr>
          <p:cNvPr id="25" name="Text 19"/>
          <p:cNvSpPr txBox="1"/>
          <p:nvPr/>
        </p:nvSpPr>
        <p:spPr>
          <a:xfrm>
            <a:off x="822960" y="5120640"/>
            <a:ext cx="10545775" cy="914400"/>
          </a:xfrm>
          <a:prstGeom prst="rect">
            <a:avLst/>
          </a:prstGeom>
          <a:noFill/>
          <a:ln/>
        </p:spPr>
        <p:txBody>
          <a:bodyPr wrap="square" rtlCol="0" anchor="t"/>
          <a:lstStyle/>
          <a:p>
            <a:pPr marL="228600" indent="-228600">
              <a:buSzPct val="100000"/>
              <a:buChar char="•"/>
            </a:pPr>
            <a:r>
              <a:rPr lang="en-US" sz="1400" b="1" dirty="0">
                <a:solidFill>
                  <a:srgbClr val="111111"/>
                </a:solidFill>
                <a:latin typeface="Arial" pitchFamily="34" charset="0"/>
                <a:ea typeface="Arial" pitchFamily="34" charset="-122"/>
                <a:cs typeface="Arial" pitchFamily="34" charset="-120"/>
              </a:rPr>
              <a:t>It respects permissions. </a:t>
            </a:r>
            <a:pPr indent="0" marL="0">
              <a:spcAft>
                <a:spcPts val="1000"/>
              </a:spcAft>
              <a:buNone/>
            </a:pPr>
            <a:r>
              <a:rPr lang="en-US" sz="1400" dirty="0">
                <a:solidFill>
                  <a:srgbClr val="3D3D3D"/>
                </a:solidFill>
                <a:latin typeface="Arial" pitchFamily="34" charset="0"/>
                <a:ea typeface="Arial" pitchFamily="34" charset="-122"/>
                <a:cs typeface="Arial" pitchFamily="34" charset="-120"/>
              </a:rPr>
              <a:t>Copilot never gives you access to anything you couldn't already open.</a:t>
            </a:r>
            <a:endParaRPr lang="en-US" sz="1400" dirty="0"/>
          </a:p>
          <a:p>
            <a:pPr marL="228600" indent="-228600">
              <a:buSzPct val="100000"/>
              <a:buChar char="•"/>
            </a:pPr>
            <a:r>
              <a:rPr lang="en-US" sz="1400" b="1" dirty="0">
                <a:solidFill>
                  <a:srgbClr val="111111"/>
                </a:solidFill>
                <a:latin typeface="Arial" pitchFamily="34" charset="0"/>
                <a:ea typeface="Arial" pitchFamily="34" charset="-122"/>
                <a:cs typeface="Arial" pitchFamily="34" charset="-120"/>
              </a:rPr>
              <a:t>Your data isn't used to train the models. </a:t>
            </a:r>
            <a:pPr indent="0" marL="0">
              <a:spcAft>
                <a:spcPts val="1000"/>
              </a:spcAft>
              <a:buNone/>
            </a:pPr>
            <a:r>
              <a:rPr lang="en-US" sz="1400" dirty="0">
                <a:solidFill>
                  <a:srgbClr val="3D3D3D"/>
                </a:solidFill>
                <a:latin typeface="Arial" pitchFamily="34" charset="0"/>
                <a:ea typeface="Arial" pitchFamily="34" charset="-122"/>
                <a:cs typeface="Arial" pitchFamily="34" charset="-120"/>
              </a:rPr>
              <a:t>Microsoft states that prompts, responses and data accessed through Microsoft 365 aren't used to train its foundation models.</a:t>
            </a:r>
            <a:endParaRPr lang="en-US" sz="1400" dirty="0"/>
          </a:p>
        </p:txBody>
      </p:sp>
      <p:sp>
        <p:nvSpPr>
          <p:cNvPr id="26" name="Text 20"/>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27" name="Text 2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AI BASICS</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Brief it the way you'd brief a colleague</a:t>
            </a:r>
            <a:endParaRPr lang="en-US" sz="3200" dirty="0"/>
          </a:p>
        </p:txBody>
      </p:sp>
      <p:sp>
        <p:nvSpPr>
          <p:cNvPr id="4" name="Shape 2"/>
          <p:cNvSpPr/>
          <p:nvPr/>
        </p:nvSpPr>
        <p:spPr>
          <a:xfrm>
            <a:off x="548640" y="1691640"/>
            <a:ext cx="548640" cy="548640"/>
          </a:xfrm>
          <a:prstGeom prst="ellipse">
            <a:avLst/>
          </a:prstGeom>
          <a:solidFill>
            <a:srgbClr val="E4002B"/>
          </a:solidFill>
          <a:ln w="12700">
            <a:solidFill>
              <a:srgbClr val="E4002B"/>
            </a:solidFill>
            <a:prstDash val="solid"/>
          </a:ln>
        </p:spPr>
      </p:sp>
      <p:sp>
        <p:nvSpPr>
          <p:cNvPr id="5" name="Text 3"/>
          <p:cNvSpPr txBox="1"/>
          <p:nvPr/>
        </p:nvSpPr>
        <p:spPr>
          <a:xfrm>
            <a:off x="548640" y="1783080"/>
            <a:ext cx="54864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325880" y="1709928"/>
            <a:ext cx="4114800" cy="32004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Who it's for</a:t>
            </a:r>
            <a:endParaRPr lang="en-US" sz="1700" dirty="0"/>
          </a:p>
        </p:txBody>
      </p:sp>
      <p:sp>
        <p:nvSpPr>
          <p:cNvPr id="7" name="Text 5"/>
          <p:cNvSpPr txBox="1"/>
          <p:nvPr/>
        </p:nvSpPr>
        <p:spPr>
          <a:xfrm>
            <a:off x="1325880" y="2039112"/>
            <a:ext cx="4389120" cy="41148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“For the VP of Sales, reading on their phone”</a:t>
            </a:r>
            <a:endParaRPr lang="en-US" sz="1300" dirty="0"/>
          </a:p>
        </p:txBody>
      </p:sp>
      <p:sp>
        <p:nvSpPr>
          <p:cNvPr id="8" name="Shape 6"/>
          <p:cNvSpPr/>
          <p:nvPr/>
        </p:nvSpPr>
        <p:spPr>
          <a:xfrm>
            <a:off x="548640" y="2560320"/>
            <a:ext cx="548640" cy="548640"/>
          </a:xfrm>
          <a:prstGeom prst="ellipse">
            <a:avLst/>
          </a:prstGeom>
          <a:solidFill>
            <a:srgbClr val="E4002B"/>
          </a:solidFill>
          <a:ln w="12700">
            <a:solidFill>
              <a:srgbClr val="E4002B"/>
            </a:solidFill>
            <a:prstDash val="solid"/>
          </a:ln>
        </p:spPr>
      </p:sp>
      <p:sp>
        <p:nvSpPr>
          <p:cNvPr id="9" name="Text 7"/>
          <p:cNvSpPr txBox="1"/>
          <p:nvPr/>
        </p:nvSpPr>
        <p:spPr>
          <a:xfrm>
            <a:off x="548640" y="2651760"/>
            <a:ext cx="54864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txBox="1"/>
          <p:nvPr/>
        </p:nvSpPr>
        <p:spPr>
          <a:xfrm>
            <a:off x="1325880" y="2578608"/>
            <a:ext cx="4114800" cy="32004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What to do</a:t>
            </a:r>
            <a:endParaRPr lang="en-US" sz="1700" dirty="0"/>
          </a:p>
        </p:txBody>
      </p:sp>
      <p:sp>
        <p:nvSpPr>
          <p:cNvPr id="11" name="Text 9"/>
          <p:cNvSpPr txBox="1"/>
          <p:nvPr/>
        </p:nvSpPr>
        <p:spPr>
          <a:xfrm>
            <a:off x="1325880" y="2907792"/>
            <a:ext cx="4389120" cy="41148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One clear verb: draft, shorten, compare, list</a:t>
            </a:r>
            <a:endParaRPr lang="en-US" sz="1300" dirty="0"/>
          </a:p>
        </p:txBody>
      </p:sp>
      <p:sp>
        <p:nvSpPr>
          <p:cNvPr id="12" name="Shape 10"/>
          <p:cNvSpPr/>
          <p:nvPr/>
        </p:nvSpPr>
        <p:spPr>
          <a:xfrm>
            <a:off x="548640" y="3429000"/>
            <a:ext cx="548640" cy="548640"/>
          </a:xfrm>
          <a:prstGeom prst="ellipse">
            <a:avLst/>
          </a:prstGeom>
          <a:solidFill>
            <a:srgbClr val="E4002B"/>
          </a:solidFill>
          <a:ln w="12700">
            <a:solidFill>
              <a:srgbClr val="E4002B"/>
            </a:solidFill>
            <a:prstDash val="solid"/>
          </a:ln>
        </p:spPr>
      </p:sp>
      <p:sp>
        <p:nvSpPr>
          <p:cNvPr id="13" name="Text 11"/>
          <p:cNvSpPr txBox="1"/>
          <p:nvPr/>
        </p:nvSpPr>
        <p:spPr>
          <a:xfrm>
            <a:off x="548640" y="3520440"/>
            <a:ext cx="54864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4" name="Text 12"/>
          <p:cNvSpPr txBox="1"/>
          <p:nvPr/>
        </p:nvSpPr>
        <p:spPr>
          <a:xfrm>
            <a:off x="1325880" y="3447288"/>
            <a:ext cx="4114800" cy="32004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The material</a:t>
            </a:r>
            <a:endParaRPr lang="en-US" sz="1700" dirty="0"/>
          </a:p>
        </p:txBody>
      </p:sp>
      <p:sp>
        <p:nvSpPr>
          <p:cNvPr id="15" name="Text 13"/>
          <p:cNvSpPr txBox="1"/>
          <p:nvPr/>
        </p:nvSpPr>
        <p:spPr>
          <a:xfrm>
            <a:off x="1325880" y="3776472"/>
            <a:ext cx="4389120" cy="41148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Paste it or reference the file. Don't make it guess</a:t>
            </a:r>
            <a:endParaRPr lang="en-US" sz="1300" dirty="0"/>
          </a:p>
        </p:txBody>
      </p:sp>
      <p:sp>
        <p:nvSpPr>
          <p:cNvPr id="16" name="Shape 14"/>
          <p:cNvSpPr/>
          <p:nvPr/>
        </p:nvSpPr>
        <p:spPr>
          <a:xfrm>
            <a:off x="548640" y="4297680"/>
            <a:ext cx="548640" cy="548640"/>
          </a:xfrm>
          <a:prstGeom prst="ellipse">
            <a:avLst/>
          </a:prstGeom>
          <a:solidFill>
            <a:srgbClr val="E4002B"/>
          </a:solidFill>
          <a:ln w="12700">
            <a:solidFill>
              <a:srgbClr val="E4002B"/>
            </a:solidFill>
            <a:prstDash val="solid"/>
          </a:ln>
        </p:spPr>
      </p:sp>
      <p:sp>
        <p:nvSpPr>
          <p:cNvPr id="17" name="Text 15"/>
          <p:cNvSpPr txBox="1"/>
          <p:nvPr/>
        </p:nvSpPr>
        <p:spPr>
          <a:xfrm>
            <a:off x="548640" y="4389120"/>
            <a:ext cx="54864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8" name="Text 16"/>
          <p:cNvSpPr txBox="1"/>
          <p:nvPr/>
        </p:nvSpPr>
        <p:spPr>
          <a:xfrm>
            <a:off x="1325880" y="4315968"/>
            <a:ext cx="4114800" cy="32004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What good looks like</a:t>
            </a:r>
            <a:endParaRPr lang="en-US" sz="1700" dirty="0"/>
          </a:p>
        </p:txBody>
      </p:sp>
      <p:sp>
        <p:nvSpPr>
          <p:cNvPr id="19" name="Text 17"/>
          <p:cNvSpPr txBox="1"/>
          <p:nvPr/>
        </p:nvSpPr>
        <p:spPr>
          <a:xfrm>
            <a:off x="1325880" y="4645152"/>
            <a:ext cx="4389120" cy="41148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Length, format, tone: “under 120 words, three bullets”</a:t>
            </a:r>
            <a:endParaRPr lang="en-US" sz="1300" dirty="0"/>
          </a:p>
        </p:txBody>
      </p:sp>
      <p:sp>
        <p:nvSpPr>
          <p:cNvPr id="20" name="Shape 18"/>
          <p:cNvSpPr/>
          <p:nvPr/>
        </p:nvSpPr>
        <p:spPr>
          <a:xfrm>
            <a:off x="548640" y="5166360"/>
            <a:ext cx="548640" cy="548640"/>
          </a:xfrm>
          <a:prstGeom prst="ellipse">
            <a:avLst/>
          </a:prstGeom>
          <a:solidFill>
            <a:srgbClr val="E4002B"/>
          </a:solidFill>
          <a:ln w="12700">
            <a:solidFill>
              <a:srgbClr val="E4002B"/>
            </a:solidFill>
            <a:prstDash val="solid"/>
          </a:ln>
        </p:spPr>
      </p:sp>
      <p:sp>
        <p:nvSpPr>
          <p:cNvPr id="21" name="Text 19"/>
          <p:cNvSpPr txBox="1"/>
          <p:nvPr/>
        </p:nvSpPr>
        <p:spPr>
          <a:xfrm>
            <a:off x="548640" y="5257800"/>
            <a:ext cx="54864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2" name="Text 20"/>
          <p:cNvSpPr txBox="1"/>
          <p:nvPr/>
        </p:nvSpPr>
        <p:spPr>
          <a:xfrm>
            <a:off x="1325880" y="5184648"/>
            <a:ext cx="4114800" cy="32004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An example</a:t>
            </a:r>
            <a:endParaRPr lang="en-US" sz="1700" dirty="0"/>
          </a:p>
        </p:txBody>
      </p:sp>
      <p:sp>
        <p:nvSpPr>
          <p:cNvPr id="23" name="Text 21"/>
          <p:cNvSpPr txBox="1"/>
          <p:nvPr/>
        </p:nvSpPr>
        <p:spPr>
          <a:xfrm>
            <a:off x="1325880" y="5513832"/>
            <a:ext cx="4389120" cy="41148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“Write it like this one” beats any description</a:t>
            </a:r>
            <a:endParaRPr lang="en-US" sz="1300" dirty="0"/>
          </a:p>
        </p:txBody>
      </p:sp>
      <p:sp>
        <p:nvSpPr>
          <p:cNvPr id="24" name="Shape 22"/>
          <p:cNvSpPr/>
          <p:nvPr/>
        </p:nvSpPr>
        <p:spPr>
          <a:xfrm>
            <a:off x="6035040" y="1691640"/>
            <a:ext cx="5605272" cy="1097280"/>
          </a:xfrm>
          <a:prstGeom prst="rect">
            <a:avLst/>
          </a:prstGeom>
          <a:solidFill>
            <a:srgbClr val="F4F4F4"/>
          </a:solidFill>
          <a:ln w="12700">
            <a:solidFill>
              <a:srgbClr val="F4F4F4"/>
            </a:solidFill>
            <a:prstDash val="solid"/>
          </a:ln>
        </p:spPr>
      </p:sp>
      <p:sp>
        <p:nvSpPr>
          <p:cNvPr id="25" name="Text 23"/>
          <p:cNvSpPr txBox="1"/>
          <p:nvPr/>
        </p:nvSpPr>
        <p:spPr>
          <a:xfrm>
            <a:off x="6263640" y="1828800"/>
            <a:ext cx="1828800" cy="274320"/>
          </a:xfrm>
          <a:prstGeom prst="rect">
            <a:avLst/>
          </a:prstGeom>
          <a:noFill/>
          <a:ln/>
        </p:spPr>
        <p:txBody>
          <a:bodyPr wrap="square" lIns="0" tIns="0" rIns="0" bIns="0" rtlCol="0" anchor="t"/>
          <a:lstStyle/>
          <a:p>
            <a:pPr indent="0" marL="0">
              <a:buNone/>
            </a:pPr>
            <a:r>
              <a:rPr lang="en-US" sz="1100" b="1" spc="200" kern="0" dirty="0">
                <a:solidFill>
                  <a:srgbClr val="6B6B6B"/>
                </a:solidFill>
                <a:latin typeface="Arial" pitchFamily="34" charset="0"/>
                <a:ea typeface="Arial" pitchFamily="34" charset="-122"/>
                <a:cs typeface="Arial" pitchFamily="34" charset="-120"/>
              </a:rPr>
              <a:t>WEAK</a:t>
            </a:r>
            <a:endParaRPr lang="en-US" sz="1100" dirty="0"/>
          </a:p>
        </p:txBody>
      </p:sp>
      <p:sp>
        <p:nvSpPr>
          <p:cNvPr id="26" name="Text 24"/>
          <p:cNvSpPr txBox="1"/>
          <p:nvPr/>
        </p:nvSpPr>
        <p:spPr>
          <a:xfrm>
            <a:off x="6263640" y="2148840"/>
            <a:ext cx="5120640" cy="548640"/>
          </a:xfrm>
          <a:prstGeom prst="rect">
            <a:avLst/>
          </a:prstGeom>
          <a:noFill/>
          <a:ln/>
        </p:spPr>
        <p:txBody>
          <a:bodyPr wrap="square" lIns="0" tIns="0" rIns="0" bIns="0" rtlCol="0" anchor="t"/>
          <a:lstStyle/>
          <a:p>
            <a:pPr indent="0" marL="0">
              <a:buNone/>
            </a:pPr>
            <a:r>
              <a:rPr lang="en-US" sz="1500" dirty="0">
                <a:solidFill>
                  <a:srgbClr val="3D3D3D"/>
                </a:solidFill>
                <a:latin typeface="Arial" pitchFamily="34" charset="0"/>
                <a:ea typeface="Arial" pitchFamily="34" charset="-122"/>
                <a:cs typeface="Arial" pitchFamily="34" charset="-120"/>
              </a:rPr>
              <a:t>Write an email about the export delay.</a:t>
            </a:r>
            <a:endParaRPr lang="en-US" sz="1500" dirty="0"/>
          </a:p>
        </p:txBody>
      </p:sp>
      <p:sp>
        <p:nvSpPr>
          <p:cNvPr id="27" name="Shape 25"/>
          <p:cNvSpPr/>
          <p:nvPr/>
        </p:nvSpPr>
        <p:spPr>
          <a:xfrm>
            <a:off x="6035040" y="2971800"/>
            <a:ext cx="5605272" cy="3063240"/>
          </a:xfrm>
          <a:prstGeom prst="rect">
            <a:avLst/>
          </a:prstGeom>
          <a:solidFill>
            <a:srgbClr val="FFFFFF"/>
          </a:solidFill>
          <a:ln w="25400">
            <a:solidFill>
              <a:srgbClr val="111111"/>
            </a:solidFill>
            <a:prstDash val="solid"/>
          </a:ln>
        </p:spPr>
      </p:sp>
      <p:sp>
        <p:nvSpPr>
          <p:cNvPr id="28" name="Text 26"/>
          <p:cNvSpPr txBox="1"/>
          <p:nvPr/>
        </p:nvSpPr>
        <p:spPr>
          <a:xfrm>
            <a:off x="6263640" y="3127248"/>
            <a:ext cx="1828800" cy="274320"/>
          </a:xfrm>
          <a:prstGeom prst="rect">
            <a:avLst/>
          </a:prstGeom>
          <a:noFill/>
          <a:ln/>
        </p:spPr>
        <p:txBody>
          <a:bodyPr wrap="square" lIns="0" tIns="0" rIns="0" bIns="0" rtlCol="0" anchor="t"/>
          <a:lstStyle/>
          <a:p>
            <a:pPr indent="0" marL="0">
              <a:buNone/>
            </a:pPr>
            <a:r>
              <a:rPr lang="en-US" sz="1100" b="1" spc="200" kern="0" dirty="0">
                <a:solidFill>
                  <a:srgbClr val="E4002B"/>
                </a:solidFill>
                <a:latin typeface="Arial" pitchFamily="34" charset="0"/>
                <a:ea typeface="Arial" pitchFamily="34" charset="-122"/>
                <a:cs typeface="Arial" pitchFamily="34" charset="-120"/>
              </a:rPr>
              <a:t>STRONG</a:t>
            </a:r>
            <a:endParaRPr lang="en-US" sz="1100" dirty="0"/>
          </a:p>
        </p:txBody>
      </p:sp>
      <p:sp>
        <p:nvSpPr>
          <p:cNvPr id="29" name="Text 27"/>
          <p:cNvSpPr txBox="1"/>
          <p:nvPr/>
        </p:nvSpPr>
        <p:spPr>
          <a:xfrm>
            <a:off x="6263640" y="3474720"/>
            <a:ext cx="5166360" cy="2377440"/>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Write an email to our main contact at [customer]. Their data export scheduled for Tuesday will now run Thursday because a migration failed overnight. We've run their three most-used reports manually so they aren't blocked. Firm and factual, one apology, under 120 words. End by offering a call tomorrow.</a:t>
            </a:r>
            <a:endParaRPr lang="en-US" sz="1500" dirty="0"/>
          </a:p>
        </p:txBody>
      </p:sp>
      <p:sp>
        <p:nvSpPr>
          <p:cNvPr id="30" name="Text 28"/>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31" name="Text 29"/>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4002B"/>
        </a:solidFill>
      </p:bgPr>
    </p:bg>
    <p:spTree>
      <p:nvGrpSpPr>
        <p:cNvPr id="1" name=""/>
        <p:cNvGrpSpPr/>
        <p:nvPr/>
      </p:nvGrpSpPr>
      <p:grpSpPr>
        <a:xfrm>
          <a:off x="0" y="0"/>
          <a:ext cx="0" cy="0"/>
          <a:chOff x="0" y="0"/>
          <a:chExt cx="0" cy="0"/>
        </a:xfrm>
      </p:grpSpPr>
      <p:sp>
        <p:nvSpPr>
          <p:cNvPr id="2" name="Text 0"/>
          <p:cNvSpPr txBox="1"/>
          <p:nvPr/>
        </p:nvSpPr>
        <p:spPr>
          <a:xfrm>
            <a:off x="548640" y="1005840"/>
            <a:ext cx="3657600" cy="1463040"/>
          </a:xfrm>
          <a:prstGeom prst="rect">
            <a:avLst/>
          </a:prstGeom>
          <a:noFill/>
          <a:ln/>
        </p:spPr>
        <p:txBody>
          <a:bodyPr wrap="square" lIns="0" tIns="0" rIns="0" bIns="0" rtlCol="0" anchor="t"/>
          <a:lstStyle/>
          <a:p>
            <a:pPr indent="0" marL="0">
              <a:buNone/>
            </a:pPr>
            <a:r>
              <a:rPr lang="en-US" sz="11000" b="1" dirty="0">
                <a:solidFill>
                  <a:srgbClr val="FFFFFF"/>
                </a:solidFill>
                <a:latin typeface="Arial" pitchFamily="34" charset="0"/>
                <a:ea typeface="Arial" pitchFamily="34" charset="-122"/>
                <a:cs typeface="Arial" pitchFamily="34" charset="-120"/>
              </a:rPr>
              <a:t>02</a:t>
            </a:r>
            <a:endParaRPr lang="en-US" sz="11000" dirty="0"/>
          </a:p>
        </p:txBody>
      </p:sp>
      <p:sp>
        <p:nvSpPr>
          <p:cNvPr id="3" name="Text 1"/>
          <p:cNvSpPr txBox="1"/>
          <p:nvPr/>
        </p:nvSpPr>
        <p:spPr>
          <a:xfrm>
            <a:off x="548640" y="2697480"/>
            <a:ext cx="10515600" cy="1371600"/>
          </a:xfrm>
          <a:prstGeom prst="rect">
            <a:avLst/>
          </a:prstGeom>
          <a:noFill/>
          <a:ln/>
        </p:spPr>
        <p:txBody>
          <a:bodyPr wrap="square" lIns="0" tIns="0" rIns="0" bIns="0" rtlCol="0" anchor="b"/>
          <a:lstStyle/>
          <a:p>
            <a:pPr indent="0" marL="0">
              <a:buNone/>
            </a:pPr>
            <a:r>
              <a:rPr lang="en-US" sz="4000" b="1" dirty="0">
                <a:solidFill>
                  <a:srgbClr val="FFFFFF"/>
                </a:solidFill>
                <a:latin typeface="Arial" pitchFamily="34" charset="0"/>
                <a:ea typeface="Arial" pitchFamily="34" charset="-122"/>
                <a:cs typeface="Arial" pitchFamily="34" charset="-120"/>
              </a:rPr>
              <a:t>Microsoft's six principles</a:t>
            </a:r>
            <a:endParaRPr lang="en-US" sz="4000" dirty="0"/>
          </a:p>
        </p:txBody>
      </p:sp>
      <p:sp>
        <p:nvSpPr>
          <p:cNvPr id="4" name="Text 2"/>
          <p:cNvSpPr txBox="1"/>
          <p:nvPr/>
        </p:nvSpPr>
        <p:spPr>
          <a:xfrm>
            <a:off x="548640" y="4343400"/>
            <a:ext cx="9601200" cy="822960"/>
          </a:xfrm>
          <a:prstGeom prst="rect">
            <a:avLst/>
          </a:prstGeom>
          <a:noFill/>
          <a:ln/>
        </p:spPr>
        <p:txBody>
          <a:bodyPr wrap="square" lIns="0" tIns="0" rIns="0" bIns="0" rtlCol="0" anchor="t"/>
          <a:lstStyle/>
          <a:p>
            <a:pPr indent="0" marL="0">
              <a:buNone/>
            </a:pPr>
            <a:r>
              <a:rPr lang="en-US" sz="1800" dirty="0">
                <a:solidFill>
                  <a:srgbClr val="FFE3E8"/>
                </a:solidFill>
                <a:latin typeface="Arial" pitchFamily="34" charset="0"/>
                <a:ea typeface="Arial" pitchFamily="34" charset="-122"/>
                <a:cs typeface="Arial" pitchFamily="34" charset="-120"/>
              </a:rPr>
              <a:t>The questions we ask about any use of AI, from a quick prompt to a major project</a:t>
            </a:r>
            <a:endParaRPr lang="en-US" sz="1800" dirty="0"/>
          </a:p>
        </p:txBody>
      </p:sp>
      <p:sp>
        <p:nvSpPr>
          <p:cNvPr id="5" name="Text 3"/>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FFD1DA"/>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THE PRINCIPLES</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Six principles, one question each</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Microsoft's wording, and the question it turns into for us.</a:t>
            </a:r>
            <a:endParaRPr lang="en-US" sz="1600" dirty="0"/>
          </a:p>
        </p:txBody>
      </p:sp>
      <p:sp>
        <p:nvSpPr>
          <p:cNvPr id="5" name="Shape 3"/>
          <p:cNvSpPr/>
          <p:nvPr/>
        </p:nvSpPr>
        <p:spPr>
          <a:xfrm>
            <a:off x="548640" y="2148840"/>
            <a:ext cx="3520440" cy="1920240"/>
          </a:xfrm>
          <a:prstGeom prst="rect">
            <a:avLst/>
          </a:prstGeom>
          <a:solidFill>
            <a:srgbClr val="F4F4F4"/>
          </a:solidFill>
          <a:ln w="12700">
            <a:solidFill>
              <a:srgbClr val="F4F4F4"/>
            </a:solidFill>
            <a:prstDash val="solid"/>
          </a:ln>
        </p:spPr>
      </p:sp>
      <p:sp>
        <p:nvSpPr>
          <p:cNvPr id="6" name="Shape 4"/>
          <p:cNvSpPr/>
          <p:nvPr/>
        </p:nvSpPr>
        <p:spPr>
          <a:xfrm>
            <a:off x="777240" y="2377440"/>
            <a:ext cx="640080" cy="640080"/>
          </a:xfrm>
          <a:prstGeom prst="ellipse">
            <a:avLst/>
          </a:prstGeom>
          <a:solidFill>
            <a:srgbClr val="E4002B"/>
          </a:solidFill>
          <a:ln w="12700">
            <a:solidFill>
              <a:srgbClr val="E4002B"/>
            </a:solidFill>
            <a:prstDash val="solid"/>
          </a:ln>
        </p:spPr>
      </p:sp>
      <p:pic>
        <p:nvPicPr>
          <p:cNvPr id="7" name="Image 0" descr="preencoded.png">    </p:cNvPr>
          <p:cNvPicPr>
            <a:picLocks noChangeAspect="1"/>
          </p:cNvPicPr>
          <p:nvPr/>
        </p:nvPicPr>
        <p:blipFill>
          <a:blip r:embed="rId1"/>
          <a:stretch>
            <a:fillRect/>
          </a:stretch>
        </p:blipFill>
        <p:spPr>
          <a:xfrm>
            <a:off x="937260" y="2537460"/>
            <a:ext cx="320040" cy="320040"/>
          </a:xfrm>
          <a:prstGeom prst="rect">
            <a:avLst/>
          </a:prstGeom>
        </p:spPr>
      </p:pic>
      <p:sp>
        <p:nvSpPr>
          <p:cNvPr id="8" name="Text 5"/>
          <p:cNvSpPr txBox="1"/>
          <p:nvPr/>
        </p:nvSpPr>
        <p:spPr>
          <a:xfrm>
            <a:off x="1554480" y="2423160"/>
            <a:ext cx="2377440" cy="54864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Fairness</a:t>
            </a:r>
            <a:endParaRPr lang="en-US" sz="1700" dirty="0"/>
          </a:p>
        </p:txBody>
      </p:sp>
      <p:sp>
        <p:nvSpPr>
          <p:cNvPr id="9" name="Text 6"/>
          <p:cNvSpPr txBox="1"/>
          <p:nvPr/>
        </p:nvSpPr>
        <p:spPr>
          <a:xfrm>
            <a:off x="777240" y="3108960"/>
            <a:ext cx="3108960" cy="365760"/>
          </a:xfrm>
          <a:prstGeom prst="rect">
            <a:avLst/>
          </a:prstGeom>
          <a:noFill/>
          <a:ln/>
        </p:spPr>
        <p:txBody>
          <a:bodyPr wrap="square" lIns="0" tIns="0" rIns="0" bIns="0" rtlCol="0" anchor="t"/>
          <a:lstStyle/>
          <a:p>
            <a:pPr indent="0" marL="0">
              <a:buNone/>
            </a:pPr>
            <a:r>
              <a:rPr lang="en-US" sz="1200" i="1" dirty="0">
                <a:solidFill>
                  <a:srgbClr val="6B6B6B"/>
                </a:solidFill>
                <a:latin typeface="Arial" pitchFamily="34" charset="0"/>
                <a:ea typeface="Arial" pitchFamily="34" charset="-122"/>
                <a:cs typeface="Arial" pitchFamily="34" charset="-120"/>
              </a:rPr>
              <a:t>AI systems should treat all people fairly.</a:t>
            </a:r>
            <a:endParaRPr lang="en-US" sz="1200" dirty="0"/>
          </a:p>
        </p:txBody>
      </p:sp>
      <p:sp>
        <p:nvSpPr>
          <p:cNvPr id="10" name="Text 7"/>
          <p:cNvSpPr txBox="1"/>
          <p:nvPr/>
        </p:nvSpPr>
        <p:spPr>
          <a:xfrm>
            <a:off x="777240" y="3474720"/>
            <a:ext cx="3108960" cy="548640"/>
          </a:xfrm>
          <a:prstGeom prst="rect">
            <a:avLst/>
          </a:prstGeom>
          <a:noFill/>
          <a:ln/>
        </p:spPr>
        <p:txBody>
          <a:bodyPr wrap="square" lIns="0" tIns="0" rIns="0" bIns="0" rtlCol="0" anchor="t"/>
          <a:lstStyle/>
          <a:p>
            <a:pPr indent="0" marL="0">
              <a:buNone/>
            </a:pPr>
            <a:r>
              <a:rPr lang="en-US" sz="1350" dirty="0">
                <a:solidFill>
                  <a:srgbClr val="111111"/>
                </a:solidFill>
                <a:latin typeface="Arial" pitchFamily="34" charset="0"/>
                <a:ea typeface="Arial" pitchFamily="34" charset="-122"/>
                <a:cs typeface="Arial" pitchFamily="34" charset="-120"/>
              </a:rPr>
              <a:t>Could this treat someone differently because of who they are?</a:t>
            </a:r>
            <a:endParaRPr lang="en-US" sz="1350" dirty="0"/>
          </a:p>
        </p:txBody>
      </p:sp>
      <p:sp>
        <p:nvSpPr>
          <p:cNvPr id="11" name="Shape 8"/>
          <p:cNvSpPr/>
          <p:nvPr/>
        </p:nvSpPr>
        <p:spPr>
          <a:xfrm>
            <a:off x="4297680" y="2148840"/>
            <a:ext cx="3520440" cy="1920240"/>
          </a:xfrm>
          <a:prstGeom prst="rect">
            <a:avLst/>
          </a:prstGeom>
          <a:solidFill>
            <a:srgbClr val="F4F4F4"/>
          </a:solidFill>
          <a:ln w="12700">
            <a:solidFill>
              <a:srgbClr val="F4F4F4"/>
            </a:solidFill>
            <a:prstDash val="solid"/>
          </a:ln>
        </p:spPr>
      </p:sp>
      <p:sp>
        <p:nvSpPr>
          <p:cNvPr id="12" name="Shape 9"/>
          <p:cNvSpPr/>
          <p:nvPr/>
        </p:nvSpPr>
        <p:spPr>
          <a:xfrm>
            <a:off x="4526280" y="2377440"/>
            <a:ext cx="640080" cy="640080"/>
          </a:xfrm>
          <a:prstGeom prst="ellipse">
            <a:avLst/>
          </a:prstGeom>
          <a:solidFill>
            <a:srgbClr val="E4002B"/>
          </a:solidFill>
          <a:ln w="12700">
            <a:solidFill>
              <a:srgbClr val="E4002B"/>
            </a:solidFill>
            <a:prstDash val="solid"/>
          </a:ln>
        </p:spPr>
      </p:sp>
      <p:pic>
        <p:nvPicPr>
          <p:cNvPr id="13" name="Image 1" descr="preencoded.png">    </p:cNvPr>
          <p:cNvPicPr>
            <a:picLocks noChangeAspect="1"/>
          </p:cNvPicPr>
          <p:nvPr/>
        </p:nvPicPr>
        <p:blipFill>
          <a:blip r:embed="rId2"/>
          <a:stretch>
            <a:fillRect/>
          </a:stretch>
        </p:blipFill>
        <p:spPr>
          <a:xfrm>
            <a:off x="4686300" y="2537460"/>
            <a:ext cx="320040" cy="320040"/>
          </a:xfrm>
          <a:prstGeom prst="rect">
            <a:avLst/>
          </a:prstGeom>
        </p:spPr>
      </p:pic>
      <p:sp>
        <p:nvSpPr>
          <p:cNvPr id="14" name="Text 10"/>
          <p:cNvSpPr txBox="1"/>
          <p:nvPr/>
        </p:nvSpPr>
        <p:spPr>
          <a:xfrm>
            <a:off x="5303520" y="2423160"/>
            <a:ext cx="2377440" cy="54864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Reliability and safety</a:t>
            </a:r>
            <a:endParaRPr lang="en-US" sz="1700" dirty="0"/>
          </a:p>
        </p:txBody>
      </p:sp>
      <p:sp>
        <p:nvSpPr>
          <p:cNvPr id="15" name="Text 11"/>
          <p:cNvSpPr txBox="1"/>
          <p:nvPr/>
        </p:nvSpPr>
        <p:spPr>
          <a:xfrm>
            <a:off x="4526280" y="3108960"/>
            <a:ext cx="3108960" cy="365760"/>
          </a:xfrm>
          <a:prstGeom prst="rect">
            <a:avLst/>
          </a:prstGeom>
          <a:noFill/>
          <a:ln/>
        </p:spPr>
        <p:txBody>
          <a:bodyPr wrap="square" lIns="0" tIns="0" rIns="0" bIns="0" rtlCol="0" anchor="t"/>
          <a:lstStyle/>
          <a:p>
            <a:pPr indent="0" marL="0">
              <a:buNone/>
            </a:pPr>
            <a:r>
              <a:rPr lang="en-US" sz="1200" i="1" dirty="0">
                <a:solidFill>
                  <a:srgbClr val="6B6B6B"/>
                </a:solidFill>
                <a:latin typeface="Arial" pitchFamily="34" charset="0"/>
                <a:ea typeface="Arial" pitchFamily="34" charset="-122"/>
                <a:cs typeface="Arial" pitchFamily="34" charset="-120"/>
              </a:rPr>
              <a:t>AI systems should perform reliably and safely.</a:t>
            </a:r>
            <a:endParaRPr lang="en-US" sz="1200" dirty="0"/>
          </a:p>
        </p:txBody>
      </p:sp>
      <p:sp>
        <p:nvSpPr>
          <p:cNvPr id="16" name="Text 12"/>
          <p:cNvSpPr txBox="1"/>
          <p:nvPr/>
        </p:nvSpPr>
        <p:spPr>
          <a:xfrm>
            <a:off x="4526280" y="3474720"/>
            <a:ext cx="3108960" cy="548640"/>
          </a:xfrm>
          <a:prstGeom prst="rect">
            <a:avLst/>
          </a:prstGeom>
          <a:noFill/>
          <a:ln/>
        </p:spPr>
        <p:txBody>
          <a:bodyPr wrap="square" lIns="0" tIns="0" rIns="0" bIns="0" rtlCol="0" anchor="t"/>
          <a:lstStyle/>
          <a:p>
            <a:pPr indent="0" marL="0">
              <a:buNone/>
            </a:pPr>
            <a:r>
              <a:rPr lang="en-US" sz="1350" dirty="0">
                <a:solidFill>
                  <a:srgbClr val="111111"/>
                </a:solidFill>
                <a:latin typeface="Arial" pitchFamily="34" charset="0"/>
                <a:ea typeface="Arial" pitchFamily="34" charset="-122"/>
                <a:cs typeface="Arial" pitchFamily="34" charset="-120"/>
              </a:rPr>
              <a:t>What happens when it's wrong, and would we catch it?</a:t>
            </a:r>
            <a:endParaRPr lang="en-US" sz="1350" dirty="0"/>
          </a:p>
        </p:txBody>
      </p:sp>
      <p:sp>
        <p:nvSpPr>
          <p:cNvPr id="17" name="Shape 13"/>
          <p:cNvSpPr/>
          <p:nvPr/>
        </p:nvSpPr>
        <p:spPr>
          <a:xfrm>
            <a:off x="8046720" y="2148840"/>
            <a:ext cx="3520440" cy="1920240"/>
          </a:xfrm>
          <a:prstGeom prst="rect">
            <a:avLst/>
          </a:prstGeom>
          <a:solidFill>
            <a:srgbClr val="F4F4F4"/>
          </a:solidFill>
          <a:ln w="12700">
            <a:solidFill>
              <a:srgbClr val="F4F4F4"/>
            </a:solidFill>
            <a:prstDash val="solid"/>
          </a:ln>
        </p:spPr>
      </p:sp>
      <p:sp>
        <p:nvSpPr>
          <p:cNvPr id="18" name="Shape 14"/>
          <p:cNvSpPr/>
          <p:nvPr/>
        </p:nvSpPr>
        <p:spPr>
          <a:xfrm>
            <a:off x="8275320" y="2377440"/>
            <a:ext cx="640080" cy="640080"/>
          </a:xfrm>
          <a:prstGeom prst="ellipse">
            <a:avLst/>
          </a:prstGeom>
          <a:solidFill>
            <a:srgbClr val="E4002B"/>
          </a:solidFill>
          <a:ln w="12700">
            <a:solidFill>
              <a:srgbClr val="E4002B"/>
            </a:solidFill>
            <a:prstDash val="solid"/>
          </a:ln>
        </p:spPr>
      </p:sp>
      <p:pic>
        <p:nvPicPr>
          <p:cNvPr id="19" name="Image 2" descr="preencoded.png">    </p:cNvPr>
          <p:cNvPicPr>
            <a:picLocks noChangeAspect="1"/>
          </p:cNvPicPr>
          <p:nvPr/>
        </p:nvPicPr>
        <p:blipFill>
          <a:blip r:embed="rId3"/>
          <a:stretch>
            <a:fillRect/>
          </a:stretch>
        </p:blipFill>
        <p:spPr>
          <a:xfrm>
            <a:off x="8435340" y="2537460"/>
            <a:ext cx="320040" cy="320040"/>
          </a:xfrm>
          <a:prstGeom prst="rect">
            <a:avLst/>
          </a:prstGeom>
        </p:spPr>
      </p:pic>
      <p:sp>
        <p:nvSpPr>
          <p:cNvPr id="20" name="Text 15"/>
          <p:cNvSpPr txBox="1"/>
          <p:nvPr/>
        </p:nvSpPr>
        <p:spPr>
          <a:xfrm>
            <a:off x="9052560" y="2423160"/>
            <a:ext cx="2377440" cy="54864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Privacy and security</a:t>
            </a:r>
            <a:endParaRPr lang="en-US" sz="1700" dirty="0"/>
          </a:p>
        </p:txBody>
      </p:sp>
      <p:sp>
        <p:nvSpPr>
          <p:cNvPr id="21" name="Text 16"/>
          <p:cNvSpPr txBox="1"/>
          <p:nvPr/>
        </p:nvSpPr>
        <p:spPr>
          <a:xfrm>
            <a:off x="8275320" y="3108960"/>
            <a:ext cx="3108960" cy="365760"/>
          </a:xfrm>
          <a:prstGeom prst="rect">
            <a:avLst/>
          </a:prstGeom>
          <a:noFill/>
          <a:ln/>
        </p:spPr>
        <p:txBody>
          <a:bodyPr wrap="square" lIns="0" tIns="0" rIns="0" bIns="0" rtlCol="0" anchor="t"/>
          <a:lstStyle/>
          <a:p>
            <a:pPr indent="0" marL="0">
              <a:buNone/>
            </a:pPr>
            <a:r>
              <a:rPr lang="en-US" sz="1200" i="1" dirty="0">
                <a:solidFill>
                  <a:srgbClr val="6B6B6B"/>
                </a:solidFill>
                <a:latin typeface="Arial" pitchFamily="34" charset="0"/>
                <a:ea typeface="Arial" pitchFamily="34" charset="-122"/>
                <a:cs typeface="Arial" pitchFamily="34" charset="-120"/>
              </a:rPr>
              <a:t>AI systems should be secure and respect privacy.</a:t>
            </a:r>
            <a:endParaRPr lang="en-US" sz="1200" dirty="0"/>
          </a:p>
        </p:txBody>
      </p:sp>
      <p:sp>
        <p:nvSpPr>
          <p:cNvPr id="22" name="Text 17"/>
          <p:cNvSpPr txBox="1"/>
          <p:nvPr/>
        </p:nvSpPr>
        <p:spPr>
          <a:xfrm>
            <a:off x="8275320" y="3474720"/>
            <a:ext cx="3108960" cy="548640"/>
          </a:xfrm>
          <a:prstGeom prst="rect">
            <a:avLst/>
          </a:prstGeom>
          <a:noFill/>
          <a:ln/>
        </p:spPr>
        <p:txBody>
          <a:bodyPr wrap="square" lIns="0" tIns="0" rIns="0" bIns="0" rtlCol="0" anchor="t"/>
          <a:lstStyle/>
          <a:p>
            <a:pPr indent="0" marL="0">
              <a:buNone/>
            </a:pPr>
            <a:r>
              <a:rPr lang="en-US" sz="1350" dirty="0">
                <a:solidFill>
                  <a:srgbClr val="111111"/>
                </a:solidFill>
                <a:latin typeface="Arial" pitchFamily="34" charset="0"/>
                <a:ea typeface="Arial" pitchFamily="34" charset="-122"/>
                <a:cs typeface="Arial" pitchFamily="34" charset="-120"/>
              </a:rPr>
              <a:t>Is this data allowed in this tool, and is it shared only as needed?</a:t>
            </a:r>
            <a:endParaRPr lang="en-US" sz="1350" dirty="0"/>
          </a:p>
        </p:txBody>
      </p:sp>
      <p:sp>
        <p:nvSpPr>
          <p:cNvPr id="23" name="Shape 18"/>
          <p:cNvSpPr/>
          <p:nvPr/>
        </p:nvSpPr>
        <p:spPr>
          <a:xfrm>
            <a:off x="548640" y="4251960"/>
            <a:ext cx="3520440" cy="1920240"/>
          </a:xfrm>
          <a:prstGeom prst="rect">
            <a:avLst/>
          </a:prstGeom>
          <a:solidFill>
            <a:srgbClr val="F4F4F4"/>
          </a:solidFill>
          <a:ln w="12700">
            <a:solidFill>
              <a:srgbClr val="F4F4F4"/>
            </a:solidFill>
            <a:prstDash val="solid"/>
          </a:ln>
        </p:spPr>
      </p:sp>
      <p:sp>
        <p:nvSpPr>
          <p:cNvPr id="24" name="Shape 19"/>
          <p:cNvSpPr/>
          <p:nvPr/>
        </p:nvSpPr>
        <p:spPr>
          <a:xfrm>
            <a:off x="777240" y="4480560"/>
            <a:ext cx="640080" cy="640080"/>
          </a:xfrm>
          <a:prstGeom prst="ellipse">
            <a:avLst/>
          </a:prstGeom>
          <a:solidFill>
            <a:srgbClr val="E4002B"/>
          </a:solidFill>
          <a:ln w="12700">
            <a:solidFill>
              <a:srgbClr val="E4002B"/>
            </a:solidFill>
            <a:prstDash val="solid"/>
          </a:ln>
        </p:spPr>
      </p:sp>
      <p:pic>
        <p:nvPicPr>
          <p:cNvPr id="25" name="Image 3" descr="preencoded.png">    </p:cNvPr>
          <p:cNvPicPr>
            <a:picLocks noChangeAspect="1"/>
          </p:cNvPicPr>
          <p:nvPr/>
        </p:nvPicPr>
        <p:blipFill>
          <a:blip r:embed="rId4"/>
          <a:stretch>
            <a:fillRect/>
          </a:stretch>
        </p:blipFill>
        <p:spPr>
          <a:xfrm>
            <a:off x="937260" y="4640580"/>
            <a:ext cx="320040" cy="320040"/>
          </a:xfrm>
          <a:prstGeom prst="rect">
            <a:avLst/>
          </a:prstGeom>
        </p:spPr>
      </p:pic>
      <p:sp>
        <p:nvSpPr>
          <p:cNvPr id="26" name="Text 20"/>
          <p:cNvSpPr txBox="1"/>
          <p:nvPr/>
        </p:nvSpPr>
        <p:spPr>
          <a:xfrm>
            <a:off x="1554480" y="4526280"/>
            <a:ext cx="2377440" cy="54864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Inclusiveness</a:t>
            </a:r>
            <a:endParaRPr lang="en-US" sz="1700" dirty="0"/>
          </a:p>
        </p:txBody>
      </p:sp>
      <p:sp>
        <p:nvSpPr>
          <p:cNvPr id="27" name="Text 21"/>
          <p:cNvSpPr txBox="1"/>
          <p:nvPr/>
        </p:nvSpPr>
        <p:spPr>
          <a:xfrm>
            <a:off x="777240" y="5212080"/>
            <a:ext cx="3108960" cy="365760"/>
          </a:xfrm>
          <a:prstGeom prst="rect">
            <a:avLst/>
          </a:prstGeom>
          <a:noFill/>
          <a:ln/>
        </p:spPr>
        <p:txBody>
          <a:bodyPr wrap="square" lIns="0" tIns="0" rIns="0" bIns="0" rtlCol="0" anchor="t"/>
          <a:lstStyle/>
          <a:p>
            <a:pPr indent="0" marL="0">
              <a:buNone/>
            </a:pPr>
            <a:r>
              <a:rPr lang="en-US" sz="1200" i="1" dirty="0">
                <a:solidFill>
                  <a:srgbClr val="6B6B6B"/>
                </a:solidFill>
                <a:latin typeface="Arial" pitchFamily="34" charset="0"/>
                <a:ea typeface="Arial" pitchFamily="34" charset="-122"/>
                <a:cs typeface="Arial" pitchFamily="34" charset="-120"/>
              </a:rPr>
              <a:t>AI systems should empower everyone and engage all people.</a:t>
            </a:r>
            <a:endParaRPr lang="en-US" sz="1200" dirty="0"/>
          </a:p>
        </p:txBody>
      </p:sp>
      <p:sp>
        <p:nvSpPr>
          <p:cNvPr id="28" name="Text 22"/>
          <p:cNvSpPr txBox="1"/>
          <p:nvPr/>
        </p:nvSpPr>
        <p:spPr>
          <a:xfrm>
            <a:off x="777240" y="5577840"/>
            <a:ext cx="3108960" cy="548640"/>
          </a:xfrm>
          <a:prstGeom prst="rect">
            <a:avLst/>
          </a:prstGeom>
          <a:noFill/>
          <a:ln/>
        </p:spPr>
        <p:txBody>
          <a:bodyPr wrap="square" lIns="0" tIns="0" rIns="0" bIns="0" rtlCol="0" anchor="t"/>
          <a:lstStyle/>
          <a:p>
            <a:pPr indent="0" marL="0">
              <a:buNone/>
            </a:pPr>
            <a:r>
              <a:rPr lang="en-US" sz="1350" dirty="0">
                <a:solidFill>
                  <a:srgbClr val="111111"/>
                </a:solidFill>
                <a:latin typeface="Arial" pitchFamily="34" charset="0"/>
                <a:ea typeface="Arial" pitchFamily="34" charset="-122"/>
                <a:cs typeface="Arial" pitchFamily="34" charset="-120"/>
              </a:rPr>
              <a:t>Does it work for everyone who has to use it?</a:t>
            </a:r>
            <a:endParaRPr lang="en-US" sz="1350" dirty="0"/>
          </a:p>
        </p:txBody>
      </p:sp>
      <p:sp>
        <p:nvSpPr>
          <p:cNvPr id="29" name="Shape 23"/>
          <p:cNvSpPr/>
          <p:nvPr/>
        </p:nvSpPr>
        <p:spPr>
          <a:xfrm>
            <a:off x="4297680" y="4251960"/>
            <a:ext cx="3520440" cy="1920240"/>
          </a:xfrm>
          <a:prstGeom prst="rect">
            <a:avLst/>
          </a:prstGeom>
          <a:solidFill>
            <a:srgbClr val="F4F4F4"/>
          </a:solidFill>
          <a:ln w="12700">
            <a:solidFill>
              <a:srgbClr val="F4F4F4"/>
            </a:solidFill>
            <a:prstDash val="solid"/>
          </a:ln>
        </p:spPr>
      </p:sp>
      <p:sp>
        <p:nvSpPr>
          <p:cNvPr id="30" name="Shape 24"/>
          <p:cNvSpPr/>
          <p:nvPr/>
        </p:nvSpPr>
        <p:spPr>
          <a:xfrm>
            <a:off x="4526280" y="4480560"/>
            <a:ext cx="640080" cy="640080"/>
          </a:xfrm>
          <a:prstGeom prst="ellipse">
            <a:avLst/>
          </a:prstGeom>
          <a:solidFill>
            <a:srgbClr val="E4002B"/>
          </a:solidFill>
          <a:ln w="12700">
            <a:solidFill>
              <a:srgbClr val="E4002B"/>
            </a:solidFill>
            <a:prstDash val="solid"/>
          </a:ln>
        </p:spPr>
      </p:sp>
      <p:pic>
        <p:nvPicPr>
          <p:cNvPr id="31" name="Image 4" descr="preencoded.png">    </p:cNvPr>
          <p:cNvPicPr>
            <a:picLocks noChangeAspect="1"/>
          </p:cNvPicPr>
          <p:nvPr/>
        </p:nvPicPr>
        <p:blipFill>
          <a:blip r:embed="rId5"/>
          <a:stretch>
            <a:fillRect/>
          </a:stretch>
        </p:blipFill>
        <p:spPr>
          <a:xfrm>
            <a:off x="4686300" y="4640580"/>
            <a:ext cx="320040" cy="320040"/>
          </a:xfrm>
          <a:prstGeom prst="rect">
            <a:avLst/>
          </a:prstGeom>
        </p:spPr>
      </p:pic>
      <p:sp>
        <p:nvSpPr>
          <p:cNvPr id="32" name="Text 25"/>
          <p:cNvSpPr txBox="1"/>
          <p:nvPr/>
        </p:nvSpPr>
        <p:spPr>
          <a:xfrm>
            <a:off x="5303520" y="4526280"/>
            <a:ext cx="2377440" cy="54864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Transparency</a:t>
            </a:r>
            <a:endParaRPr lang="en-US" sz="1700" dirty="0"/>
          </a:p>
        </p:txBody>
      </p:sp>
      <p:sp>
        <p:nvSpPr>
          <p:cNvPr id="33" name="Text 26"/>
          <p:cNvSpPr txBox="1"/>
          <p:nvPr/>
        </p:nvSpPr>
        <p:spPr>
          <a:xfrm>
            <a:off x="4526280" y="5212080"/>
            <a:ext cx="3108960" cy="365760"/>
          </a:xfrm>
          <a:prstGeom prst="rect">
            <a:avLst/>
          </a:prstGeom>
          <a:noFill/>
          <a:ln/>
        </p:spPr>
        <p:txBody>
          <a:bodyPr wrap="square" lIns="0" tIns="0" rIns="0" bIns="0" rtlCol="0" anchor="t"/>
          <a:lstStyle/>
          <a:p>
            <a:pPr indent="0" marL="0">
              <a:buNone/>
            </a:pPr>
            <a:r>
              <a:rPr lang="en-US" sz="1200" i="1" dirty="0">
                <a:solidFill>
                  <a:srgbClr val="6B6B6B"/>
                </a:solidFill>
                <a:latin typeface="Arial" pitchFamily="34" charset="0"/>
                <a:ea typeface="Arial" pitchFamily="34" charset="-122"/>
                <a:cs typeface="Arial" pitchFamily="34" charset="-120"/>
              </a:rPr>
              <a:t>AI systems should be understandable.</a:t>
            </a:r>
            <a:endParaRPr lang="en-US" sz="1200" dirty="0"/>
          </a:p>
        </p:txBody>
      </p:sp>
      <p:sp>
        <p:nvSpPr>
          <p:cNvPr id="34" name="Text 27"/>
          <p:cNvSpPr txBox="1"/>
          <p:nvPr/>
        </p:nvSpPr>
        <p:spPr>
          <a:xfrm>
            <a:off x="4526280" y="5577840"/>
            <a:ext cx="3108960" cy="548640"/>
          </a:xfrm>
          <a:prstGeom prst="rect">
            <a:avLst/>
          </a:prstGeom>
          <a:noFill/>
          <a:ln/>
        </p:spPr>
        <p:txBody>
          <a:bodyPr wrap="square" lIns="0" tIns="0" rIns="0" bIns="0" rtlCol="0" anchor="t"/>
          <a:lstStyle/>
          <a:p>
            <a:pPr indent="0" marL="0">
              <a:buNone/>
            </a:pPr>
            <a:r>
              <a:rPr lang="en-US" sz="1350" dirty="0">
                <a:solidFill>
                  <a:srgbClr val="111111"/>
                </a:solidFill>
                <a:latin typeface="Arial" pitchFamily="34" charset="0"/>
                <a:ea typeface="Arial" pitchFamily="34" charset="-122"/>
                <a:cs typeface="Arial" pitchFamily="34" charset="-120"/>
              </a:rPr>
              <a:t>Do people know AI was involved, and what it can't do?</a:t>
            </a:r>
            <a:endParaRPr lang="en-US" sz="1350" dirty="0"/>
          </a:p>
        </p:txBody>
      </p:sp>
      <p:sp>
        <p:nvSpPr>
          <p:cNvPr id="35" name="Shape 28"/>
          <p:cNvSpPr/>
          <p:nvPr/>
        </p:nvSpPr>
        <p:spPr>
          <a:xfrm>
            <a:off x="8046720" y="4251960"/>
            <a:ext cx="3520440" cy="1920240"/>
          </a:xfrm>
          <a:prstGeom prst="rect">
            <a:avLst/>
          </a:prstGeom>
          <a:solidFill>
            <a:srgbClr val="F4F4F4"/>
          </a:solidFill>
          <a:ln w="12700">
            <a:solidFill>
              <a:srgbClr val="F4F4F4"/>
            </a:solidFill>
            <a:prstDash val="solid"/>
          </a:ln>
        </p:spPr>
      </p:sp>
      <p:sp>
        <p:nvSpPr>
          <p:cNvPr id="36" name="Shape 29"/>
          <p:cNvSpPr/>
          <p:nvPr/>
        </p:nvSpPr>
        <p:spPr>
          <a:xfrm>
            <a:off x="8275320" y="4480560"/>
            <a:ext cx="640080" cy="640080"/>
          </a:xfrm>
          <a:prstGeom prst="ellipse">
            <a:avLst/>
          </a:prstGeom>
          <a:solidFill>
            <a:srgbClr val="E4002B"/>
          </a:solidFill>
          <a:ln w="12700">
            <a:solidFill>
              <a:srgbClr val="E4002B"/>
            </a:solidFill>
            <a:prstDash val="solid"/>
          </a:ln>
        </p:spPr>
      </p:sp>
      <p:pic>
        <p:nvPicPr>
          <p:cNvPr id="37" name="Image 5" descr="preencoded.png">    </p:cNvPr>
          <p:cNvPicPr>
            <a:picLocks noChangeAspect="1"/>
          </p:cNvPicPr>
          <p:nvPr/>
        </p:nvPicPr>
        <p:blipFill>
          <a:blip r:embed="rId6"/>
          <a:stretch>
            <a:fillRect/>
          </a:stretch>
        </p:blipFill>
        <p:spPr>
          <a:xfrm>
            <a:off x="8435340" y="4640580"/>
            <a:ext cx="320040" cy="320040"/>
          </a:xfrm>
          <a:prstGeom prst="rect">
            <a:avLst/>
          </a:prstGeom>
        </p:spPr>
      </p:pic>
      <p:sp>
        <p:nvSpPr>
          <p:cNvPr id="38" name="Text 30"/>
          <p:cNvSpPr txBox="1"/>
          <p:nvPr/>
        </p:nvSpPr>
        <p:spPr>
          <a:xfrm>
            <a:off x="9052560" y="4526280"/>
            <a:ext cx="2377440" cy="54864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Accountability</a:t>
            </a:r>
            <a:endParaRPr lang="en-US" sz="1700" dirty="0"/>
          </a:p>
        </p:txBody>
      </p:sp>
      <p:sp>
        <p:nvSpPr>
          <p:cNvPr id="39" name="Text 31"/>
          <p:cNvSpPr txBox="1"/>
          <p:nvPr/>
        </p:nvSpPr>
        <p:spPr>
          <a:xfrm>
            <a:off x="8275320" y="5212080"/>
            <a:ext cx="3108960" cy="365760"/>
          </a:xfrm>
          <a:prstGeom prst="rect">
            <a:avLst/>
          </a:prstGeom>
          <a:noFill/>
          <a:ln/>
        </p:spPr>
        <p:txBody>
          <a:bodyPr wrap="square" lIns="0" tIns="0" rIns="0" bIns="0" rtlCol="0" anchor="t"/>
          <a:lstStyle/>
          <a:p>
            <a:pPr indent="0" marL="0">
              <a:buNone/>
            </a:pPr>
            <a:r>
              <a:rPr lang="en-US" sz="1200" i="1" dirty="0">
                <a:solidFill>
                  <a:srgbClr val="6B6B6B"/>
                </a:solidFill>
                <a:latin typeface="Arial" pitchFamily="34" charset="0"/>
                <a:ea typeface="Arial" pitchFamily="34" charset="-122"/>
                <a:cs typeface="Arial" pitchFamily="34" charset="-120"/>
              </a:rPr>
              <a:t>People should be accountable for AI systems.</a:t>
            </a:r>
            <a:endParaRPr lang="en-US" sz="1200" dirty="0"/>
          </a:p>
        </p:txBody>
      </p:sp>
      <p:sp>
        <p:nvSpPr>
          <p:cNvPr id="40" name="Text 32"/>
          <p:cNvSpPr txBox="1"/>
          <p:nvPr/>
        </p:nvSpPr>
        <p:spPr>
          <a:xfrm>
            <a:off x="8275320" y="5577840"/>
            <a:ext cx="3108960" cy="548640"/>
          </a:xfrm>
          <a:prstGeom prst="rect">
            <a:avLst/>
          </a:prstGeom>
          <a:noFill/>
          <a:ln/>
        </p:spPr>
        <p:txBody>
          <a:bodyPr wrap="square" lIns="0" tIns="0" rIns="0" bIns="0" rtlCol="0" anchor="t"/>
          <a:lstStyle/>
          <a:p>
            <a:pPr indent="0" marL="0">
              <a:buNone/>
            </a:pPr>
            <a:r>
              <a:rPr lang="en-US" sz="1350" dirty="0">
                <a:solidFill>
                  <a:srgbClr val="111111"/>
                </a:solidFill>
                <a:latin typeface="Arial" pitchFamily="34" charset="0"/>
                <a:ea typeface="Arial" pitchFamily="34" charset="-122"/>
                <a:cs typeface="Arial" pitchFamily="34" charset="-120"/>
              </a:rPr>
              <a:t>Who owns this, and who answers for it?</a:t>
            </a:r>
            <a:endParaRPr lang="en-US" sz="1350" dirty="0"/>
          </a:p>
        </p:txBody>
      </p:sp>
      <p:sp>
        <p:nvSpPr>
          <p:cNvPr id="41" name="Text 33"/>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42" name="Text 3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E4002B"/>
          </a:solidFill>
          <a:ln w="12700">
            <a:solidFill>
              <a:srgbClr val="E4002B"/>
            </a:solidFill>
            <a:prstDash val="solid"/>
          </a:ln>
        </p:spPr>
      </p:sp>
      <p:sp>
        <p:nvSpPr>
          <p:cNvPr id="3" name="Shape 1"/>
          <p:cNvSpPr/>
          <p:nvPr/>
        </p:nvSpPr>
        <p:spPr>
          <a:xfrm>
            <a:off x="548640" y="822960"/>
            <a:ext cx="1188720" cy="118872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22960" y="1097280"/>
            <a:ext cx="640080" cy="640080"/>
          </a:xfrm>
          <a:prstGeom prst="rect">
            <a:avLst/>
          </a:prstGeom>
        </p:spPr>
      </p:pic>
      <p:sp>
        <p:nvSpPr>
          <p:cNvPr id="5" name="Text 2"/>
          <p:cNvSpPr txBox="1"/>
          <p:nvPr/>
        </p:nvSpPr>
        <p:spPr>
          <a:xfrm>
            <a:off x="548640" y="2331720"/>
            <a:ext cx="3108960" cy="274320"/>
          </a:xfrm>
          <a:prstGeom prst="rect">
            <a:avLst/>
          </a:prstGeom>
          <a:noFill/>
          <a:ln/>
        </p:spPr>
        <p:txBody>
          <a:bodyPr wrap="square" lIns="0" tIns="0" rIns="0" bIns="0" rtlCol="0" anchor="t"/>
          <a:lstStyle/>
          <a:p>
            <a:pPr indent="0" marL="0">
              <a:buNone/>
            </a:pPr>
            <a:r>
              <a:rPr lang="en-US" sz="1200" b="1" spc="200" kern="0" dirty="0">
                <a:solidFill>
                  <a:srgbClr val="FFE3E8"/>
                </a:solidFill>
                <a:latin typeface="Arial" pitchFamily="34" charset="0"/>
                <a:ea typeface="Arial" pitchFamily="34" charset="-122"/>
                <a:cs typeface="Arial" pitchFamily="34" charset="-120"/>
              </a:rPr>
              <a:t>PRINCIPLE 1 OF 6</a:t>
            </a:r>
            <a:endParaRPr lang="en-US" sz="1200" dirty="0"/>
          </a:p>
        </p:txBody>
      </p:sp>
      <p:sp>
        <p:nvSpPr>
          <p:cNvPr id="6" name="Text 3"/>
          <p:cNvSpPr txBox="1"/>
          <p:nvPr/>
        </p:nvSpPr>
        <p:spPr>
          <a:xfrm>
            <a:off x="548640" y="2651760"/>
            <a:ext cx="3108960" cy="11887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Fairness</a:t>
            </a:r>
            <a:endParaRPr lang="en-US" sz="3200" dirty="0"/>
          </a:p>
        </p:txBody>
      </p:sp>
      <p:sp>
        <p:nvSpPr>
          <p:cNvPr id="7" name="Text 4"/>
          <p:cNvSpPr txBox="1"/>
          <p:nvPr/>
        </p:nvSpPr>
        <p:spPr>
          <a:xfrm>
            <a:off x="548640" y="3977640"/>
            <a:ext cx="3017520" cy="914400"/>
          </a:xfrm>
          <a:prstGeom prst="rect">
            <a:avLst/>
          </a:prstGeom>
          <a:noFill/>
          <a:ln/>
        </p:spPr>
        <p:txBody>
          <a:bodyPr wrap="square" lIns="0" tIns="0" rIns="0" bIns="0" rtlCol="0" anchor="t"/>
          <a:lstStyle/>
          <a:p>
            <a:pPr indent="0" marL="0">
              <a:buNone/>
            </a:pPr>
            <a:r>
              <a:rPr lang="en-US" sz="1500" i="1" dirty="0">
                <a:solidFill>
                  <a:srgbClr val="FFFFFF"/>
                </a:solidFill>
                <a:latin typeface="Arial" pitchFamily="34" charset="0"/>
                <a:ea typeface="Arial" pitchFamily="34" charset="-122"/>
                <a:cs typeface="Arial" pitchFamily="34" charset="-120"/>
              </a:rPr>
              <a:t>“AI systems should treat all people fairly.”</a:t>
            </a:r>
            <a:endParaRPr lang="en-US" sz="1500" dirty="0"/>
          </a:p>
        </p:txBody>
      </p:sp>
      <p:sp>
        <p:nvSpPr>
          <p:cNvPr id="8" name="Text 5"/>
          <p:cNvSpPr txBox="1"/>
          <p:nvPr/>
        </p:nvSpPr>
        <p:spPr>
          <a:xfrm>
            <a:off x="548640" y="4937760"/>
            <a:ext cx="3017520" cy="274320"/>
          </a:xfrm>
          <a:prstGeom prst="rect">
            <a:avLst/>
          </a:prstGeom>
          <a:noFill/>
          <a:ln/>
        </p:spPr>
        <p:txBody>
          <a:bodyPr wrap="square" lIns="0" tIns="0" rIns="0" bIns="0" rtlCol="0" anchor="t"/>
          <a:lstStyle/>
          <a:p>
            <a:pPr indent="0" marL="0">
              <a:buNone/>
            </a:pPr>
            <a:r>
              <a:rPr lang="en-US" sz="1100" dirty="0">
                <a:solidFill>
                  <a:srgbClr val="FFE3E8"/>
                </a:solidFill>
                <a:latin typeface="Arial" pitchFamily="34" charset="0"/>
                <a:ea typeface="Arial" pitchFamily="34" charset="-122"/>
                <a:cs typeface="Arial" pitchFamily="34" charset="-120"/>
              </a:rPr>
              <a:t>Microsoft Responsible AI Standard</a:t>
            </a:r>
            <a:endParaRPr lang="en-US" sz="1100" dirty="0"/>
          </a:p>
        </p:txBody>
      </p:sp>
      <p:sp>
        <p:nvSpPr>
          <p:cNvPr id="9" name="Text 6"/>
          <p:cNvSpPr txBox="1"/>
          <p:nvPr/>
        </p:nvSpPr>
        <p:spPr>
          <a:xfrm>
            <a:off x="4480560" y="640080"/>
            <a:ext cx="7132320" cy="73152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The question: Could this treat someone differently because of who they are?</a:t>
            </a:r>
            <a:endParaRPr lang="en-US" sz="2000" dirty="0"/>
          </a:p>
        </p:txBody>
      </p:sp>
      <p:sp>
        <p:nvSpPr>
          <p:cNvPr id="10" name="Text 7"/>
          <p:cNvSpPr txBox="1"/>
          <p:nvPr/>
        </p:nvSpPr>
        <p:spPr>
          <a:xfrm>
            <a:off x="44805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YOUR DAY-TO-DAY WORK</a:t>
            </a:r>
            <a:endParaRPr lang="en-US" sz="1200" dirty="0"/>
          </a:p>
        </p:txBody>
      </p:sp>
      <p:sp>
        <p:nvSpPr>
          <p:cNvPr id="11" name="Text 8"/>
          <p:cNvSpPr txBox="1"/>
          <p:nvPr/>
        </p:nvSpPr>
        <p:spPr>
          <a:xfrm>
            <a:off x="4480560" y="1965960"/>
            <a:ext cx="338328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Don't use AI to rank, screen or judge people.</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Watch for AI copying biased language from old material.</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If an output treats groups differently, flag it.</a:t>
            </a:r>
            <a:endParaRPr lang="en-US" sz="1400" dirty="0"/>
          </a:p>
        </p:txBody>
      </p:sp>
      <p:sp>
        <p:nvSpPr>
          <p:cNvPr id="12" name="Text 9"/>
          <p:cNvSpPr txBox="1"/>
          <p:nvPr/>
        </p:nvSpPr>
        <p:spPr>
          <a:xfrm>
            <a:off x="81381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AI PROJECTS</a:t>
            </a:r>
            <a:endParaRPr lang="en-US" sz="1200" dirty="0"/>
          </a:p>
        </p:txBody>
      </p:sp>
      <p:sp>
        <p:nvSpPr>
          <p:cNvPr id="13" name="Text 10"/>
          <p:cNvSpPr txBox="1"/>
          <p:nvPr/>
        </p:nvSpPr>
        <p:spPr>
          <a:xfrm>
            <a:off x="8138160" y="1965960"/>
            <a:ext cx="347472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Is it a sensitive use: jobs, pay, credit, access to services?</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Test outputs across different customer and employee groups.</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A person makes every decision about people.</a:t>
            </a:r>
            <a:endParaRPr lang="en-US" sz="1400" dirty="0"/>
          </a:p>
        </p:txBody>
      </p:sp>
      <p:sp>
        <p:nvSpPr>
          <p:cNvPr id="14" name="Shape 11"/>
          <p:cNvSpPr/>
          <p:nvPr/>
        </p:nvSpPr>
        <p:spPr>
          <a:xfrm>
            <a:off x="4480560" y="4572000"/>
            <a:ext cx="7159752" cy="1463040"/>
          </a:xfrm>
          <a:prstGeom prst="rect">
            <a:avLst/>
          </a:prstGeom>
          <a:solidFill>
            <a:srgbClr val="F4F4F4"/>
          </a:solidFill>
          <a:ln w="12700">
            <a:solidFill>
              <a:srgbClr val="F4F4F4"/>
            </a:solidFill>
            <a:prstDash val="solid"/>
          </a:ln>
        </p:spPr>
      </p:sp>
      <p:sp>
        <p:nvSpPr>
          <p:cNvPr id="15" name="Text 12"/>
          <p:cNvSpPr txBox="1"/>
          <p:nvPr/>
        </p:nvSpPr>
        <p:spPr>
          <a:xfrm>
            <a:off x="4709160" y="4736592"/>
            <a:ext cx="1828800" cy="274320"/>
          </a:xfrm>
          <a:prstGeom prst="rect">
            <a:avLst/>
          </a:prstGeom>
          <a:noFill/>
          <a:ln/>
        </p:spPr>
        <p:txBody>
          <a:bodyPr wrap="square" lIns="0" tIns="0" rIns="0" bIns="0" rtlCol="0" anchor="t"/>
          <a:lstStyle/>
          <a:p>
            <a:pPr indent="0" marL="0">
              <a:buNone/>
            </a:pPr>
            <a:r>
              <a:rPr lang="en-US" sz="1100" b="1" spc="200" kern="0" dirty="0">
                <a:solidFill>
                  <a:srgbClr val="6B6B6B"/>
                </a:solidFill>
                <a:latin typeface="Arial" pitchFamily="34" charset="0"/>
                <a:ea typeface="Arial" pitchFamily="34" charset="-122"/>
                <a:cs typeface="Arial" pitchFamily="34" charset="-120"/>
              </a:rPr>
              <a:t>EXAMPLE</a:t>
            </a:r>
            <a:endParaRPr lang="en-US" sz="1100" dirty="0"/>
          </a:p>
        </p:txBody>
      </p:sp>
      <p:sp>
        <p:nvSpPr>
          <p:cNvPr id="16" name="Text 13"/>
          <p:cNvSpPr txBox="1"/>
          <p:nvPr/>
        </p:nvSpPr>
        <p:spPr>
          <a:xfrm>
            <a:off x="4709160" y="5029200"/>
            <a:ext cx="6720840" cy="914400"/>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Using AI to shortlist job applicants is a sensitive use and needs a Tier 3 review. Using it to tidy your own interview notes is fine.</a:t>
            </a:r>
            <a:endParaRPr lang="en-US" sz="1500" dirty="0"/>
          </a:p>
        </p:txBody>
      </p:sp>
      <p:sp>
        <p:nvSpPr>
          <p:cNvPr id="17" name="Text 14"/>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18" name="Text 15"/>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E4002B"/>
          </a:solidFill>
          <a:ln w="12700">
            <a:solidFill>
              <a:srgbClr val="E4002B"/>
            </a:solidFill>
            <a:prstDash val="solid"/>
          </a:ln>
        </p:spPr>
      </p:sp>
      <p:sp>
        <p:nvSpPr>
          <p:cNvPr id="3" name="Shape 1"/>
          <p:cNvSpPr/>
          <p:nvPr/>
        </p:nvSpPr>
        <p:spPr>
          <a:xfrm>
            <a:off x="548640" y="822960"/>
            <a:ext cx="1188720" cy="118872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22960" y="1097280"/>
            <a:ext cx="640080" cy="640080"/>
          </a:xfrm>
          <a:prstGeom prst="rect">
            <a:avLst/>
          </a:prstGeom>
        </p:spPr>
      </p:pic>
      <p:sp>
        <p:nvSpPr>
          <p:cNvPr id="5" name="Text 2"/>
          <p:cNvSpPr txBox="1"/>
          <p:nvPr/>
        </p:nvSpPr>
        <p:spPr>
          <a:xfrm>
            <a:off x="548640" y="2331720"/>
            <a:ext cx="3108960" cy="274320"/>
          </a:xfrm>
          <a:prstGeom prst="rect">
            <a:avLst/>
          </a:prstGeom>
          <a:noFill/>
          <a:ln/>
        </p:spPr>
        <p:txBody>
          <a:bodyPr wrap="square" lIns="0" tIns="0" rIns="0" bIns="0" rtlCol="0" anchor="t"/>
          <a:lstStyle/>
          <a:p>
            <a:pPr indent="0" marL="0">
              <a:buNone/>
            </a:pPr>
            <a:r>
              <a:rPr lang="en-US" sz="1200" b="1" spc="200" kern="0" dirty="0">
                <a:solidFill>
                  <a:srgbClr val="FFE3E8"/>
                </a:solidFill>
                <a:latin typeface="Arial" pitchFamily="34" charset="0"/>
                <a:ea typeface="Arial" pitchFamily="34" charset="-122"/>
                <a:cs typeface="Arial" pitchFamily="34" charset="-120"/>
              </a:rPr>
              <a:t>PRINCIPLE 2 OF 6</a:t>
            </a:r>
            <a:endParaRPr lang="en-US" sz="1200" dirty="0"/>
          </a:p>
        </p:txBody>
      </p:sp>
      <p:sp>
        <p:nvSpPr>
          <p:cNvPr id="6" name="Text 3"/>
          <p:cNvSpPr txBox="1"/>
          <p:nvPr/>
        </p:nvSpPr>
        <p:spPr>
          <a:xfrm>
            <a:off x="548640" y="2651760"/>
            <a:ext cx="3108960" cy="11887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Reliability and safety</a:t>
            </a:r>
            <a:endParaRPr lang="en-US" sz="3200" dirty="0"/>
          </a:p>
        </p:txBody>
      </p:sp>
      <p:sp>
        <p:nvSpPr>
          <p:cNvPr id="7" name="Text 4"/>
          <p:cNvSpPr txBox="1"/>
          <p:nvPr/>
        </p:nvSpPr>
        <p:spPr>
          <a:xfrm>
            <a:off x="548640" y="3977640"/>
            <a:ext cx="3017520" cy="914400"/>
          </a:xfrm>
          <a:prstGeom prst="rect">
            <a:avLst/>
          </a:prstGeom>
          <a:noFill/>
          <a:ln/>
        </p:spPr>
        <p:txBody>
          <a:bodyPr wrap="square" lIns="0" tIns="0" rIns="0" bIns="0" rtlCol="0" anchor="t"/>
          <a:lstStyle/>
          <a:p>
            <a:pPr indent="0" marL="0">
              <a:buNone/>
            </a:pPr>
            <a:r>
              <a:rPr lang="en-US" sz="1500" i="1" dirty="0">
                <a:solidFill>
                  <a:srgbClr val="FFFFFF"/>
                </a:solidFill>
                <a:latin typeface="Arial" pitchFamily="34" charset="0"/>
                <a:ea typeface="Arial" pitchFamily="34" charset="-122"/>
                <a:cs typeface="Arial" pitchFamily="34" charset="-120"/>
              </a:rPr>
              <a:t>“AI systems should perform reliably and safely.”</a:t>
            </a:r>
            <a:endParaRPr lang="en-US" sz="1500" dirty="0"/>
          </a:p>
        </p:txBody>
      </p:sp>
      <p:sp>
        <p:nvSpPr>
          <p:cNvPr id="8" name="Text 5"/>
          <p:cNvSpPr txBox="1"/>
          <p:nvPr/>
        </p:nvSpPr>
        <p:spPr>
          <a:xfrm>
            <a:off x="548640" y="4937760"/>
            <a:ext cx="3017520" cy="274320"/>
          </a:xfrm>
          <a:prstGeom prst="rect">
            <a:avLst/>
          </a:prstGeom>
          <a:noFill/>
          <a:ln/>
        </p:spPr>
        <p:txBody>
          <a:bodyPr wrap="square" lIns="0" tIns="0" rIns="0" bIns="0" rtlCol="0" anchor="t"/>
          <a:lstStyle/>
          <a:p>
            <a:pPr indent="0" marL="0">
              <a:buNone/>
            </a:pPr>
            <a:r>
              <a:rPr lang="en-US" sz="1100" dirty="0">
                <a:solidFill>
                  <a:srgbClr val="FFE3E8"/>
                </a:solidFill>
                <a:latin typeface="Arial" pitchFamily="34" charset="0"/>
                <a:ea typeface="Arial" pitchFamily="34" charset="-122"/>
                <a:cs typeface="Arial" pitchFamily="34" charset="-120"/>
              </a:rPr>
              <a:t>Microsoft Responsible AI Standard</a:t>
            </a:r>
            <a:endParaRPr lang="en-US" sz="1100" dirty="0"/>
          </a:p>
        </p:txBody>
      </p:sp>
      <p:sp>
        <p:nvSpPr>
          <p:cNvPr id="9" name="Text 6"/>
          <p:cNvSpPr txBox="1"/>
          <p:nvPr/>
        </p:nvSpPr>
        <p:spPr>
          <a:xfrm>
            <a:off x="4480560" y="640080"/>
            <a:ext cx="7132320" cy="73152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The question: What happens when it's wrong, and would we catch it?</a:t>
            </a:r>
            <a:endParaRPr lang="en-US" sz="2000" dirty="0"/>
          </a:p>
        </p:txBody>
      </p:sp>
      <p:sp>
        <p:nvSpPr>
          <p:cNvPr id="10" name="Text 7"/>
          <p:cNvSpPr txBox="1"/>
          <p:nvPr/>
        </p:nvSpPr>
        <p:spPr>
          <a:xfrm>
            <a:off x="44805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YOUR DAY-TO-DAY WORK</a:t>
            </a:r>
            <a:endParaRPr lang="en-US" sz="1200" dirty="0"/>
          </a:p>
        </p:txBody>
      </p:sp>
      <p:sp>
        <p:nvSpPr>
          <p:cNvPr id="11" name="Text 8"/>
          <p:cNvSpPr txBox="1"/>
          <p:nvPr/>
        </p:nvSpPr>
        <p:spPr>
          <a:xfrm>
            <a:off x="4480560" y="1965960"/>
            <a:ext cx="338328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Check numbers, names and dates against the source.</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Don't rely on AI for anything you can't check.</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Use Excel or a report for exact figures.</a:t>
            </a:r>
            <a:endParaRPr lang="en-US" sz="1400" dirty="0"/>
          </a:p>
        </p:txBody>
      </p:sp>
      <p:sp>
        <p:nvSpPr>
          <p:cNvPr id="12" name="Text 9"/>
          <p:cNvSpPr txBox="1"/>
          <p:nvPr/>
        </p:nvSpPr>
        <p:spPr>
          <a:xfrm>
            <a:off x="81381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AI PROJECTS</a:t>
            </a:r>
            <a:endParaRPr lang="en-US" sz="1200" dirty="0"/>
          </a:p>
        </p:txBody>
      </p:sp>
      <p:sp>
        <p:nvSpPr>
          <p:cNvPr id="13" name="Text 10"/>
          <p:cNvSpPr txBox="1"/>
          <p:nvPr/>
        </p:nvSpPr>
        <p:spPr>
          <a:xfrm>
            <a:off x="8138160" y="1965960"/>
            <a:ext cx="347472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Test on real past examples before launch.</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Set the pass mark before the pilot starts.</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Monitor it once it's live, and have a way to switch it off.</a:t>
            </a:r>
            <a:endParaRPr lang="en-US" sz="1400" dirty="0"/>
          </a:p>
        </p:txBody>
      </p:sp>
      <p:sp>
        <p:nvSpPr>
          <p:cNvPr id="14" name="Shape 11"/>
          <p:cNvSpPr/>
          <p:nvPr/>
        </p:nvSpPr>
        <p:spPr>
          <a:xfrm>
            <a:off x="4480560" y="4572000"/>
            <a:ext cx="7159752" cy="1463040"/>
          </a:xfrm>
          <a:prstGeom prst="rect">
            <a:avLst/>
          </a:prstGeom>
          <a:solidFill>
            <a:srgbClr val="F4F4F4"/>
          </a:solidFill>
          <a:ln w="12700">
            <a:solidFill>
              <a:srgbClr val="F4F4F4"/>
            </a:solidFill>
            <a:prstDash val="solid"/>
          </a:ln>
        </p:spPr>
      </p:sp>
      <p:sp>
        <p:nvSpPr>
          <p:cNvPr id="15" name="Text 12"/>
          <p:cNvSpPr txBox="1"/>
          <p:nvPr/>
        </p:nvSpPr>
        <p:spPr>
          <a:xfrm>
            <a:off x="4709160" y="4736592"/>
            <a:ext cx="1828800" cy="274320"/>
          </a:xfrm>
          <a:prstGeom prst="rect">
            <a:avLst/>
          </a:prstGeom>
          <a:noFill/>
          <a:ln/>
        </p:spPr>
        <p:txBody>
          <a:bodyPr wrap="square" lIns="0" tIns="0" rIns="0" bIns="0" rtlCol="0" anchor="t"/>
          <a:lstStyle/>
          <a:p>
            <a:pPr indent="0" marL="0">
              <a:buNone/>
            </a:pPr>
            <a:r>
              <a:rPr lang="en-US" sz="1100" b="1" spc="200" kern="0" dirty="0">
                <a:solidFill>
                  <a:srgbClr val="6B6B6B"/>
                </a:solidFill>
                <a:latin typeface="Arial" pitchFamily="34" charset="0"/>
                <a:ea typeface="Arial" pitchFamily="34" charset="-122"/>
                <a:cs typeface="Arial" pitchFamily="34" charset="-120"/>
              </a:rPr>
              <a:t>EXAMPLE</a:t>
            </a:r>
            <a:endParaRPr lang="en-US" sz="1100" dirty="0"/>
          </a:p>
        </p:txBody>
      </p:sp>
      <p:sp>
        <p:nvSpPr>
          <p:cNvPr id="16" name="Text 13"/>
          <p:cNvSpPr txBox="1"/>
          <p:nvPr/>
        </p:nvSpPr>
        <p:spPr>
          <a:xfrm>
            <a:off x="4709160" y="5029200"/>
            <a:ext cx="6720840" cy="914400"/>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A support drafting pilot was tested on 50 past tickets, with a pass mark written down before it started, and a feature flag to turn it off in minutes.</a:t>
            </a:r>
            <a:endParaRPr lang="en-US" sz="1500" dirty="0"/>
          </a:p>
        </p:txBody>
      </p:sp>
      <p:sp>
        <p:nvSpPr>
          <p:cNvPr id="17" name="Text 14"/>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18" name="Text 15"/>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E4002B"/>
          </a:solidFill>
          <a:ln w="12700">
            <a:solidFill>
              <a:srgbClr val="E4002B"/>
            </a:solidFill>
            <a:prstDash val="solid"/>
          </a:ln>
        </p:spPr>
      </p:sp>
      <p:sp>
        <p:nvSpPr>
          <p:cNvPr id="3" name="Shape 1"/>
          <p:cNvSpPr/>
          <p:nvPr/>
        </p:nvSpPr>
        <p:spPr>
          <a:xfrm>
            <a:off x="548640" y="822960"/>
            <a:ext cx="1188720" cy="118872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22960" y="1097280"/>
            <a:ext cx="640080" cy="640080"/>
          </a:xfrm>
          <a:prstGeom prst="rect">
            <a:avLst/>
          </a:prstGeom>
        </p:spPr>
      </p:pic>
      <p:sp>
        <p:nvSpPr>
          <p:cNvPr id="5" name="Text 2"/>
          <p:cNvSpPr txBox="1"/>
          <p:nvPr/>
        </p:nvSpPr>
        <p:spPr>
          <a:xfrm>
            <a:off x="548640" y="2331720"/>
            <a:ext cx="3108960" cy="274320"/>
          </a:xfrm>
          <a:prstGeom prst="rect">
            <a:avLst/>
          </a:prstGeom>
          <a:noFill/>
          <a:ln/>
        </p:spPr>
        <p:txBody>
          <a:bodyPr wrap="square" lIns="0" tIns="0" rIns="0" bIns="0" rtlCol="0" anchor="t"/>
          <a:lstStyle/>
          <a:p>
            <a:pPr indent="0" marL="0">
              <a:buNone/>
            </a:pPr>
            <a:r>
              <a:rPr lang="en-US" sz="1200" b="1" spc="200" kern="0" dirty="0">
                <a:solidFill>
                  <a:srgbClr val="FFE3E8"/>
                </a:solidFill>
                <a:latin typeface="Arial" pitchFamily="34" charset="0"/>
                <a:ea typeface="Arial" pitchFamily="34" charset="-122"/>
                <a:cs typeface="Arial" pitchFamily="34" charset="-120"/>
              </a:rPr>
              <a:t>PRINCIPLE 3 OF 6</a:t>
            </a:r>
            <a:endParaRPr lang="en-US" sz="1200" dirty="0"/>
          </a:p>
        </p:txBody>
      </p:sp>
      <p:sp>
        <p:nvSpPr>
          <p:cNvPr id="6" name="Text 3"/>
          <p:cNvSpPr txBox="1"/>
          <p:nvPr/>
        </p:nvSpPr>
        <p:spPr>
          <a:xfrm>
            <a:off x="548640" y="2651760"/>
            <a:ext cx="3108960" cy="11887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Privacy and security</a:t>
            </a:r>
            <a:endParaRPr lang="en-US" sz="3200" dirty="0"/>
          </a:p>
        </p:txBody>
      </p:sp>
      <p:sp>
        <p:nvSpPr>
          <p:cNvPr id="7" name="Text 4"/>
          <p:cNvSpPr txBox="1"/>
          <p:nvPr/>
        </p:nvSpPr>
        <p:spPr>
          <a:xfrm>
            <a:off x="548640" y="3977640"/>
            <a:ext cx="3017520" cy="914400"/>
          </a:xfrm>
          <a:prstGeom prst="rect">
            <a:avLst/>
          </a:prstGeom>
          <a:noFill/>
          <a:ln/>
        </p:spPr>
        <p:txBody>
          <a:bodyPr wrap="square" lIns="0" tIns="0" rIns="0" bIns="0" rtlCol="0" anchor="t"/>
          <a:lstStyle/>
          <a:p>
            <a:pPr indent="0" marL="0">
              <a:buNone/>
            </a:pPr>
            <a:r>
              <a:rPr lang="en-US" sz="1500" i="1" dirty="0">
                <a:solidFill>
                  <a:srgbClr val="FFFFFF"/>
                </a:solidFill>
                <a:latin typeface="Arial" pitchFamily="34" charset="0"/>
                <a:ea typeface="Arial" pitchFamily="34" charset="-122"/>
                <a:cs typeface="Arial" pitchFamily="34" charset="-120"/>
              </a:rPr>
              <a:t>“AI systems should be secure and respect privacy.”</a:t>
            </a:r>
            <a:endParaRPr lang="en-US" sz="1500" dirty="0"/>
          </a:p>
        </p:txBody>
      </p:sp>
      <p:sp>
        <p:nvSpPr>
          <p:cNvPr id="8" name="Text 5"/>
          <p:cNvSpPr txBox="1"/>
          <p:nvPr/>
        </p:nvSpPr>
        <p:spPr>
          <a:xfrm>
            <a:off x="548640" y="4937760"/>
            <a:ext cx="3017520" cy="274320"/>
          </a:xfrm>
          <a:prstGeom prst="rect">
            <a:avLst/>
          </a:prstGeom>
          <a:noFill/>
          <a:ln/>
        </p:spPr>
        <p:txBody>
          <a:bodyPr wrap="square" lIns="0" tIns="0" rIns="0" bIns="0" rtlCol="0" anchor="t"/>
          <a:lstStyle/>
          <a:p>
            <a:pPr indent="0" marL="0">
              <a:buNone/>
            </a:pPr>
            <a:r>
              <a:rPr lang="en-US" sz="1100" dirty="0">
                <a:solidFill>
                  <a:srgbClr val="FFE3E8"/>
                </a:solidFill>
                <a:latin typeface="Arial" pitchFamily="34" charset="0"/>
                <a:ea typeface="Arial" pitchFamily="34" charset="-122"/>
                <a:cs typeface="Arial" pitchFamily="34" charset="-120"/>
              </a:rPr>
              <a:t>Microsoft Responsible AI Standard</a:t>
            </a:r>
            <a:endParaRPr lang="en-US" sz="1100" dirty="0"/>
          </a:p>
        </p:txBody>
      </p:sp>
      <p:sp>
        <p:nvSpPr>
          <p:cNvPr id="9" name="Text 6"/>
          <p:cNvSpPr txBox="1"/>
          <p:nvPr/>
        </p:nvSpPr>
        <p:spPr>
          <a:xfrm>
            <a:off x="4480560" y="640080"/>
            <a:ext cx="7132320" cy="73152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The question: Is this data allowed in this tool, and is it shared only as needed?</a:t>
            </a:r>
            <a:endParaRPr lang="en-US" sz="2000" dirty="0"/>
          </a:p>
        </p:txBody>
      </p:sp>
      <p:sp>
        <p:nvSpPr>
          <p:cNvPr id="10" name="Text 7"/>
          <p:cNvSpPr txBox="1"/>
          <p:nvPr/>
        </p:nvSpPr>
        <p:spPr>
          <a:xfrm>
            <a:off x="44805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YOUR DAY-TO-DAY WORK</a:t>
            </a:r>
            <a:endParaRPr lang="en-US" sz="1200" dirty="0"/>
          </a:p>
        </p:txBody>
      </p:sp>
      <p:sp>
        <p:nvSpPr>
          <p:cNvPr id="11" name="Text 8"/>
          <p:cNvSpPr txBox="1"/>
          <p:nvPr/>
        </p:nvSpPr>
        <p:spPr>
          <a:xfrm>
            <a:off x="4480560" y="1965960"/>
            <a:ext cx="338328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Use approved tools only, like Copilot in our tenant.</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Don't paste personal or confidential data you don't need.</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Keep sensitivity labels on, and share on purpose.</a:t>
            </a:r>
            <a:endParaRPr lang="en-US" sz="1400" dirty="0"/>
          </a:p>
        </p:txBody>
      </p:sp>
      <p:sp>
        <p:nvSpPr>
          <p:cNvPr id="12" name="Text 9"/>
          <p:cNvSpPr txBox="1"/>
          <p:nvPr/>
        </p:nvSpPr>
        <p:spPr>
          <a:xfrm>
            <a:off x="81381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AI PROJECTS</a:t>
            </a:r>
            <a:endParaRPr lang="en-US" sz="1200" dirty="0"/>
          </a:p>
        </p:txBody>
      </p:sp>
      <p:sp>
        <p:nvSpPr>
          <p:cNvPr id="13" name="Text 10"/>
          <p:cNvSpPr txBox="1"/>
          <p:nvPr/>
        </p:nvSpPr>
        <p:spPr>
          <a:xfrm>
            <a:off x="8138160" y="1965960"/>
            <a:ext cx="347472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Privacy review for personal data.</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Security review for any new vendor or model.</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Only the data fields that are actually needed.</a:t>
            </a:r>
            <a:endParaRPr lang="en-US" sz="1400" dirty="0"/>
          </a:p>
        </p:txBody>
      </p:sp>
      <p:sp>
        <p:nvSpPr>
          <p:cNvPr id="14" name="Shape 11"/>
          <p:cNvSpPr/>
          <p:nvPr/>
        </p:nvSpPr>
        <p:spPr>
          <a:xfrm>
            <a:off x="4480560" y="4572000"/>
            <a:ext cx="7159752" cy="1463040"/>
          </a:xfrm>
          <a:prstGeom prst="rect">
            <a:avLst/>
          </a:prstGeom>
          <a:solidFill>
            <a:srgbClr val="F4F4F4"/>
          </a:solidFill>
          <a:ln w="12700">
            <a:solidFill>
              <a:srgbClr val="F4F4F4"/>
            </a:solidFill>
            <a:prstDash val="solid"/>
          </a:ln>
        </p:spPr>
      </p:sp>
      <p:sp>
        <p:nvSpPr>
          <p:cNvPr id="15" name="Text 12"/>
          <p:cNvSpPr txBox="1"/>
          <p:nvPr/>
        </p:nvSpPr>
        <p:spPr>
          <a:xfrm>
            <a:off x="4709160" y="4736592"/>
            <a:ext cx="1828800" cy="274320"/>
          </a:xfrm>
          <a:prstGeom prst="rect">
            <a:avLst/>
          </a:prstGeom>
          <a:noFill/>
          <a:ln/>
        </p:spPr>
        <p:txBody>
          <a:bodyPr wrap="square" lIns="0" tIns="0" rIns="0" bIns="0" rtlCol="0" anchor="t"/>
          <a:lstStyle/>
          <a:p>
            <a:pPr indent="0" marL="0">
              <a:buNone/>
            </a:pPr>
            <a:r>
              <a:rPr lang="en-US" sz="1100" b="1" spc="200" kern="0" dirty="0">
                <a:solidFill>
                  <a:srgbClr val="6B6B6B"/>
                </a:solidFill>
                <a:latin typeface="Arial" pitchFamily="34" charset="0"/>
                <a:ea typeface="Arial" pitchFamily="34" charset="-122"/>
                <a:cs typeface="Arial" pitchFamily="34" charset="-120"/>
              </a:rPr>
              <a:t>EXAMPLE</a:t>
            </a:r>
            <a:endParaRPr lang="en-US" sz="1100" dirty="0"/>
          </a:p>
        </p:txBody>
      </p:sp>
      <p:sp>
        <p:nvSpPr>
          <p:cNvPr id="16" name="Text 13"/>
          <p:cNvSpPr txBox="1"/>
          <p:nvPr/>
        </p:nvSpPr>
        <p:spPr>
          <a:xfrm>
            <a:off x="4709160" y="5029200"/>
            <a:ext cx="6720840" cy="914400"/>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Replacing names and account numbers with placeholders like [Customer A] lets AI help without the personal data ever leaving your hands.</a:t>
            </a:r>
            <a:endParaRPr lang="en-US" sz="1500" dirty="0"/>
          </a:p>
        </p:txBody>
      </p:sp>
      <p:sp>
        <p:nvSpPr>
          <p:cNvPr id="17" name="Text 14"/>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18" name="Text 15"/>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E4002B"/>
          </a:solidFill>
          <a:ln w="12700">
            <a:solidFill>
              <a:srgbClr val="E4002B"/>
            </a:solidFill>
            <a:prstDash val="solid"/>
          </a:ln>
        </p:spPr>
      </p:sp>
      <p:sp>
        <p:nvSpPr>
          <p:cNvPr id="3" name="Shape 1"/>
          <p:cNvSpPr/>
          <p:nvPr/>
        </p:nvSpPr>
        <p:spPr>
          <a:xfrm>
            <a:off x="548640" y="822960"/>
            <a:ext cx="1188720" cy="118872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22960" y="1097280"/>
            <a:ext cx="640080" cy="640080"/>
          </a:xfrm>
          <a:prstGeom prst="rect">
            <a:avLst/>
          </a:prstGeom>
        </p:spPr>
      </p:pic>
      <p:sp>
        <p:nvSpPr>
          <p:cNvPr id="5" name="Text 2"/>
          <p:cNvSpPr txBox="1"/>
          <p:nvPr/>
        </p:nvSpPr>
        <p:spPr>
          <a:xfrm>
            <a:off x="548640" y="2331720"/>
            <a:ext cx="3108960" cy="274320"/>
          </a:xfrm>
          <a:prstGeom prst="rect">
            <a:avLst/>
          </a:prstGeom>
          <a:noFill/>
          <a:ln/>
        </p:spPr>
        <p:txBody>
          <a:bodyPr wrap="square" lIns="0" tIns="0" rIns="0" bIns="0" rtlCol="0" anchor="t"/>
          <a:lstStyle/>
          <a:p>
            <a:pPr indent="0" marL="0">
              <a:buNone/>
            </a:pPr>
            <a:r>
              <a:rPr lang="en-US" sz="1200" b="1" spc="200" kern="0" dirty="0">
                <a:solidFill>
                  <a:srgbClr val="FFE3E8"/>
                </a:solidFill>
                <a:latin typeface="Arial" pitchFamily="34" charset="0"/>
                <a:ea typeface="Arial" pitchFamily="34" charset="-122"/>
                <a:cs typeface="Arial" pitchFamily="34" charset="-120"/>
              </a:rPr>
              <a:t>PRINCIPLE 4 OF 6</a:t>
            </a:r>
            <a:endParaRPr lang="en-US" sz="1200" dirty="0"/>
          </a:p>
        </p:txBody>
      </p:sp>
      <p:sp>
        <p:nvSpPr>
          <p:cNvPr id="6" name="Text 3"/>
          <p:cNvSpPr txBox="1"/>
          <p:nvPr/>
        </p:nvSpPr>
        <p:spPr>
          <a:xfrm>
            <a:off x="548640" y="2651760"/>
            <a:ext cx="3108960" cy="11887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Inclusiveness</a:t>
            </a:r>
            <a:endParaRPr lang="en-US" sz="3200" dirty="0"/>
          </a:p>
        </p:txBody>
      </p:sp>
      <p:sp>
        <p:nvSpPr>
          <p:cNvPr id="7" name="Text 4"/>
          <p:cNvSpPr txBox="1"/>
          <p:nvPr/>
        </p:nvSpPr>
        <p:spPr>
          <a:xfrm>
            <a:off x="548640" y="3977640"/>
            <a:ext cx="3017520" cy="914400"/>
          </a:xfrm>
          <a:prstGeom prst="rect">
            <a:avLst/>
          </a:prstGeom>
          <a:noFill/>
          <a:ln/>
        </p:spPr>
        <p:txBody>
          <a:bodyPr wrap="square" lIns="0" tIns="0" rIns="0" bIns="0" rtlCol="0" anchor="t"/>
          <a:lstStyle/>
          <a:p>
            <a:pPr indent="0" marL="0">
              <a:buNone/>
            </a:pPr>
            <a:r>
              <a:rPr lang="en-US" sz="1500" i="1" dirty="0">
                <a:solidFill>
                  <a:srgbClr val="FFFFFF"/>
                </a:solidFill>
                <a:latin typeface="Arial" pitchFamily="34" charset="0"/>
                <a:ea typeface="Arial" pitchFamily="34" charset="-122"/>
                <a:cs typeface="Arial" pitchFamily="34" charset="-120"/>
              </a:rPr>
              <a:t>“AI systems should empower everyone and engage all people.”</a:t>
            </a:r>
            <a:endParaRPr lang="en-US" sz="1500" dirty="0"/>
          </a:p>
        </p:txBody>
      </p:sp>
      <p:sp>
        <p:nvSpPr>
          <p:cNvPr id="8" name="Text 5"/>
          <p:cNvSpPr txBox="1"/>
          <p:nvPr/>
        </p:nvSpPr>
        <p:spPr>
          <a:xfrm>
            <a:off x="548640" y="4937760"/>
            <a:ext cx="3017520" cy="274320"/>
          </a:xfrm>
          <a:prstGeom prst="rect">
            <a:avLst/>
          </a:prstGeom>
          <a:noFill/>
          <a:ln/>
        </p:spPr>
        <p:txBody>
          <a:bodyPr wrap="square" lIns="0" tIns="0" rIns="0" bIns="0" rtlCol="0" anchor="t"/>
          <a:lstStyle/>
          <a:p>
            <a:pPr indent="0" marL="0">
              <a:buNone/>
            </a:pPr>
            <a:r>
              <a:rPr lang="en-US" sz="1100" dirty="0">
                <a:solidFill>
                  <a:srgbClr val="FFE3E8"/>
                </a:solidFill>
                <a:latin typeface="Arial" pitchFamily="34" charset="0"/>
                <a:ea typeface="Arial" pitchFamily="34" charset="-122"/>
                <a:cs typeface="Arial" pitchFamily="34" charset="-120"/>
              </a:rPr>
              <a:t>Microsoft Responsible AI Standard</a:t>
            </a:r>
            <a:endParaRPr lang="en-US" sz="1100" dirty="0"/>
          </a:p>
        </p:txBody>
      </p:sp>
      <p:sp>
        <p:nvSpPr>
          <p:cNvPr id="9" name="Text 6"/>
          <p:cNvSpPr txBox="1"/>
          <p:nvPr/>
        </p:nvSpPr>
        <p:spPr>
          <a:xfrm>
            <a:off x="4480560" y="640080"/>
            <a:ext cx="7132320" cy="73152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The question: Does it work for everyone who has to use it?</a:t>
            </a:r>
            <a:endParaRPr lang="en-US" sz="2000" dirty="0"/>
          </a:p>
        </p:txBody>
      </p:sp>
      <p:sp>
        <p:nvSpPr>
          <p:cNvPr id="10" name="Text 7"/>
          <p:cNvSpPr txBox="1"/>
          <p:nvPr/>
        </p:nvSpPr>
        <p:spPr>
          <a:xfrm>
            <a:off x="44805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YOUR DAY-TO-DAY WORK</a:t>
            </a:r>
            <a:endParaRPr lang="en-US" sz="1200" dirty="0"/>
          </a:p>
        </p:txBody>
      </p:sp>
      <p:sp>
        <p:nvSpPr>
          <p:cNvPr id="11" name="Text 8"/>
          <p:cNvSpPr txBox="1"/>
          <p:nvPr/>
        </p:nvSpPr>
        <p:spPr>
          <a:xfrm>
            <a:off x="4480560" y="1965960"/>
            <a:ext cx="338328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Write prompts and outputs in plain language.</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Consider people using screen readers or a second language.</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Don't leave out colleagues who work differently.</a:t>
            </a:r>
            <a:endParaRPr lang="en-US" sz="1400" dirty="0"/>
          </a:p>
        </p:txBody>
      </p:sp>
      <p:sp>
        <p:nvSpPr>
          <p:cNvPr id="12" name="Text 9"/>
          <p:cNvSpPr txBox="1"/>
          <p:nvPr/>
        </p:nvSpPr>
        <p:spPr>
          <a:xfrm>
            <a:off x="81381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AI PROJECTS</a:t>
            </a:r>
            <a:endParaRPr lang="en-US" sz="1200" dirty="0"/>
          </a:p>
        </p:txBody>
      </p:sp>
      <p:sp>
        <p:nvSpPr>
          <p:cNvPr id="13" name="Text 10"/>
          <p:cNvSpPr txBox="1"/>
          <p:nvPr/>
        </p:nvSpPr>
        <p:spPr>
          <a:xfrm>
            <a:off x="8138160" y="1965960"/>
            <a:ext cx="347472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Who uses it, and who is affected by it?</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Test accessibility and language support.</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Keep a non-AI route for people who need it.</a:t>
            </a:r>
            <a:endParaRPr lang="en-US" sz="1400" dirty="0"/>
          </a:p>
        </p:txBody>
      </p:sp>
      <p:sp>
        <p:nvSpPr>
          <p:cNvPr id="14" name="Shape 11"/>
          <p:cNvSpPr/>
          <p:nvPr/>
        </p:nvSpPr>
        <p:spPr>
          <a:xfrm>
            <a:off x="4480560" y="4572000"/>
            <a:ext cx="7159752" cy="1463040"/>
          </a:xfrm>
          <a:prstGeom prst="rect">
            <a:avLst/>
          </a:prstGeom>
          <a:solidFill>
            <a:srgbClr val="F4F4F4"/>
          </a:solidFill>
          <a:ln w="12700">
            <a:solidFill>
              <a:srgbClr val="F4F4F4"/>
            </a:solidFill>
            <a:prstDash val="solid"/>
          </a:ln>
        </p:spPr>
      </p:sp>
      <p:sp>
        <p:nvSpPr>
          <p:cNvPr id="15" name="Text 12"/>
          <p:cNvSpPr txBox="1"/>
          <p:nvPr/>
        </p:nvSpPr>
        <p:spPr>
          <a:xfrm>
            <a:off x="4709160" y="4736592"/>
            <a:ext cx="1828800" cy="274320"/>
          </a:xfrm>
          <a:prstGeom prst="rect">
            <a:avLst/>
          </a:prstGeom>
          <a:noFill/>
          <a:ln/>
        </p:spPr>
        <p:txBody>
          <a:bodyPr wrap="square" lIns="0" tIns="0" rIns="0" bIns="0" rtlCol="0" anchor="t"/>
          <a:lstStyle/>
          <a:p>
            <a:pPr indent="0" marL="0">
              <a:buNone/>
            </a:pPr>
            <a:r>
              <a:rPr lang="en-US" sz="1100" b="1" spc="200" kern="0" dirty="0">
                <a:solidFill>
                  <a:srgbClr val="6B6B6B"/>
                </a:solidFill>
                <a:latin typeface="Arial" pitchFamily="34" charset="0"/>
                <a:ea typeface="Arial" pitchFamily="34" charset="-122"/>
                <a:cs typeface="Arial" pitchFamily="34" charset="-120"/>
              </a:rPr>
              <a:t>EXAMPLE</a:t>
            </a:r>
            <a:endParaRPr lang="en-US" sz="1100" dirty="0"/>
          </a:p>
        </p:txBody>
      </p:sp>
      <p:sp>
        <p:nvSpPr>
          <p:cNvPr id="16" name="Text 13"/>
          <p:cNvSpPr txBox="1"/>
          <p:nvPr/>
        </p:nvSpPr>
        <p:spPr>
          <a:xfrm>
            <a:off x="4709160" y="5029200"/>
            <a:ext cx="6720840" cy="914400"/>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A drafting tool rolled out in English and Spanish, tested with a screen reader, and kept the old workflow for agents who opted out.</a:t>
            </a:r>
            <a:endParaRPr lang="en-US" sz="1500" dirty="0"/>
          </a:p>
        </p:txBody>
      </p:sp>
      <p:sp>
        <p:nvSpPr>
          <p:cNvPr id="17" name="Text 14"/>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18" name="Text 15"/>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E4002B"/>
          </a:solidFill>
          <a:ln w="12700">
            <a:solidFill>
              <a:srgbClr val="E4002B"/>
            </a:solidFill>
            <a:prstDash val="solid"/>
          </a:ln>
        </p:spPr>
      </p:sp>
      <p:sp>
        <p:nvSpPr>
          <p:cNvPr id="3" name="Shape 1"/>
          <p:cNvSpPr/>
          <p:nvPr/>
        </p:nvSpPr>
        <p:spPr>
          <a:xfrm>
            <a:off x="548640" y="822960"/>
            <a:ext cx="1188720" cy="118872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22960" y="1097280"/>
            <a:ext cx="640080" cy="640080"/>
          </a:xfrm>
          <a:prstGeom prst="rect">
            <a:avLst/>
          </a:prstGeom>
        </p:spPr>
      </p:pic>
      <p:sp>
        <p:nvSpPr>
          <p:cNvPr id="5" name="Text 2"/>
          <p:cNvSpPr txBox="1"/>
          <p:nvPr/>
        </p:nvSpPr>
        <p:spPr>
          <a:xfrm>
            <a:off x="548640" y="2331720"/>
            <a:ext cx="3108960" cy="274320"/>
          </a:xfrm>
          <a:prstGeom prst="rect">
            <a:avLst/>
          </a:prstGeom>
          <a:noFill/>
          <a:ln/>
        </p:spPr>
        <p:txBody>
          <a:bodyPr wrap="square" lIns="0" tIns="0" rIns="0" bIns="0" rtlCol="0" anchor="t"/>
          <a:lstStyle/>
          <a:p>
            <a:pPr indent="0" marL="0">
              <a:buNone/>
            </a:pPr>
            <a:r>
              <a:rPr lang="en-US" sz="1200" b="1" spc="200" kern="0" dirty="0">
                <a:solidFill>
                  <a:srgbClr val="FFE3E8"/>
                </a:solidFill>
                <a:latin typeface="Arial" pitchFamily="34" charset="0"/>
                <a:ea typeface="Arial" pitchFamily="34" charset="-122"/>
                <a:cs typeface="Arial" pitchFamily="34" charset="-120"/>
              </a:rPr>
              <a:t>PRINCIPLE 5 OF 6</a:t>
            </a:r>
            <a:endParaRPr lang="en-US" sz="1200" dirty="0"/>
          </a:p>
        </p:txBody>
      </p:sp>
      <p:sp>
        <p:nvSpPr>
          <p:cNvPr id="6" name="Text 3"/>
          <p:cNvSpPr txBox="1"/>
          <p:nvPr/>
        </p:nvSpPr>
        <p:spPr>
          <a:xfrm>
            <a:off x="548640" y="2651760"/>
            <a:ext cx="3108960" cy="11887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Transparency</a:t>
            </a:r>
            <a:endParaRPr lang="en-US" sz="3200" dirty="0"/>
          </a:p>
        </p:txBody>
      </p:sp>
      <p:sp>
        <p:nvSpPr>
          <p:cNvPr id="7" name="Text 4"/>
          <p:cNvSpPr txBox="1"/>
          <p:nvPr/>
        </p:nvSpPr>
        <p:spPr>
          <a:xfrm>
            <a:off x="548640" y="3977640"/>
            <a:ext cx="3017520" cy="914400"/>
          </a:xfrm>
          <a:prstGeom prst="rect">
            <a:avLst/>
          </a:prstGeom>
          <a:noFill/>
          <a:ln/>
        </p:spPr>
        <p:txBody>
          <a:bodyPr wrap="square" lIns="0" tIns="0" rIns="0" bIns="0" rtlCol="0" anchor="t"/>
          <a:lstStyle/>
          <a:p>
            <a:pPr indent="0" marL="0">
              <a:buNone/>
            </a:pPr>
            <a:r>
              <a:rPr lang="en-US" sz="1500" i="1" dirty="0">
                <a:solidFill>
                  <a:srgbClr val="FFFFFF"/>
                </a:solidFill>
                <a:latin typeface="Arial" pitchFamily="34" charset="0"/>
                <a:ea typeface="Arial" pitchFamily="34" charset="-122"/>
                <a:cs typeface="Arial" pitchFamily="34" charset="-120"/>
              </a:rPr>
              <a:t>“AI systems should be understandable.”</a:t>
            </a:r>
            <a:endParaRPr lang="en-US" sz="1500" dirty="0"/>
          </a:p>
        </p:txBody>
      </p:sp>
      <p:sp>
        <p:nvSpPr>
          <p:cNvPr id="8" name="Text 5"/>
          <p:cNvSpPr txBox="1"/>
          <p:nvPr/>
        </p:nvSpPr>
        <p:spPr>
          <a:xfrm>
            <a:off x="548640" y="4937760"/>
            <a:ext cx="3017520" cy="274320"/>
          </a:xfrm>
          <a:prstGeom prst="rect">
            <a:avLst/>
          </a:prstGeom>
          <a:noFill/>
          <a:ln/>
        </p:spPr>
        <p:txBody>
          <a:bodyPr wrap="square" lIns="0" tIns="0" rIns="0" bIns="0" rtlCol="0" anchor="t"/>
          <a:lstStyle/>
          <a:p>
            <a:pPr indent="0" marL="0">
              <a:buNone/>
            </a:pPr>
            <a:r>
              <a:rPr lang="en-US" sz="1100" dirty="0">
                <a:solidFill>
                  <a:srgbClr val="FFE3E8"/>
                </a:solidFill>
                <a:latin typeface="Arial" pitchFamily="34" charset="0"/>
                <a:ea typeface="Arial" pitchFamily="34" charset="-122"/>
                <a:cs typeface="Arial" pitchFamily="34" charset="-120"/>
              </a:rPr>
              <a:t>Microsoft Responsible AI Standard</a:t>
            </a:r>
            <a:endParaRPr lang="en-US" sz="1100" dirty="0"/>
          </a:p>
        </p:txBody>
      </p:sp>
      <p:sp>
        <p:nvSpPr>
          <p:cNvPr id="9" name="Text 6"/>
          <p:cNvSpPr txBox="1"/>
          <p:nvPr/>
        </p:nvSpPr>
        <p:spPr>
          <a:xfrm>
            <a:off x="4480560" y="640080"/>
            <a:ext cx="7132320" cy="73152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The question: Do people know AI was involved, and what it can't do?</a:t>
            </a:r>
            <a:endParaRPr lang="en-US" sz="2000" dirty="0"/>
          </a:p>
        </p:txBody>
      </p:sp>
      <p:sp>
        <p:nvSpPr>
          <p:cNvPr id="10" name="Text 7"/>
          <p:cNvSpPr txBox="1"/>
          <p:nvPr/>
        </p:nvSpPr>
        <p:spPr>
          <a:xfrm>
            <a:off x="44805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YOUR DAY-TO-DAY WORK</a:t>
            </a:r>
            <a:endParaRPr lang="en-US" sz="1200" dirty="0"/>
          </a:p>
        </p:txBody>
      </p:sp>
      <p:sp>
        <p:nvSpPr>
          <p:cNvPr id="11" name="Text 8"/>
          <p:cNvSpPr txBox="1"/>
          <p:nvPr/>
        </p:nvSpPr>
        <p:spPr>
          <a:xfrm>
            <a:off x="4480560" y="1965960"/>
            <a:ext cx="338328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Don't present AI output as a checked fact.</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Say when AI drafted something, where our policy asks you to.</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Open the references Copilot shows.</a:t>
            </a:r>
            <a:endParaRPr lang="en-US" sz="1400" dirty="0"/>
          </a:p>
        </p:txBody>
      </p:sp>
      <p:sp>
        <p:nvSpPr>
          <p:cNvPr id="12" name="Text 9"/>
          <p:cNvSpPr txBox="1"/>
          <p:nvPr/>
        </p:nvSpPr>
        <p:spPr>
          <a:xfrm>
            <a:off x="81381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AI PROJECTS</a:t>
            </a:r>
            <a:endParaRPr lang="en-US" sz="1200" dirty="0"/>
          </a:p>
        </p:txBody>
      </p:sp>
      <p:sp>
        <p:nvSpPr>
          <p:cNvPr id="13" name="Text 10"/>
          <p:cNvSpPr txBox="1"/>
          <p:nvPr/>
        </p:nvSpPr>
        <p:spPr>
          <a:xfrm>
            <a:off x="8138160" y="1965960"/>
            <a:ext cx="347472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Tell users when they're dealing with AI output.</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Explain its limits in plain words.</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Customers get replies from a named person.</a:t>
            </a:r>
            <a:endParaRPr lang="en-US" sz="1400" dirty="0"/>
          </a:p>
        </p:txBody>
      </p:sp>
      <p:sp>
        <p:nvSpPr>
          <p:cNvPr id="14" name="Shape 11"/>
          <p:cNvSpPr/>
          <p:nvPr/>
        </p:nvSpPr>
        <p:spPr>
          <a:xfrm>
            <a:off x="4480560" y="4572000"/>
            <a:ext cx="7159752" cy="1463040"/>
          </a:xfrm>
          <a:prstGeom prst="rect">
            <a:avLst/>
          </a:prstGeom>
          <a:solidFill>
            <a:srgbClr val="F4F4F4"/>
          </a:solidFill>
          <a:ln w="12700">
            <a:solidFill>
              <a:srgbClr val="F4F4F4"/>
            </a:solidFill>
            <a:prstDash val="solid"/>
          </a:ln>
        </p:spPr>
      </p:sp>
      <p:sp>
        <p:nvSpPr>
          <p:cNvPr id="15" name="Text 12"/>
          <p:cNvSpPr txBox="1"/>
          <p:nvPr/>
        </p:nvSpPr>
        <p:spPr>
          <a:xfrm>
            <a:off x="4709160" y="4736592"/>
            <a:ext cx="1828800" cy="274320"/>
          </a:xfrm>
          <a:prstGeom prst="rect">
            <a:avLst/>
          </a:prstGeom>
          <a:noFill/>
          <a:ln/>
        </p:spPr>
        <p:txBody>
          <a:bodyPr wrap="square" lIns="0" tIns="0" rIns="0" bIns="0" rtlCol="0" anchor="t"/>
          <a:lstStyle/>
          <a:p>
            <a:pPr indent="0" marL="0">
              <a:buNone/>
            </a:pPr>
            <a:r>
              <a:rPr lang="en-US" sz="1100" b="1" spc="200" kern="0" dirty="0">
                <a:solidFill>
                  <a:srgbClr val="6B6B6B"/>
                </a:solidFill>
                <a:latin typeface="Arial" pitchFamily="34" charset="0"/>
                <a:ea typeface="Arial" pitchFamily="34" charset="-122"/>
                <a:cs typeface="Arial" pitchFamily="34" charset="-120"/>
              </a:rPr>
              <a:t>EXAMPLE</a:t>
            </a:r>
            <a:endParaRPr lang="en-US" sz="1100" dirty="0"/>
          </a:p>
        </p:txBody>
      </p:sp>
      <p:sp>
        <p:nvSpPr>
          <p:cNvPr id="16" name="Text 13"/>
          <p:cNvSpPr txBox="1"/>
          <p:nvPr/>
        </p:nvSpPr>
        <p:spPr>
          <a:xfrm>
            <a:off x="4709160" y="5029200"/>
            <a:ext cx="6720840" cy="914400"/>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Agents see an “AI draft” label and a one-page guide to its limits. Customers still get replies written and sent by a named agent.</a:t>
            </a:r>
            <a:endParaRPr lang="en-US" sz="1500" dirty="0"/>
          </a:p>
        </p:txBody>
      </p:sp>
      <p:sp>
        <p:nvSpPr>
          <p:cNvPr id="17" name="Text 14"/>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18" name="Text 15"/>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E4002B"/>
          </a:solidFill>
          <a:ln w="12700">
            <a:solidFill>
              <a:srgbClr val="E4002B"/>
            </a:solidFill>
            <a:prstDash val="solid"/>
          </a:ln>
        </p:spPr>
      </p:sp>
      <p:sp>
        <p:nvSpPr>
          <p:cNvPr id="3" name="Shape 1"/>
          <p:cNvSpPr/>
          <p:nvPr/>
        </p:nvSpPr>
        <p:spPr>
          <a:xfrm>
            <a:off x="548640" y="822960"/>
            <a:ext cx="1188720" cy="118872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22960" y="1097280"/>
            <a:ext cx="640080" cy="640080"/>
          </a:xfrm>
          <a:prstGeom prst="rect">
            <a:avLst/>
          </a:prstGeom>
        </p:spPr>
      </p:pic>
      <p:sp>
        <p:nvSpPr>
          <p:cNvPr id="5" name="Text 2"/>
          <p:cNvSpPr txBox="1"/>
          <p:nvPr/>
        </p:nvSpPr>
        <p:spPr>
          <a:xfrm>
            <a:off x="548640" y="2331720"/>
            <a:ext cx="3108960" cy="274320"/>
          </a:xfrm>
          <a:prstGeom prst="rect">
            <a:avLst/>
          </a:prstGeom>
          <a:noFill/>
          <a:ln/>
        </p:spPr>
        <p:txBody>
          <a:bodyPr wrap="square" lIns="0" tIns="0" rIns="0" bIns="0" rtlCol="0" anchor="t"/>
          <a:lstStyle/>
          <a:p>
            <a:pPr indent="0" marL="0">
              <a:buNone/>
            </a:pPr>
            <a:r>
              <a:rPr lang="en-US" sz="1200" b="1" spc="200" kern="0" dirty="0">
                <a:solidFill>
                  <a:srgbClr val="FFE3E8"/>
                </a:solidFill>
                <a:latin typeface="Arial" pitchFamily="34" charset="0"/>
                <a:ea typeface="Arial" pitchFamily="34" charset="-122"/>
                <a:cs typeface="Arial" pitchFamily="34" charset="-120"/>
              </a:rPr>
              <a:t>PRINCIPLE 6 OF 6</a:t>
            </a:r>
            <a:endParaRPr lang="en-US" sz="1200" dirty="0"/>
          </a:p>
        </p:txBody>
      </p:sp>
      <p:sp>
        <p:nvSpPr>
          <p:cNvPr id="6" name="Text 3"/>
          <p:cNvSpPr txBox="1"/>
          <p:nvPr/>
        </p:nvSpPr>
        <p:spPr>
          <a:xfrm>
            <a:off x="548640" y="2651760"/>
            <a:ext cx="3108960" cy="11887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Accountability</a:t>
            </a:r>
            <a:endParaRPr lang="en-US" sz="3200" dirty="0"/>
          </a:p>
        </p:txBody>
      </p:sp>
      <p:sp>
        <p:nvSpPr>
          <p:cNvPr id="7" name="Text 4"/>
          <p:cNvSpPr txBox="1"/>
          <p:nvPr/>
        </p:nvSpPr>
        <p:spPr>
          <a:xfrm>
            <a:off x="548640" y="3977640"/>
            <a:ext cx="3017520" cy="914400"/>
          </a:xfrm>
          <a:prstGeom prst="rect">
            <a:avLst/>
          </a:prstGeom>
          <a:noFill/>
          <a:ln/>
        </p:spPr>
        <p:txBody>
          <a:bodyPr wrap="square" lIns="0" tIns="0" rIns="0" bIns="0" rtlCol="0" anchor="t"/>
          <a:lstStyle/>
          <a:p>
            <a:pPr indent="0" marL="0">
              <a:buNone/>
            </a:pPr>
            <a:r>
              <a:rPr lang="en-US" sz="1500" i="1" dirty="0">
                <a:solidFill>
                  <a:srgbClr val="FFFFFF"/>
                </a:solidFill>
                <a:latin typeface="Arial" pitchFamily="34" charset="0"/>
                <a:ea typeface="Arial" pitchFamily="34" charset="-122"/>
                <a:cs typeface="Arial" pitchFamily="34" charset="-120"/>
              </a:rPr>
              <a:t>“People should be accountable for AI systems.”</a:t>
            </a:r>
            <a:endParaRPr lang="en-US" sz="1500" dirty="0"/>
          </a:p>
        </p:txBody>
      </p:sp>
      <p:sp>
        <p:nvSpPr>
          <p:cNvPr id="8" name="Text 5"/>
          <p:cNvSpPr txBox="1"/>
          <p:nvPr/>
        </p:nvSpPr>
        <p:spPr>
          <a:xfrm>
            <a:off x="548640" y="4937760"/>
            <a:ext cx="3017520" cy="274320"/>
          </a:xfrm>
          <a:prstGeom prst="rect">
            <a:avLst/>
          </a:prstGeom>
          <a:noFill/>
          <a:ln/>
        </p:spPr>
        <p:txBody>
          <a:bodyPr wrap="square" lIns="0" tIns="0" rIns="0" bIns="0" rtlCol="0" anchor="t"/>
          <a:lstStyle/>
          <a:p>
            <a:pPr indent="0" marL="0">
              <a:buNone/>
            </a:pPr>
            <a:r>
              <a:rPr lang="en-US" sz="1100" dirty="0">
                <a:solidFill>
                  <a:srgbClr val="FFE3E8"/>
                </a:solidFill>
                <a:latin typeface="Arial" pitchFamily="34" charset="0"/>
                <a:ea typeface="Arial" pitchFamily="34" charset="-122"/>
                <a:cs typeface="Arial" pitchFamily="34" charset="-120"/>
              </a:rPr>
              <a:t>Microsoft Responsible AI Standard</a:t>
            </a:r>
            <a:endParaRPr lang="en-US" sz="1100" dirty="0"/>
          </a:p>
        </p:txBody>
      </p:sp>
      <p:sp>
        <p:nvSpPr>
          <p:cNvPr id="9" name="Text 6"/>
          <p:cNvSpPr txBox="1"/>
          <p:nvPr/>
        </p:nvSpPr>
        <p:spPr>
          <a:xfrm>
            <a:off x="4480560" y="640080"/>
            <a:ext cx="7132320" cy="73152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The question: Who owns this, and who answers for it?</a:t>
            </a:r>
            <a:endParaRPr lang="en-US" sz="2000" dirty="0"/>
          </a:p>
        </p:txBody>
      </p:sp>
      <p:sp>
        <p:nvSpPr>
          <p:cNvPr id="10" name="Text 7"/>
          <p:cNvSpPr txBox="1"/>
          <p:nvPr/>
        </p:nvSpPr>
        <p:spPr>
          <a:xfrm>
            <a:off x="44805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YOUR DAY-TO-DAY WORK</a:t>
            </a:r>
            <a:endParaRPr lang="en-US" sz="1200" dirty="0"/>
          </a:p>
        </p:txBody>
      </p:sp>
      <p:sp>
        <p:nvSpPr>
          <p:cNvPr id="11" name="Text 8"/>
          <p:cNvSpPr txBox="1"/>
          <p:nvPr/>
        </p:nvSpPr>
        <p:spPr>
          <a:xfrm>
            <a:off x="4480560" y="1965960"/>
            <a:ext cx="338328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You own everything you send, whoever drafted it.</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“The AI did it” is never the answer.</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Report problems to the tool owner.</a:t>
            </a:r>
            <a:endParaRPr lang="en-US" sz="1400" dirty="0"/>
          </a:p>
        </p:txBody>
      </p:sp>
      <p:sp>
        <p:nvSpPr>
          <p:cNvPr id="12" name="Text 9"/>
          <p:cNvSpPr txBox="1"/>
          <p:nvPr/>
        </p:nvSpPr>
        <p:spPr>
          <a:xfrm>
            <a:off x="8138160" y="1600200"/>
            <a:ext cx="3291840" cy="274320"/>
          </a:xfrm>
          <a:prstGeom prst="rect">
            <a:avLst/>
          </a:prstGeom>
          <a:noFill/>
          <a:ln/>
        </p:spPr>
        <p:txBody>
          <a:bodyPr wrap="square" lIns="0" tIns="0" rIns="0" bIns="0" rtlCol="0" anchor="t"/>
          <a:lstStyle/>
          <a:p>
            <a:pPr indent="0" marL="0">
              <a:buNone/>
            </a:pPr>
            <a:r>
              <a:rPr lang="en-US" sz="1200" b="1" spc="100" kern="0" dirty="0">
                <a:solidFill>
                  <a:srgbClr val="E4002B"/>
                </a:solidFill>
                <a:latin typeface="Arial" pitchFamily="34" charset="0"/>
                <a:ea typeface="Arial" pitchFamily="34" charset="-122"/>
                <a:cs typeface="Arial" pitchFamily="34" charset="-120"/>
              </a:rPr>
              <a:t>IN AI PROJECTS</a:t>
            </a:r>
            <a:endParaRPr lang="en-US" sz="1200" dirty="0"/>
          </a:p>
        </p:txBody>
      </p:sp>
      <p:sp>
        <p:nvSpPr>
          <p:cNvPr id="13" name="Text 10"/>
          <p:cNvSpPr txBox="1"/>
          <p:nvPr/>
        </p:nvSpPr>
        <p:spPr>
          <a:xfrm>
            <a:off x="8138160" y="1965960"/>
            <a:ext cx="3474720" cy="237744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A named owner for every AI project.</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A named reviewer for outputs, and a route for complaints.</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Approvals by people who aren't involved in the project.</a:t>
            </a:r>
            <a:endParaRPr lang="en-US" sz="1400" dirty="0"/>
          </a:p>
        </p:txBody>
      </p:sp>
      <p:sp>
        <p:nvSpPr>
          <p:cNvPr id="14" name="Shape 11"/>
          <p:cNvSpPr/>
          <p:nvPr/>
        </p:nvSpPr>
        <p:spPr>
          <a:xfrm>
            <a:off x="4480560" y="4572000"/>
            <a:ext cx="7159752" cy="1463040"/>
          </a:xfrm>
          <a:prstGeom prst="rect">
            <a:avLst/>
          </a:prstGeom>
          <a:solidFill>
            <a:srgbClr val="F4F4F4"/>
          </a:solidFill>
          <a:ln w="12700">
            <a:solidFill>
              <a:srgbClr val="F4F4F4"/>
            </a:solidFill>
            <a:prstDash val="solid"/>
          </a:ln>
        </p:spPr>
      </p:sp>
      <p:sp>
        <p:nvSpPr>
          <p:cNvPr id="15" name="Text 12"/>
          <p:cNvSpPr txBox="1"/>
          <p:nvPr/>
        </p:nvSpPr>
        <p:spPr>
          <a:xfrm>
            <a:off x="4709160" y="4736592"/>
            <a:ext cx="1828800" cy="274320"/>
          </a:xfrm>
          <a:prstGeom prst="rect">
            <a:avLst/>
          </a:prstGeom>
          <a:noFill/>
          <a:ln/>
        </p:spPr>
        <p:txBody>
          <a:bodyPr wrap="square" lIns="0" tIns="0" rIns="0" bIns="0" rtlCol="0" anchor="t"/>
          <a:lstStyle/>
          <a:p>
            <a:pPr indent="0" marL="0">
              <a:buNone/>
            </a:pPr>
            <a:r>
              <a:rPr lang="en-US" sz="1100" b="1" spc="200" kern="0" dirty="0">
                <a:solidFill>
                  <a:srgbClr val="6B6B6B"/>
                </a:solidFill>
                <a:latin typeface="Arial" pitchFamily="34" charset="0"/>
                <a:ea typeface="Arial" pitchFamily="34" charset="-122"/>
                <a:cs typeface="Arial" pitchFamily="34" charset="-120"/>
              </a:rPr>
              <a:t>EXAMPLE</a:t>
            </a:r>
            <a:endParaRPr lang="en-US" sz="1100" dirty="0"/>
          </a:p>
        </p:txBody>
      </p:sp>
      <p:sp>
        <p:nvSpPr>
          <p:cNvPr id="16" name="Text 13"/>
          <p:cNvSpPr txBox="1"/>
          <p:nvPr/>
        </p:nvSpPr>
        <p:spPr>
          <a:xfrm>
            <a:off x="4709160" y="5029200"/>
            <a:ext cx="6720840" cy="914400"/>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Owner: Head of Support Operations. Agents own every reply they send. Issues reach the support ops lead within one business day.</a:t>
            </a:r>
            <a:endParaRPr lang="en-US" sz="1500" dirty="0"/>
          </a:p>
        </p:txBody>
      </p:sp>
      <p:sp>
        <p:nvSpPr>
          <p:cNvPr id="17" name="Text 14"/>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18" name="Text 15"/>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THE PRINCIPLES</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Three sensitive uses need the highest level of review</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From Microsoft's Responsible AI Standard. Any “yes” makes a project Tier 3 in our process.</a:t>
            </a:r>
            <a:endParaRPr lang="en-US" sz="1600" dirty="0"/>
          </a:p>
        </p:txBody>
      </p:sp>
      <p:sp>
        <p:nvSpPr>
          <p:cNvPr id="5" name="Shape 3"/>
          <p:cNvSpPr/>
          <p:nvPr/>
        </p:nvSpPr>
        <p:spPr>
          <a:xfrm>
            <a:off x="548640" y="2194560"/>
            <a:ext cx="3520440" cy="3108960"/>
          </a:xfrm>
          <a:prstGeom prst="rect">
            <a:avLst/>
          </a:prstGeom>
          <a:solidFill>
            <a:srgbClr val="FFFFFF"/>
          </a:solidFill>
          <a:ln w="25400">
            <a:solidFill>
              <a:srgbClr val="E4002B"/>
            </a:solidFill>
            <a:prstDash val="solid"/>
          </a:ln>
        </p:spPr>
      </p:sp>
      <p:sp>
        <p:nvSpPr>
          <p:cNvPr id="6" name="Shape 4"/>
          <p:cNvSpPr/>
          <p:nvPr/>
        </p:nvSpPr>
        <p:spPr>
          <a:xfrm>
            <a:off x="822960" y="2423160"/>
            <a:ext cx="777240" cy="777240"/>
          </a:xfrm>
          <a:prstGeom prst="ellipse">
            <a:avLst/>
          </a:prstGeom>
          <a:solidFill>
            <a:srgbClr val="E4002B"/>
          </a:solidFill>
          <a:ln w="12700">
            <a:solidFill>
              <a:srgbClr val="E4002B"/>
            </a:solidFill>
            <a:prstDash val="solid"/>
          </a:ln>
        </p:spPr>
      </p:sp>
      <p:pic>
        <p:nvPicPr>
          <p:cNvPr id="7" name="Image 0" descr="preencoded.png">    </p:cNvPr>
          <p:cNvPicPr>
            <a:picLocks noChangeAspect="1"/>
          </p:cNvPicPr>
          <p:nvPr/>
        </p:nvPicPr>
        <p:blipFill>
          <a:blip r:embed="rId1"/>
          <a:stretch>
            <a:fillRect/>
          </a:stretch>
        </p:blipFill>
        <p:spPr>
          <a:xfrm>
            <a:off x="1017270" y="2617470"/>
            <a:ext cx="388620" cy="388620"/>
          </a:xfrm>
          <a:prstGeom prst="rect">
            <a:avLst/>
          </a:prstGeom>
        </p:spPr>
      </p:pic>
      <p:sp>
        <p:nvSpPr>
          <p:cNvPr id="8" name="Text 5"/>
          <p:cNvSpPr txBox="1"/>
          <p:nvPr/>
        </p:nvSpPr>
        <p:spPr>
          <a:xfrm>
            <a:off x="822960" y="3383280"/>
            <a:ext cx="3017520" cy="45720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Life opportunities</a:t>
            </a:r>
            <a:endParaRPr lang="en-US" sz="1900" dirty="0"/>
          </a:p>
        </p:txBody>
      </p:sp>
      <p:sp>
        <p:nvSpPr>
          <p:cNvPr id="9" name="Text 6"/>
          <p:cNvSpPr txBox="1"/>
          <p:nvPr/>
        </p:nvSpPr>
        <p:spPr>
          <a:xfrm>
            <a:off x="822960" y="3886200"/>
            <a:ext cx="3017520" cy="137160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Could it affect someone's legal position or life opportunities, such as employment, pay, credit, housing, insurance, education or access to services?</a:t>
            </a:r>
            <a:endParaRPr lang="en-US" sz="1400" dirty="0"/>
          </a:p>
        </p:txBody>
      </p:sp>
      <p:sp>
        <p:nvSpPr>
          <p:cNvPr id="10" name="Shape 7"/>
          <p:cNvSpPr/>
          <p:nvPr/>
        </p:nvSpPr>
        <p:spPr>
          <a:xfrm>
            <a:off x="4297680" y="2194560"/>
            <a:ext cx="3520440" cy="3108960"/>
          </a:xfrm>
          <a:prstGeom prst="rect">
            <a:avLst/>
          </a:prstGeom>
          <a:solidFill>
            <a:srgbClr val="FFFFFF"/>
          </a:solidFill>
          <a:ln w="25400">
            <a:solidFill>
              <a:srgbClr val="E4002B"/>
            </a:solidFill>
            <a:prstDash val="solid"/>
          </a:ln>
        </p:spPr>
      </p:sp>
      <p:sp>
        <p:nvSpPr>
          <p:cNvPr id="11" name="Shape 8"/>
          <p:cNvSpPr/>
          <p:nvPr/>
        </p:nvSpPr>
        <p:spPr>
          <a:xfrm>
            <a:off x="4572000" y="2423160"/>
            <a:ext cx="777240" cy="777240"/>
          </a:xfrm>
          <a:prstGeom prst="ellipse">
            <a:avLst/>
          </a:prstGeom>
          <a:solidFill>
            <a:srgbClr val="E4002B"/>
          </a:solidFill>
          <a:ln w="12700">
            <a:solidFill>
              <a:srgbClr val="E4002B"/>
            </a:solidFill>
            <a:prstDash val="solid"/>
          </a:ln>
        </p:spPr>
      </p:sp>
      <p:pic>
        <p:nvPicPr>
          <p:cNvPr id="12" name="Image 1" descr="preencoded.png">    </p:cNvPr>
          <p:cNvPicPr>
            <a:picLocks noChangeAspect="1"/>
          </p:cNvPicPr>
          <p:nvPr/>
        </p:nvPicPr>
        <p:blipFill>
          <a:blip r:embed="rId2"/>
          <a:stretch>
            <a:fillRect/>
          </a:stretch>
        </p:blipFill>
        <p:spPr>
          <a:xfrm>
            <a:off x="4766310" y="2617470"/>
            <a:ext cx="388620" cy="388620"/>
          </a:xfrm>
          <a:prstGeom prst="rect">
            <a:avLst/>
          </a:prstGeom>
        </p:spPr>
      </p:pic>
      <p:sp>
        <p:nvSpPr>
          <p:cNvPr id="13" name="Text 9"/>
          <p:cNvSpPr txBox="1"/>
          <p:nvPr/>
        </p:nvSpPr>
        <p:spPr>
          <a:xfrm>
            <a:off x="4572000" y="3383280"/>
            <a:ext cx="3017520" cy="45720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Serious harm</a:t>
            </a:r>
            <a:endParaRPr lang="en-US" sz="1900" dirty="0"/>
          </a:p>
        </p:txBody>
      </p:sp>
      <p:sp>
        <p:nvSpPr>
          <p:cNvPr id="14" name="Text 10"/>
          <p:cNvSpPr txBox="1"/>
          <p:nvPr/>
        </p:nvSpPr>
        <p:spPr>
          <a:xfrm>
            <a:off x="4572000" y="3886200"/>
            <a:ext cx="3017520" cy="137160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Could its use or misuse cause someone significant physical or psychological injury?</a:t>
            </a:r>
            <a:endParaRPr lang="en-US" sz="1400" dirty="0"/>
          </a:p>
        </p:txBody>
      </p:sp>
      <p:sp>
        <p:nvSpPr>
          <p:cNvPr id="15" name="Shape 11"/>
          <p:cNvSpPr/>
          <p:nvPr/>
        </p:nvSpPr>
        <p:spPr>
          <a:xfrm>
            <a:off x="8046720" y="2194560"/>
            <a:ext cx="3520440" cy="3108960"/>
          </a:xfrm>
          <a:prstGeom prst="rect">
            <a:avLst/>
          </a:prstGeom>
          <a:solidFill>
            <a:srgbClr val="FFFFFF"/>
          </a:solidFill>
          <a:ln w="25400">
            <a:solidFill>
              <a:srgbClr val="E4002B"/>
            </a:solidFill>
            <a:prstDash val="solid"/>
          </a:ln>
        </p:spPr>
      </p:sp>
      <p:sp>
        <p:nvSpPr>
          <p:cNvPr id="16" name="Shape 12"/>
          <p:cNvSpPr/>
          <p:nvPr/>
        </p:nvSpPr>
        <p:spPr>
          <a:xfrm>
            <a:off x="8321040" y="2423160"/>
            <a:ext cx="777240" cy="777240"/>
          </a:xfrm>
          <a:prstGeom prst="ellipse">
            <a:avLst/>
          </a:prstGeom>
          <a:solidFill>
            <a:srgbClr val="E4002B"/>
          </a:solidFill>
          <a:ln w="12700">
            <a:solidFill>
              <a:srgbClr val="E4002B"/>
            </a:solidFill>
            <a:prstDash val="solid"/>
          </a:ln>
        </p:spPr>
      </p:sp>
      <p:pic>
        <p:nvPicPr>
          <p:cNvPr id="17" name="Image 2" descr="preencoded.png">    </p:cNvPr>
          <p:cNvPicPr>
            <a:picLocks noChangeAspect="1"/>
          </p:cNvPicPr>
          <p:nvPr/>
        </p:nvPicPr>
        <p:blipFill>
          <a:blip r:embed="rId3"/>
          <a:stretch>
            <a:fillRect/>
          </a:stretch>
        </p:blipFill>
        <p:spPr>
          <a:xfrm>
            <a:off x="8515350" y="2617470"/>
            <a:ext cx="388620" cy="388620"/>
          </a:xfrm>
          <a:prstGeom prst="rect">
            <a:avLst/>
          </a:prstGeom>
        </p:spPr>
      </p:pic>
      <p:sp>
        <p:nvSpPr>
          <p:cNvPr id="18" name="Text 13"/>
          <p:cNvSpPr txBox="1"/>
          <p:nvPr/>
        </p:nvSpPr>
        <p:spPr>
          <a:xfrm>
            <a:off x="8321040" y="3383280"/>
            <a:ext cx="3017520" cy="45720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Human rights</a:t>
            </a:r>
            <a:endParaRPr lang="en-US" sz="1900" dirty="0"/>
          </a:p>
        </p:txBody>
      </p:sp>
      <p:sp>
        <p:nvSpPr>
          <p:cNvPr id="19" name="Text 14"/>
          <p:cNvSpPr txBox="1"/>
          <p:nvPr/>
        </p:nvSpPr>
        <p:spPr>
          <a:xfrm>
            <a:off x="8321040" y="3886200"/>
            <a:ext cx="3017520" cy="137160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Could it restrict or undermine someone's human rights, such as privacy, freedom of expression or equal treatment?</a:t>
            </a:r>
            <a:endParaRPr lang="en-US" sz="1400" dirty="0"/>
          </a:p>
        </p:txBody>
      </p:sp>
      <p:sp>
        <p:nvSpPr>
          <p:cNvPr id="20" name="Shape 15"/>
          <p:cNvSpPr/>
          <p:nvPr/>
        </p:nvSpPr>
        <p:spPr>
          <a:xfrm>
            <a:off x="548640" y="5532120"/>
            <a:ext cx="11094415" cy="640080"/>
          </a:xfrm>
          <a:prstGeom prst="rect">
            <a:avLst/>
          </a:prstGeom>
          <a:solidFill>
            <a:srgbClr val="111111"/>
          </a:solidFill>
          <a:ln w="12700">
            <a:solidFill>
              <a:srgbClr val="111111"/>
            </a:solidFill>
            <a:prstDash val="solid"/>
          </a:ln>
        </p:spPr>
      </p:sp>
      <p:sp>
        <p:nvSpPr>
          <p:cNvPr id="21" name="Text 16"/>
          <p:cNvSpPr txBox="1"/>
          <p:nvPr/>
        </p:nvSpPr>
        <p:spPr>
          <a:xfrm>
            <a:off x="822960" y="5641848"/>
            <a:ext cx="10545775"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Not sure? Treat it as a yes and ask the AI review board. A sensitive use isn't a no. It's a yes with the right people in the room.</a:t>
            </a:r>
            <a:endParaRPr lang="en-US" sz="1500" dirty="0"/>
          </a:p>
        </p:txBody>
      </p:sp>
      <p:sp>
        <p:nvSpPr>
          <p:cNvPr id="22" name="Text 17"/>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23" name="Text 18"/>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QUICK CHECK</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Which principle is most at stake?</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Discuss in pairs for two minutes. Answers are in the speaker notes.</a:t>
            </a:r>
            <a:endParaRPr lang="en-US" sz="1600" dirty="0"/>
          </a:p>
        </p:txBody>
      </p:sp>
      <p:sp>
        <p:nvSpPr>
          <p:cNvPr id="5" name="Shape 3"/>
          <p:cNvSpPr/>
          <p:nvPr/>
        </p:nvSpPr>
        <p:spPr>
          <a:xfrm>
            <a:off x="548640" y="2194560"/>
            <a:ext cx="5440680" cy="1691640"/>
          </a:xfrm>
          <a:prstGeom prst="rect">
            <a:avLst/>
          </a:prstGeom>
          <a:solidFill>
            <a:srgbClr val="F4F4F4"/>
          </a:solidFill>
          <a:ln w="12700">
            <a:solidFill>
              <a:srgbClr val="F4F4F4"/>
            </a:solidFill>
            <a:prstDash val="solid"/>
          </a:ln>
        </p:spPr>
      </p:sp>
      <p:sp>
        <p:nvSpPr>
          <p:cNvPr id="6" name="Text 4"/>
          <p:cNvSpPr txBox="1"/>
          <p:nvPr/>
        </p:nvSpPr>
        <p:spPr>
          <a:xfrm>
            <a:off x="822960" y="2423160"/>
            <a:ext cx="731520" cy="822960"/>
          </a:xfrm>
          <a:prstGeom prst="rect">
            <a:avLst/>
          </a:prstGeom>
          <a:noFill/>
          <a:ln/>
        </p:spPr>
        <p:txBody>
          <a:bodyPr wrap="square" lIns="0" tIns="0" rIns="0" bIns="0" rtlCol="0" anchor="t"/>
          <a:lstStyle/>
          <a:p>
            <a:pPr indent="0" marL="0">
              <a:buNone/>
            </a:pPr>
            <a:r>
              <a:rPr lang="en-US" sz="4000" b="1" dirty="0">
                <a:solidFill>
                  <a:srgbClr val="E4002B"/>
                </a:solidFill>
                <a:latin typeface="Arial" pitchFamily="34" charset="0"/>
                <a:ea typeface="Arial" pitchFamily="34" charset="-122"/>
                <a:cs typeface="Arial" pitchFamily="34" charset="-120"/>
              </a:rPr>
              <a:t>A</a:t>
            </a:r>
            <a:endParaRPr lang="en-US" sz="4000" dirty="0"/>
          </a:p>
        </p:txBody>
      </p:sp>
      <p:sp>
        <p:nvSpPr>
          <p:cNvPr id="7" name="Text 5"/>
          <p:cNvSpPr txBox="1"/>
          <p:nvPr/>
        </p:nvSpPr>
        <p:spPr>
          <a:xfrm>
            <a:off x="1645920" y="2468880"/>
            <a:ext cx="4114800"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A chatbot answers customers without anyone checking, and nobody told them it's AI.</a:t>
            </a:r>
            <a:endParaRPr lang="en-US" sz="1600" dirty="0"/>
          </a:p>
        </p:txBody>
      </p:sp>
      <p:sp>
        <p:nvSpPr>
          <p:cNvPr id="8" name="Shape 6"/>
          <p:cNvSpPr/>
          <p:nvPr/>
        </p:nvSpPr>
        <p:spPr>
          <a:xfrm>
            <a:off x="6172200" y="2194560"/>
            <a:ext cx="5440680" cy="1691640"/>
          </a:xfrm>
          <a:prstGeom prst="rect">
            <a:avLst/>
          </a:prstGeom>
          <a:solidFill>
            <a:srgbClr val="F4F4F4"/>
          </a:solidFill>
          <a:ln w="12700">
            <a:solidFill>
              <a:srgbClr val="F4F4F4"/>
            </a:solidFill>
            <a:prstDash val="solid"/>
          </a:ln>
        </p:spPr>
      </p:sp>
      <p:sp>
        <p:nvSpPr>
          <p:cNvPr id="9" name="Text 7"/>
          <p:cNvSpPr txBox="1"/>
          <p:nvPr/>
        </p:nvSpPr>
        <p:spPr>
          <a:xfrm>
            <a:off x="6446520" y="2423160"/>
            <a:ext cx="731520" cy="822960"/>
          </a:xfrm>
          <a:prstGeom prst="rect">
            <a:avLst/>
          </a:prstGeom>
          <a:noFill/>
          <a:ln/>
        </p:spPr>
        <p:txBody>
          <a:bodyPr wrap="square" lIns="0" tIns="0" rIns="0" bIns="0" rtlCol="0" anchor="t"/>
          <a:lstStyle/>
          <a:p>
            <a:pPr indent="0" marL="0">
              <a:buNone/>
            </a:pPr>
            <a:r>
              <a:rPr lang="en-US" sz="4000" b="1" dirty="0">
                <a:solidFill>
                  <a:srgbClr val="E4002B"/>
                </a:solidFill>
                <a:latin typeface="Arial" pitchFamily="34" charset="0"/>
                <a:ea typeface="Arial" pitchFamily="34" charset="-122"/>
                <a:cs typeface="Arial" pitchFamily="34" charset="-120"/>
              </a:rPr>
              <a:t>B</a:t>
            </a:r>
            <a:endParaRPr lang="en-US" sz="4000" dirty="0"/>
          </a:p>
        </p:txBody>
      </p:sp>
      <p:sp>
        <p:nvSpPr>
          <p:cNvPr id="10" name="Text 8"/>
          <p:cNvSpPr txBox="1"/>
          <p:nvPr/>
        </p:nvSpPr>
        <p:spPr>
          <a:xfrm>
            <a:off x="7269480" y="2468880"/>
            <a:ext cx="4114800"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Copilot surfaces a salary spreadsheet shared with the whole company by mistake.</a:t>
            </a:r>
            <a:endParaRPr lang="en-US" sz="1600" dirty="0"/>
          </a:p>
        </p:txBody>
      </p:sp>
      <p:sp>
        <p:nvSpPr>
          <p:cNvPr id="11" name="Shape 9"/>
          <p:cNvSpPr/>
          <p:nvPr/>
        </p:nvSpPr>
        <p:spPr>
          <a:xfrm>
            <a:off x="548640" y="4114800"/>
            <a:ext cx="5440680" cy="1691640"/>
          </a:xfrm>
          <a:prstGeom prst="rect">
            <a:avLst/>
          </a:prstGeom>
          <a:solidFill>
            <a:srgbClr val="F4F4F4"/>
          </a:solidFill>
          <a:ln w="12700">
            <a:solidFill>
              <a:srgbClr val="F4F4F4"/>
            </a:solidFill>
            <a:prstDash val="solid"/>
          </a:ln>
        </p:spPr>
      </p:sp>
      <p:sp>
        <p:nvSpPr>
          <p:cNvPr id="12" name="Text 10"/>
          <p:cNvSpPr txBox="1"/>
          <p:nvPr/>
        </p:nvSpPr>
        <p:spPr>
          <a:xfrm>
            <a:off x="822960" y="4343400"/>
            <a:ext cx="731520" cy="822960"/>
          </a:xfrm>
          <a:prstGeom prst="rect">
            <a:avLst/>
          </a:prstGeom>
          <a:noFill/>
          <a:ln/>
        </p:spPr>
        <p:txBody>
          <a:bodyPr wrap="square" lIns="0" tIns="0" rIns="0" bIns="0" rtlCol="0" anchor="t"/>
          <a:lstStyle/>
          <a:p>
            <a:pPr indent="0" marL="0">
              <a:buNone/>
            </a:pPr>
            <a:r>
              <a:rPr lang="en-US" sz="4000" b="1" dirty="0">
                <a:solidFill>
                  <a:srgbClr val="E4002B"/>
                </a:solidFill>
                <a:latin typeface="Arial" pitchFamily="34" charset="0"/>
                <a:ea typeface="Arial" pitchFamily="34" charset="-122"/>
                <a:cs typeface="Arial" pitchFamily="34" charset="-120"/>
              </a:rPr>
              <a:t>C</a:t>
            </a:r>
            <a:endParaRPr lang="en-US" sz="4000" dirty="0"/>
          </a:p>
        </p:txBody>
      </p:sp>
      <p:sp>
        <p:nvSpPr>
          <p:cNvPr id="13" name="Text 11"/>
          <p:cNvSpPr txBox="1"/>
          <p:nvPr/>
        </p:nvSpPr>
        <p:spPr>
          <a:xfrm>
            <a:off x="1645920" y="4389120"/>
            <a:ext cx="4114800"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An AI tool ranks employees for the annual performance review.</a:t>
            </a:r>
            <a:endParaRPr lang="en-US" sz="1600" dirty="0"/>
          </a:p>
        </p:txBody>
      </p:sp>
      <p:sp>
        <p:nvSpPr>
          <p:cNvPr id="14" name="Shape 12"/>
          <p:cNvSpPr/>
          <p:nvPr/>
        </p:nvSpPr>
        <p:spPr>
          <a:xfrm>
            <a:off x="6172200" y="4114800"/>
            <a:ext cx="5440680" cy="1691640"/>
          </a:xfrm>
          <a:prstGeom prst="rect">
            <a:avLst/>
          </a:prstGeom>
          <a:solidFill>
            <a:srgbClr val="F4F4F4"/>
          </a:solidFill>
          <a:ln w="12700">
            <a:solidFill>
              <a:srgbClr val="F4F4F4"/>
            </a:solidFill>
            <a:prstDash val="solid"/>
          </a:ln>
        </p:spPr>
      </p:sp>
      <p:sp>
        <p:nvSpPr>
          <p:cNvPr id="15" name="Text 13"/>
          <p:cNvSpPr txBox="1"/>
          <p:nvPr/>
        </p:nvSpPr>
        <p:spPr>
          <a:xfrm>
            <a:off x="6446520" y="4343400"/>
            <a:ext cx="731520" cy="822960"/>
          </a:xfrm>
          <a:prstGeom prst="rect">
            <a:avLst/>
          </a:prstGeom>
          <a:noFill/>
          <a:ln/>
        </p:spPr>
        <p:txBody>
          <a:bodyPr wrap="square" lIns="0" tIns="0" rIns="0" bIns="0" rtlCol="0" anchor="t"/>
          <a:lstStyle/>
          <a:p>
            <a:pPr indent="0" marL="0">
              <a:buNone/>
            </a:pPr>
            <a:r>
              <a:rPr lang="en-US" sz="4000" b="1" dirty="0">
                <a:solidFill>
                  <a:srgbClr val="E4002B"/>
                </a:solidFill>
                <a:latin typeface="Arial" pitchFamily="34" charset="0"/>
                <a:ea typeface="Arial" pitchFamily="34" charset="-122"/>
                <a:cs typeface="Arial" pitchFamily="34" charset="-120"/>
              </a:rPr>
              <a:t>D</a:t>
            </a:r>
            <a:endParaRPr lang="en-US" sz="4000" dirty="0"/>
          </a:p>
        </p:txBody>
      </p:sp>
      <p:sp>
        <p:nvSpPr>
          <p:cNvPr id="16" name="Text 14"/>
          <p:cNvSpPr txBox="1"/>
          <p:nvPr/>
        </p:nvSpPr>
        <p:spPr>
          <a:xfrm>
            <a:off x="7269480" y="4389120"/>
            <a:ext cx="4114800" cy="128016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A report generator gets figures wrong and nobody notices for a month.</a:t>
            </a:r>
            <a:endParaRPr lang="en-US" sz="1600" dirty="0"/>
          </a:p>
        </p:txBody>
      </p:sp>
      <p:sp>
        <p:nvSpPr>
          <p:cNvPr id="17" name="Text 15"/>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18" name="Text 16"/>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4002B"/>
        </a:solidFill>
      </p:bgPr>
    </p:bg>
    <p:spTree>
      <p:nvGrpSpPr>
        <p:cNvPr id="1" name=""/>
        <p:cNvGrpSpPr/>
        <p:nvPr/>
      </p:nvGrpSpPr>
      <p:grpSpPr>
        <a:xfrm>
          <a:off x="0" y="0"/>
          <a:ext cx="0" cy="0"/>
          <a:chOff x="0" y="0"/>
          <a:chExt cx="0" cy="0"/>
        </a:xfrm>
      </p:grpSpPr>
      <p:sp>
        <p:nvSpPr>
          <p:cNvPr id="2" name="Text 0"/>
          <p:cNvSpPr txBox="1"/>
          <p:nvPr/>
        </p:nvSpPr>
        <p:spPr>
          <a:xfrm>
            <a:off x="548640" y="1005840"/>
            <a:ext cx="3657600" cy="1463040"/>
          </a:xfrm>
          <a:prstGeom prst="rect">
            <a:avLst/>
          </a:prstGeom>
          <a:noFill/>
          <a:ln/>
        </p:spPr>
        <p:txBody>
          <a:bodyPr wrap="square" lIns="0" tIns="0" rIns="0" bIns="0" rtlCol="0" anchor="t"/>
          <a:lstStyle/>
          <a:p>
            <a:pPr indent="0" marL="0">
              <a:buNone/>
            </a:pPr>
            <a:r>
              <a:rPr lang="en-US" sz="11000" b="1" dirty="0">
                <a:solidFill>
                  <a:srgbClr val="FFFFFF"/>
                </a:solidFill>
                <a:latin typeface="Arial" pitchFamily="34" charset="0"/>
                <a:ea typeface="Arial" pitchFamily="34" charset="-122"/>
                <a:cs typeface="Arial" pitchFamily="34" charset="-120"/>
              </a:rPr>
              <a:t>03</a:t>
            </a:r>
            <a:endParaRPr lang="en-US" sz="11000" dirty="0"/>
          </a:p>
        </p:txBody>
      </p:sp>
      <p:sp>
        <p:nvSpPr>
          <p:cNvPr id="3" name="Text 1"/>
          <p:cNvSpPr txBox="1"/>
          <p:nvPr/>
        </p:nvSpPr>
        <p:spPr>
          <a:xfrm>
            <a:off x="548640" y="2697480"/>
            <a:ext cx="10515600" cy="1371600"/>
          </a:xfrm>
          <a:prstGeom prst="rect">
            <a:avLst/>
          </a:prstGeom>
          <a:noFill/>
          <a:ln/>
        </p:spPr>
        <p:txBody>
          <a:bodyPr wrap="square" lIns="0" tIns="0" rIns="0" bIns="0" rtlCol="0" anchor="b"/>
          <a:lstStyle/>
          <a:p>
            <a:pPr indent="0" marL="0">
              <a:buNone/>
            </a:pPr>
            <a:r>
              <a:rPr lang="en-US" sz="4000" b="1" dirty="0">
                <a:solidFill>
                  <a:srgbClr val="FFFFFF"/>
                </a:solidFill>
                <a:latin typeface="Arial" pitchFamily="34" charset="0"/>
                <a:ea typeface="Arial" pitchFamily="34" charset="-122"/>
                <a:cs typeface="Arial" pitchFamily="34" charset="-120"/>
              </a:rPr>
              <a:t>Using AI safely every day</a:t>
            </a:r>
            <a:endParaRPr lang="en-US" sz="4000" dirty="0"/>
          </a:p>
        </p:txBody>
      </p:sp>
      <p:sp>
        <p:nvSpPr>
          <p:cNvPr id="4" name="Text 2"/>
          <p:cNvSpPr txBox="1"/>
          <p:nvPr/>
        </p:nvSpPr>
        <p:spPr>
          <a:xfrm>
            <a:off x="548640" y="4343400"/>
            <a:ext cx="9601200" cy="822960"/>
          </a:xfrm>
          <a:prstGeom prst="rect">
            <a:avLst/>
          </a:prstGeom>
          <a:noFill/>
          <a:ln/>
        </p:spPr>
        <p:txBody>
          <a:bodyPr wrap="square" lIns="0" tIns="0" rIns="0" bIns="0" rtlCol="0" anchor="t"/>
          <a:lstStyle/>
          <a:p>
            <a:pPr indent="0" marL="0">
              <a:buNone/>
            </a:pPr>
            <a:r>
              <a:rPr lang="en-US" sz="1800" dirty="0">
                <a:solidFill>
                  <a:srgbClr val="FFE3E8"/>
                </a:solidFill>
                <a:latin typeface="Arial" pitchFamily="34" charset="0"/>
                <a:ea typeface="Arial" pitchFamily="34" charset="-122"/>
                <a:cs typeface="Arial" pitchFamily="34" charset="-120"/>
              </a:rPr>
              <a:t>Approved tools, careful sharing, and checking before anything leaves your hands</a:t>
            </a:r>
            <a:endParaRPr lang="en-US" sz="1800" dirty="0"/>
          </a:p>
        </p:txBody>
      </p:sp>
      <p:sp>
        <p:nvSpPr>
          <p:cNvPr id="5" name="Text 3"/>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FFD1D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EVERY DAY</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What's safe to use with AI</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Our AI policy is the final word. These are the common-sense basics.</a:t>
            </a:r>
            <a:endParaRPr lang="en-US" sz="1600" dirty="0"/>
          </a:p>
        </p:txBody>
      </p:sp>
      <p:sp>
        <p:nvSpPr>
          <p:cNvPr id="5" name="Shape 3"/>
          <p:cNvSpPr/>
          <p:nvPr/>
        </p:nvSpPr>
        <p:spPr>
          <a:xfrm>
            <a:off x="548640" y="2194560"/>
            <a:ext cx="3520440" cy="3840480"/>
          </a:xfrm>
          <a:prstGeom prst="rect">
            <a:avLst/>
          </a:prstGeom>
          <a:solidFill>
            <a:srgbClr val="F4F4F4"/>
          </a:solidFill>
          <a:ln w="12700">
            <a:solidFill>
              <a:srgbClr val="F4F4F4"/>
            </a:solidFill>
            <a:prstDash val="solid"/>
          </a:ln>
        </p:spPr>
      </p:sp>
      <p:sp>
        <p:nvSpPr>
          <p:cNvPr id="6" name="Shape 4"/>
          <p:cNvSpPr/>
          <p:nvPr/>
        </p:nvSpPr>
        <p:spPr>
          <a:xfrm>
            <a:off x="822960" y="2423160"/>
            <a:ext cx="731520" cy="731520"/>
          </a:xfrm>
          <a:prstGeom prst="ellipse">
            <a:avLst/>
          </a:prstGeom>
          <a:solidFill>
            <a:srgbClr val="111111"/>
          </a:solidFill>
          <a:ln w="12700">
            <a:solidFill>
              <a:srgbClr val="111111"/>
            </a:solidFill>
            <a:prstDash val="solid"/>
          </a:ln>
        </p:spPr>
      </p:sp>
      <p:pic>
        <p:nvPicPr>
          <p:cNvPr id="7" name="Image 0" descr="preencoded.png">    </p:cNvPr>
          <p:cNvPicPr>
            <a:picLocks noChangeAspect="1"/>
          </p:cNvPicPr>
          <p:nvPr/>
        </p:nvPicPr>
        <p:blipFill>
          <a:blip r:embed="rId1"/>
          <a:stretch>
            <a:fillRect/>
          </a:stretch>
        </p:blipFill>
        <p:spPr>
          <a:xfrm>
            <a:off x="1005840" y="2606040"/>
            <a:ext cx="365760" cy="365760"/>
          </a:xfrm>
          <a:prstGeom prst="rect">
            <a:avLst/>
          </a:prstGeom>
        </p:spPr>
      </p:pic>
      <p:sp>
        <p:nvSpPr>
          <p:cNvPr id="8" name="Text 5"/>
          <p:cNvSpPr txBox="1"/>
          <p:nvPr/>
        </p:nvSpPr>
        <p:spPr>
          <a:xfrm>
            <a:off x="1737360" y="2542032"/>
            <a:ext cx="219456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Go ahead</a:t>
            </a:r>
            <a:endParaRPr lang="en-US" sz="2200" dirty="0"/>
          </a:p>
        </p:txBody>
      </p:sp>
      <p:sp>
        <p:nvSpPr>
          <p:cNvPr id="9" name="Text 6"/>
          <p:cNvSpPr txBox="1"/>
          <p:nvPr/>
        </p:nvSpPr>
        <p:spPr>
          <a:xfrm>
            <a:off x="822960" y="3429000"/>
            <a:ext cx="3017520" cy="2468880"/>
          </a:xfrm>
          <a:prstGeom prst="rect">
            <a:avLst/>
          </a:prstGeom>
          <a:noFill/>
          <a:ln/>
        </p:spPr>
        <p:txBody>
          <a:bodyPr wrap="square" rtlCol="0" anchor="t"/>
          <a:lstStyle/>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General business information in approved tools</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Your own notes, drafts and documents</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Public information</a:t>
            </a:r>
            <a:endParaRPr lang="en-US" sz="1500" dirty="0"/>
          </a:p>
        </p:txBody>
      </p:sp>
      <p:sp>
        <p:nvSpPr>
          <p:cNvPr id="10" name="Shape 7"/>
          <p:cNvSpPr/>
          <p:nvPr/>
        </p:nvSpPr>
        <p:spPr>
          <a:xfrm>
            <a:off x="4297680" y="2194560"/>
            <a:ext cx="3520440" cy="3840480"/>
          </a:xfrm>
          <a:prstGeom prst="rect">
            <a:avLst/>
          </a:prstGeom>
          <a:solidFill>
            <a:srgbClr val="F4F4F4"/>
          </a:solidFill>
          <a:ln w="12700">
            <a:solidFill>
              <a:srgbClr val="F4F4F4"/>
            </a:solidFill>
            <a:prstDash val="solid"/>
          </a:ln>
        </p:spPr>
      </p:sp>
      <p:sp>
        <p:nvSpPr>
          <p:cNvPr id="11" name="Shape 8"/>
          <p:cNvSpPr/>
          <p:nvPr/>
        </p:nvSpPr>
        <p:spPr>
          <a:xfrm>
            <a:off x="4572000" y="2423160"/>
            <a:ext cx="731520" cy="731520"/>
          </a:xfrm>
          <a:prstGeom prst="ellipse">
            <a:avLst/>
          </a:prstGeom>
          <a:solidFill>
            <a:srgbClr val="6B6B6B"/>
          </a:solidFill>
          <a:ln w="12700">
            <a:solidFill>
              <a:srgbClr val="6B6B6B"/>
            </a:solidFill>
            <a:prstDash val="solid"/>
          </a:ln>
        </p:spPr>
      </p:sp>
      <p:pic>
        <p:nvPicPr>
          <p:cNvPr id="12" name="Image 1" descr="preencoded.png">    </p:cNvPr>
          <p:cNvPicPr>
            <a:picLocks noChangeAspect="1"/>
          </p:cNvPicPr>
          <p:nvPr/>
        </p:nvPicPr>
        <p:blipFill>
          <a:blip r:embed="rId2"/>
          <a:stretch>
            <a:fillRect/>
          </a:stretch>
        </p:blipFill>
        <p:spPr>
          <a:xfrm>
            <a:off x="4754880" y="2606040"/>
            <a:ext cx="365760" cy="365760"/>
          </a:xfrm>
          <a:prstGeom prst="rect">
            <a:avLst/>
          </a:prstGeom>
        </p:spPr>
      </p:pic>
      <p:sp>
        <p:nvSpPr>
          <p:cNvPr id="13" name="Text 9"/>
          <p:cNvSpPr txBox="1"/>
          <p:nvPr/>
        </p:nvSpPr>
        <p:spPr>
          <a:xfrm>
            <a:off x="5486400" y="2542032"/>
            <a:ext cx="219456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Take care</a:t>
            </a:r>
            <a:endParaRPr lang="en-US" sz="2200" dirty="0"/>
          </a:p>
        </p:txBody>
      </p:sp>
      <p:sp>
        <p:nvSpPr>
          <p:cNvPr id="14" name="Text 10"/>
          <p:cNvSpPr txBox="1"/>
          <p:nvPr/>
        </p:nvSpPr>
        <p:spPr>
          <a:xfrm>
            <a:off x="4572000" y="3429000"/>
            <a:ext cx="3017520" cy="2468880"/>
          </a:xfrm>
          <a:prstGeom prst="rect">
            <a:avLst/>
          </a:prstGeom>
          <a:noFill/>
          <a:ln/>
        </p:spPr>
        <p:txBody>
          <a:bodyPr wrap="square" rtlCol="0" anchor="t"/>
          <a:lstStyle/>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Personal data about customers or employees</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Confidential or labelled documents</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Only in approved tools, and only the fields you need</a:t>
            </a:r>
            <a:endParaRPr lang="en-US" sz="1500" dirty="0"/>
          </a:p>
        </p:txBody>
      </p:sp>
      <p:sp>
        <p:nvSpPr>
          <p:cNvPr id="15" name="Shape 11"/>
          <p:cNvSpPr/>
          <p:nvPr/>
        </p:nvSpPr>
        <p:spPr>
          <a:xfrm>
            <a:off x="8046720" y="2194560"/>
            <a:ext cx="3520440" cy="3840480"/>
          </a:xfrm>
          <a:prstGeom prst="rect">
            <a:avLst/>
          </a:prstGeom>
          <a:solidFill>
            <a:srgbClr val="FDECEF"/>
          </a:solidFill>
          <a:ln w="12700">
            <a:solidFill>
              <a:srgbClr val="FDECEF"/>
            </a:solidFill>
            <a:prstDash val="solid"/>
          </a:ln>
        </p:spPr>
      </p:sp>
      <p:sp>
        <p:nvSpPr>
          <p:cNvPr id="16" name="Shape 12"/>
          <p:cNvSpPr/>
          <p:nvPr/>
        </p:nvSpPr>
        <p:spPr>
          <a:xfrm>
            <a:off x="8321040" y="2423160"/>
            <a:ext cx="731520" cy="731520"/>
          </a:xfrm>
          <a:prstGeom prst="ellipse">
            <a:avLst/>
          </a:prstGeom>
          <a:solidFill>
            <a:srgbClr val="E4002B"/>
          </a:solidFill>
          <a:ln w="12700">
            <a:solidFill>
              <a:srgbClr val="E4002B"/>
            </a:solidFill>
            <a:prstDash val="solid"/>
          </a:ln>
        </p:spPr>
      </p:sp>
      <p:pic>
        <p:nvPicPr>
          <p:cNvPr id="17" name="Image 2" descr="preencoded.png">    </p:cNvPr>
          <p:cNvPicPr>
            <a:picLocks noChangeAspect="1"/>
          </p:cNvPicPr>
          <p:nvPr/>
        </p:nvPicPr>
        <p:blipFill>
          <a:blip r:embed="rId3"/>
          <a:stretch>
            <a:fillRect/>
          </a:stretch>
        </p:blipFill>
        <p:spPr>
          <a:xfrm>
            <a:off x="8503920" y="2606040"/>
            <a:ext cx="365760" cy="365760"/>
          </a:xfrm>
          <a:prstGeom prst="rect">
            <a:avLst/>
          </a:prstGeom>
        </p:spPr>
      </p:pic>
      <p:sp>
        <p:nvSpPr>
          <p:cNvPr id="18" name="Text 13"/>
          <p:cNvSpPr txBox="1"/>
          <p:nvPr/>
        </p:nvSpPr>
        <p:spPr>
          <a:xfrm>
            <a:off x="9235440" y="2542032"/>
            <a:ext cx="219456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Don't</a:t>
            </a:r>
            <a:endParaRPr lang="en-US" sz="2200" dirty="0"/>
          </a:p>
        </p:txBody>
      </p:sp>
      <p:sp>
        <p:nvSpPr>
          <p:cNvPr id="19" name="Text 14"/>
          <p:cNvSpPr txBox="1"/>
          <p:nvPr/>
        </p:nvSpPr>
        <p:spPr>
          <a:xfrm>
            <a:off x="8321040" y="3429000"/>
            <a:ext cx="3017520" cy="2468880"/>
          </a:xfrm>
          <a:prstGeom prst="rect">
            <a:avLst/>
          </a:prstGeom>
          <a:noFill/>
          <a:ln/>
        </p:spPr>
        <p:txBody>
          <a:bodyPr wrap="square" rtlCol="0" anchor="t"/>
          <a:lstStyle/>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Company data in personal or unapproved AI tools</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Passwords, keys or payment card data</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Regulated or NDA data without written approval</a:t>
            </a:r>
            <a:endParaRPr lang="en-US" sz="1500" dirty="0"/>
          </a:p>
        </p:txBody>
      </p:sp>
      <p:sp>
        <p:nvSpPr>
          <p:cNvPr id="20" name="Text 15"/>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21" name="Text 16"/>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EVERY DAY</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Copilot sees what you can see, so share on purpose</a:t>
            </a:r>
            <a:endParaRPr lang="en-US" sz="3200" dirty="0"/>
          </a:p>
        </p:txBody>
      </p:sp>
      <p:sp>
        <p:nvSpPr>
          <p:cNvPr id="4" name="Text 2"/>
          <p:cNvSpPr txBox="1"/>
          <p:nvPr/>
        </p:nvSpPr>
        <p:spPr>
          <a:xfrm>
            <a:off x="548640" y="1737360"/>
            <a:ext cx="5669280" cy="4206240"/>
          </a:xfrm>
          <a:prstGeom prst="rect">
            <a:avLst/>
          </a:prstGeom>
          <a:noFill/>
          <a:ln/>
        </p:spPr>
        <p:txBody>
          <a:bodyPr wrap="square" rtlCol="0" anchor="t"/>
          <a:lstStyle/>
          <a:p>
            <a:pPr marL="228600" indent="-228600">
              <a:buSzPct val="100000"/>
              <a:buChar char="•"/>
            </a:pPr>
            <a:r>
              <a:rPr lang="en-US" sz="1600" b="1" dirty="0">
                <a:solidFill>
                  <a:srgbClr val="111111"/>
                </a:solidFill>
                <a:latin typeface="Arial" pitchFamily="34" charset="0"/>
                <a:ea typeface="Arial" pitchFamily="34" charset="-122"/>
                <a:cs typeface="Arial" pitchFamily="34" charset="-120"/>
              </a:rPr>
              <a:t>It respects your permissions. </a:t>
            </a:r>
            <a:pPr indent="0" marL="0">
              <a:spcAft>
                <a:spcPts val="1000"/>
              </a:spcAft>
              <a:buNone/>
            </a:pPr>
            <a:r>
              <a:rPr lang="en-US" sz="1600" dirty="0">
                <a:solidFill>
                  <a:srgbClr val="3D3D3D"/>
                </a:solidFill>
                <a:latin typeface="Arial" pitchFamily="34" charset="0"/>
                <a:ea typeface="Arial" pitchFamily="34" charset="-122"/>
                <a:cs typeface="Arial" pitchFamily="34" charset="-120"/>
              </a:rPr>
              <a:t>Copilot only uses content you can already open.</a:t>
            </a:r>
            <a:endParaRPr lang="en-US" sz="1600" dirty="0"/>
          </a:p>
          <a:p>
            <a:pPr marL="228600" indent="-228600">
              <a:buSzPct val="100000"/>
              <a:buChar char="•"/>
            </a:pPr>
            <a:r>
              <a:rPr lang="en-US" sz="1600" b="1" dirty="0">
                <a:solidFill>
                  <a:srgbClr val="111111"/>
                </a:solidFill>
                <a:latin typeface="Arial" pitchFamily="34" charset="0"/>
                <a:ea typeface="Arial" pitchFamily="34" charset="-122"/>
                <a:cs typeface="Arial" pitchFamily="34" charset="-120"/>
              </a:rPr>
              <a:t>But it finds things fast. </a:t>
            </a:r>
            <a:pPr indent="0" marL="0">
              <a:spcAft>
                <a:spcPts val="1000"/>
              </a:spcAft>
              <a:buNone/>
            </a:pPr>
            <a:r>
              <a:rPr lang="en-US" sz="1600" dirty="0">
                <a:solidFill>
                  <a:srgbClr val="3D3D3D"/>
                </a:solidFill>
                <a:latin typeface="Arial" pitchFamily="34" charset="0"/>
                <a:ea typeface="Arial" pitchFamily="34" charset="-122"/>
                <a:cs typeface="Arial" pitchFamily="34" charset="-120"/>
              </a:rPr>
              <a:t>A folder shared with everyone by mistake can show up in anyone's answer.</a:t>
            </a:r>
            <a:endParaRPr lang="en-US" sz="1600" dirty="0"/>
          </a:p>
          <a:p>
            <a:pPr marL="228600" indent="-228600">
              <a:buSzPct val="100000"/>
              <a:buChar char="•"/>
            </a:pPr>
            <a:r>
              <a:rPr lang="en-US" sz="1600" b="1" dirty="0">
                <a:solidFill>
                  <a:srgbClr val="111111"/>
                </a:solidFill>
                <a:latin typeface="Arial" pitchFamily="34" charset="0"/>
                <a:ea typeface="Arial" pitchFamily="34" charset="-122"/>
                <a:cs typeface="Arial" pitchFamily="34" charset="-120"/>
              </a:rPr>
              <a:t>Sensitivity labels matter. </a:t>
            </a:r>
            <a:pPr indent="0" marL="0">
              <a:spcAft>
                <a:spcPts val="1000"/>
              </a:spcAft>
              <a:buNone/>
            </a:pPr>
            <a:r>
              <a:rPr lang="en-US" sz="1600" dirty="0">
                <a:solidFill>
                  <a:srgbClr val="3D3D3D"/>
                </a:solidFill>
                <a:latin typeface="Arial" pitchFamily="34" charset="0"/>
                <a:ea typeface="Arial" pitchFamily="34" charset="-122"/>
                <a:cs typeface="Arial" pitchFamily="34" charset="-120"/>
              </a:rPr>
              <a:t>Label confidential files. Copilot respects labels, and content it creates from a labelled file picks up the label.</a:t>
            </a:r>
            <a:endParaRPr lang="en-US" sz="1600" dirty="0"/>
          </a:p>
          <a:p>
            <a:pPr marL="228600" indent="-228600">
              <a:buSzPct val="100000"/>
              <a:buChar char="•"/>
            </a:pPr>
            <a:r>
              <a:rPr lang="en-US" sz="1600" b="1" dirty="0">
                <a:solidFill>
                  <a:srgbClr val="111111"/>
                </a:solidFill>
                <a:latin typeface="Arial" pitchFamily="34" charset="0"/>
                <a:ea typeface="Arial" pitchFamily="34" charset="-122"/>
                <a:cs typeface="Arial" pitchFamily="34" charset="-120"/>
              </a:rPr>
              <a:t>Check the references. </a:t>
            </a:r>
            <a:pPr indent="0" marL="0">
              <a:spcAft>
                <a:spcPts val="1000"/>
              </a:spcAft>
              <a:buNone/>
            </a:pPr>
            <a:r>
              <a:rPr lang="en-US" sz="1600" dirty="0">
                <a:solidFill>
                  <a:srgbClr val="3D3D3D"/>
                </a:solidFill>
                <a:latin typeface="Arial" pitchFamily="34" charset="0"/>
                <a:ea typeface="Arial" pitchFamily="34" charset="-122"/>
                <a:cs typeface="Arial" pitchFamily="34" charset="-120"/>
              </a:rPr>
              <a:t>If Copilot cites something you didn't expect to see, tell the owner.</a:t>
            </a:r>
            <a:endParaRPr lang="en-US" sz="1600" dirty="0"/>
          </a:p>
        </p:txBody>
      </p:sp>
      <p:sp>
        <p:nvSpPr>
          <p:cNvPr id="5" name="Shape 3"/>
          <p:cNvSpPr/>
          <p:nvPr/>
        </p:nvSpPr>
        <p:spPr>
          <a:xfrm>
            <a:off x="6583680" y="1737360"/>
            <a:ext cx="5056632" cy="1965960"/>
          </a:xfrm>
          <a:prstGeom prst="rect">
            <a:avLst/>
          </a:prstGeom>
          <a:solidFill>
            <a:srgbClr val="FDECEF"/>
          </a:solidFill>
          <a:ln w="12700">
            <a:solidFill>
              <a:srgbClr val="FDECEF"/>
            </a:solidFill>
            <a:prstDash val="solid"/>
          </a:ln>
        </p:spPr>
      </p:sp>
      <p:sp>
        <p:nvSpPr>
          <p:cNvPr id="6" name="Text 4"/>
          <p:cNvSpPr txBox="1"/>
          <p:nvPr/>
        </p:nvSpPr>
        <p:spPr>
          <a:xfrm>
            <a:off x="6812280" y="1874520"/>
            <a:ext cx="1828800" cy="274320"/>
          </a:xfrm>
          <a:prstGeom prst="rect">
            <a:avLst/>
          </a:prstGeom>
          <a:noFill/>
          <a:ln/>
        </p:spPr>
        <p:txBody>
          <a:bodyPr wrap="square" lIns="0" tIns="0" rIns="0" bIns="0" rtlCol="0" anchor="t"/>
          <a:lstStyle/>
          <a:p>
            <a:pPr indent="0" marL="0">
              <a:buNone/>
            </a:pPr>
            <a:r>
              <a:rPr lang="en-US" sz="1100" b="1" spc="200" kern="0" dirty="0">
                <a:solidFill>
                  <a:srgbClr val="E4002B"/>
                </a:solidFill>
                <a:latin typeface="Arial" pitchFamily="34" charset="0"/>
                <a:ea typeface="Arial" pitchFamily="34" charset="-122"/>
                <a:cs typeface="Arial" pitchFamily="34" charset="-120"/>
              </a:rPr>
              <a:t>RISKY</a:t>
            </a:r>
            <a:endParaRPr lang="en-US" sz="1100" dirty="0"/>
          </a:p>
        </p:txBody>
      </p:sp>
      <p:sp>
        <p:nvSpPr>
          <p:cNvPr id="7" name="Text 5"/>
          <p:cNvSpPr txBox="1"/>
          <p:nvPr/>
        </p:nvSpPr>
        <p:spPr>
          <a:xfrm>
            <a:off x="6812280" y="2194560"/>
            <a:ext cx="4572000" cy="914400"/>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Salary review spreadsheet shared with “People in your organization” so two managers could open it.</a:t>
            </a:r>
            <a:endParaRPr lang="en-US" sz="1500" dirty="0"/>
          </a:p>
        </p:txBody>
      </p:sp>
      <p:sp>
        <p:nvSpPr>
          <p:cNvPr id="8" name="Text 6"/>
          <p:cNvSpPr txBox="1"/>
          <p:nvPr/>
        </p:nvSpPr>
        <p:spPr>
          <a:xfrm>
            <a:off x="6812280" y="3154680"/>
            <a:ext cx="4572000" cy="457200"/>
          </a:xfrm>
          <a:prstGeom prst="rect">
            <a:avLst/>
          </a:prstGeom>
          <a:noFill/>
          <a:ln/>
        </p:spPr>
        <p:txBody>
          <a:bodyPr wrap="square" lIns="0" tIns="0" rIns="0" bIns="0" rtlCol="0" anchor="t"/>
          <a:lstStyle/>
          <a:p>
            <a:pPr indent="0" marL="0">
              <a:buNone/>
            </a:pPr>
            <a:r>
              <a:rPr lang="en-US" sz="1300" i="1" dirty="0">
                <a:solidFill>
                  <a:srgbClr val="3D3D3D"/>
                </a:solidFill>
                <a:latin typeface="Arial" pitchFamily="34" charset="0"/>
                <a:ea typeface="Arial" pitchFamily="34" charset="-122"/>
                <a:cs typeface="Arial" pitchFamily="34" charset="-120"/>
              </a:rPr>
              <a:t>Now it can appear in anyone's Copilot answer about pay.</a:t>
            </a:r>
            <a:endParaRPr lang="en-US" sz="1300" dirty="0"/>
          </a:p>
        </p:txBody>
      </p:sp>
      <p:sp>
        <p:nvSpPr>
          <p:cNvPr id="9" name="Shape 7"/>
          <p:cNvSpPr/>
          <p:nvPr/>
        </p:nvSpPr>
        <p:spPr>
          <a:xfrm>
            <a:off x="6583680" y="3931920"/>
            <a:ext cx="5056632" cy="1965960"/>
          </a:xfrm>
          <a:prstGeom prst="rect">
            <a:avLst/>
          </a:prstGeom>
          <a:solidFill>
            <a:srgbClr val="FFFFFF"/>
          </a:solidFill>
          <a:ln w="25400">
            <a:solidFill>
              <a:srgbClr val="111111"/>
            </a:solidFill>
            <a:prstDash val="solid"/>
          </a:ln>
        </p:spPr>
      </p:sp>
      <p:sp>
        <p:nvSpPr>
          <p:cNvPr id="10" name="Text 8"/>
          <p:cNvSpPr txBox="1"/>
          <p:nvPr/>
        </p:nvSpPr>
        <p:spPr>
          <a:xfrm>
            <a:off x="6812280" y="4069080"/>
            <a:ext cx="1828800" cy="274320"/>
          </a:xfrm>
          <a:prstGeom prst="rect">
            <a:avLst/>
          </a:prstGeom>
          <a:noFill/>
          <a:ln/>
        </p:spPr>
        <p:txBody>
          <a:bodyPr wrap="square" lIns="0" tIns="0" rIns="0" bIns="0" rtlCol="0" anchor="t"/>
          <a:lstStyle/>
          <a:p>
            <a:pPr indent="0" marL="0">
              <a:buNone/>
            </a:pPr>
            <a:r>
              <a:rPr lang="en-US" sz="1100" b="1" spc="200" kern="0" dirty="0">
                <a:solidFill>
                  <a:srgbClr val="111111"/>
                </a:solidFill>
                <a:latin typeface="Arial" pitchFamily="34" charset="0"/>
                <a:ea typeface="Arial" pitchFamily="34" charset="-122"/>
                <a:cs typeface="Arial" pitchFamily="34" charset="-120"/>
              </a:rPr>
              <a:t>SAFE</a:t>
            </a:r>
            <a:endParaRPr lang="en-US" sz="1100" dirty="0"/>
          </a:p>
        </p:txBody>
      </p:sp>
      <p:sp>
        <p:nvSpPr>
          <p:cNvPr id="11" name="Text 9"/>
          <p:cNvSpPr txBox="1"/>
          <p:nvPr/>
        </p:nvSpPr>
        <p:spPr>
          <a:xfrm>
            <a:off x="6812280" y="4389120"/>
            <a:ext cx="4572000" cy="914400"/>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Shared with the two managers by name, with the Confidential sensitivity label applied.</a:t>
            </a:r>
            <a:endParaRPr lang="en-US" sz="1500" dirty="0"/>
          </a:p>
        </p:txBody>
      </p:sp>
      <p:sp>
        <p:nvSpPr>
          <p:cNvPr id="12" name="Text 10"/>
          <p:cNvSpPr txBox="1"/>
          <p:nvPr/>
        </p:nvSpPr>
        <p:spPr>
          <a:xfrm>
            <a:off x="6812280" y="5349240"/>
            <a:ext cx="4572000" cy="457200"/>
          </a:xfrm>
          <a:prstGeom prst="rect">
            <a:avLst/>
          </a:prstGeom>
          <a:noFill/>
          <a:ln/>
        </p:spPr>
        <p:txBody>
          <a:bodyPr wrap="square" lIns="0" tIns="0" rIns="0" bIns="0" rtlCol="0" anchor="t"/>
          <a:lstStyle/>
          <a:p>
            <a:pPr indent="0" marL="0">
              <a:buNone/>
            </a:pPr>
            <a:r>
              <a:rPr lang="en-US" sz="1300" i="1" dirty="0">
                <a:solidFill>
                  <a:srgbClr val="3D3D3D"/>
                </a:solidFill>
                <a:latin typeface="Arial" pitchFamily="34" charset="0"/>
                <a:ea typeface="Arial" pitchFamily="34" charset="-122"/>
                <a:cs typeface="Arial" pitchFamily="34" charset="-120"/>
              </a:rPr>
              <a:t>They can open it. Nobody else's Copilot will surface it.</a:t>
            </a:r>
            <a:endParaRPr lang="en-US" sz="1300" dirty="0"/>
          </a:p>
        </p:txBody>
      </p:sp>
      <p:sp>
        <p:nvSpPr>
          <p:cNvPr id="13" name="Text 11"/>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14" name="Text 12"/>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EVERY DAY</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Check it before it leaves your hands</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AI writes fluently even when it's wrong. Your name goes on what you send.</a:t>
            </a:r>
            <a:endParaRPr lang="en-US" sz="1600" dirty="0"/>
          </a:p>
        </p:txBody>
      </p:sp>
      <p:sp>
        <p:nvSpPr>
          <p:cNvPr id="5" name="Shape 3"/>
          <p:cNvSpPr/>
          <p:nvPr/>
        </p:nvSpPr>
        <p:spPr>
          <a:xfrm>
            <a:off x="548640" y="2148840"/>
            <a:ext cx="685800" cy="685800"/>
          </a:xfrm>
          <a:prstGeom prst="ellipse">
            <a:avLst/>
          </a:prstGeom>
          <a:solidFill>
            <a:srgbClr val="111111"/>
          </a:solidFill>
          <a:ln w="12700">
            <a:solidFill>
              <a:srgbClr val="111111"/>
            </a:solidFill>
            <a:prstDash val="solid"/>
          </a:ln>
        </p:spPr>
      </p:sp>
      <p:pic>
        <p:nvPicPr>
          <p:cNvPr id="6" name="Image 0" descr="preencoded.png">    </p:cNvPr>
          <p:cNvPicPr>
            <a:picLocks noChangeAspect="1"/>
          </p:cNvPicPr>
          <p:nvPr/>
        </p:nvPicPr>
        <p:blipFill>
          <a:blip r:embed="rId1"/>
          <a:stretch>
            <a:fillRect/>
          </a:stretch>
        </p:blipFill>
        <p:spPr>
          <a:xfrm>
            <a:off x="720090" y="2320290"/>
            <a:ext cx="342900" cy="342900"/>
          </a:xfrm>
          <a:prstGeom prst="rect">
            <a:avLst/>
          </a:prstGeom>
        </p:spPr>
      </p:pic>
      <p:sp>
        <p:nvSpPr>
          <p:cNvPr id="7" name="Text 4"/>
          <p:cNvSpPr txBox="1"/>
          <p:nvPr/>
        </p:nvSpPr>
        <p:spPr>
          <a:xfrm>
            <a:off x="1463040" y="2194560"/>
            <a:ext cx="2011680" cy="36576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Facts</a:t>
            </a:r>
            <a:endParaRPr lang="en-US" sz="1900" dirty="0"/>
          </a:p>
        </p:txBody>
      </p:sp>
      <p:sp>
        <p:nvSpPr>
          <p:cNvPr id="8" name="Text 5"/>
          <p:cNvSpPr txBox="1"/>
          <p:nvPr/>
        </p:nvSpPr>
        <p:spPr>
          <a:xfrm>
            <a:off x="3383280" y="2221992"/>
            <a:ext cx="8229600" cy="640080"/>
          </a:xfrm>
          <a:prstGeom prst="rect">
            <a:avLst/>
          </a:prstGeom>
          <a:noFill/>
          <a:ln/>
        </p:spPr>
        <p:txBody>
          <a:bodyPr wrap="square" lIns="0" tIns="0" rIns="0" bIns="0" rtlCol="0" anchor="t"/>
          <a:lstStyle/>
          <a:p>
            <a:pPr indent="0" marL="0">
              <a:buNone/>
            </a:pPr>
            <a:r>
              <a:rPr lang="en-US" sz="1600" dirty="0">
                <a:solidFill>
                  <a:srgbClr val="3D3D3D"/>
                </a:solidFill>
                <a:latin typeface="Arial" pitchFamily="34" charset="0"/>
                <a:ea typeface="Arial" pitchFamily="34" charset="-122"/>
                <a:cs typeface="Arial" pitchFamily="34" charset="-120"/>
              </a:rPr>
              <a:t>Numbers, names, dates and quotes match the source. These are the most common errors.</a:t>
            </a:r>
            <a:endParaRPr lang="en-US" sz="1600" dirty="0"/>
          </a:p>
        </p:txBody>
      </p:sp>
      <p:sp>
        <p:nvSpPr>
          <p:cNvPr id="9" name="Shape 6"/>
          <p:cNvSpPr/>
          <p:nvPr/>
        </p:nvSpPr>
        <p:spPr>
          <a:xfrm>
            <a:off x="548640" y="3108960"/>
            <a:ext cx="685800" cy="685800"/>
          </a:xfrm>
          <a:prstGeom prst="ellipse">
            <a:avLst/>
          </a:prstGeom>
          <a:solidFill>
            <a:srgbClr val="E4002B"/>
          </a:solidFill>
          <a:ln w="12700">
            <a:solidFill>
              <a:srgbClr val="E4002B"/>
            </a:solidFill>
            <a:prstDash val="solid"/>
          </a:ln>
        </p:spPr>
      </p:sp>
      <p:pic>
        <p:nvPicPr>
          <p:cNvPr id="10" name="Image 1" descr="preencoded.png">    </p:cNvPr>
          <p:cNvPicPr>
            <a:picLocks noChangeAspect="1"/>
          </p:cNvPicPr>
          <p:nvPr/>
        </p:nvPicPr>
        <p:blipFill>
          <a:blip r:embed="rId2"/>
          <a:stretch>
            <a:fillRect/>
          </a:stretch>
        </p:blipFill>
        <p:spPr>
          <a:xfrm>
            <a:off x="720090" y="3280410"/>
            <a:ext cx="342900" cy="342900"/>
          </a:xfrm>
          <a:prstGeom prst="rect">
            <a:avLst/>
          </a:prstGeom>
        </p:spPr>
      </p:pic>
      <p:sp>
        <p:nvSpPr>
          <p:cNvPr id="11" name="Text 7"/>
          <p:cNvSpPr txBox="1"/>
          <p:nvPr/>
        </p:nvSpPr>
        <p:spPr>
          <a:xfrm>
            <a:off x="1463040" y="3154680"/>
            <a:ext cx="2011680" cy="36576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Promises</a:t>
            </a:r>
            <a:endParaRPr lang="en-US" sz="1900" dirty="0"/>
          </a:p>
        </p:txBody>
      </p:sp>
      <p:sp>
        <p:nvSpPr>
          <p:cNvPr id="12" name="Text 8"/>
          <p:cNvSpPr txBox="1"/>
          <p:nvPr/>
        </p:nvSpPr>
        <p:spPr>
          <a:xfrm>
            <a:off x="3383280" y="3182112"/>
            <a:ext cx="8229600" cy="640080"/>
          </a:xfrm>
          <a:prstGeom prst="rect">
            <a:avLst/>
          </a:prstGeom>
          <a:noFill/>
          <a:ln/>
        </p:spPr>
        <p:txBody>
          <a:bodyPr wrap="square" lIns="0" tIns="0" rIns="0" bIns="0" rtlCol="0" anchor="t"/>
          <a:lstStyle/>
          <a:p>
            <a:pPr indent="0" marL="0">
              <a:buNone/>
            </a:pPr>
            <a:r>
              <a:rPr lang="en-US" sz="1600" dirty="0">
                <a:solidFill>
                  <a:srgbClr val="3D3D3D"/>
                </a:solidFill>
                <a:latin typeface="Arial" pitchFamily="34" charset="0"/>
                <a:ea typeface="Arial" pitchFamily="34" charset="-122"/>
                <a:cs typeface="Arial" pitchFamily="34" charset="-120"/>
              </a:rPr>
              <a:t>Did it commit us to a date, a refund or a feature nobody agreed to?</a:t>
            </a:r>
            <a:endParaRPr lang="en-US" sz="1600" dirty="0"/>
          </a:p>
        </p:txBody>
      </p:sp>
      <p:sp>
        <p:nvSpPr>
          <p:cNvPr id="13" name="Shape 9"/>
          <p:cNvSpPr/>
          <p:nvPr/>
        </p:nvSpPr>
        <p:spPr>
          <a:xfrm>
            <a:off x="548640" y="4069080"/>
            <a:ext cx="685800" cy="685800"/>
          </a:xfrm>
          <a:prstGeom prst="ellipse">
            <a:avLst/>
          </a:prstGeom>
          <a:solidFill>
            <a:srgbClr val="111111"/>
          </a:solidFill>
          <a:ln w="12700">
            <a:solidFill>
              <a:srgbClr val="111111"/>
            </a:solidFill>
            <a:prstDash val="solid"/>
          </a:ln>
        </p:spPr>
      </p:sp>
      <p:pic>
        <p:nvPicPr>
          <p:cNvPr id="14" name="Image 2" descr="preencoded.png">    </p:cNvPr>
          <p:cNvPicPr>
            <a:picLocks noChangeAspect="1"/>
          </p:cNvPicPr>
          <p:nvPr/>
        </p:nvPicPr>
        <p:blipFill>
          <a:blip r:embed="rId3"/>
          <a:stretch>
            <a:fillRect/>
          </a:stretch>
        </p:blipFill>
        <p:spPr>
          <a:xfrm>
            <a:off x="720090" y="4240530"/>
            <a:ext cx="342900" cy="342900"/>
          </a:xfrm>
          <a:prstGeom prst="rect">
            <a:avLst/>
          </a:prstGeom>
        </p:spPr>
      </p:pic>
      <p:sp>
        <p:nvSpPr>
          <p:cNvPr id="15" name="Text 10"/>
          <p:cNvSpPr txBox="1"/>
          <p:nvPr/>
        </p:nvSpPr>
        <p:spPr>
          <a:xfrm>
            <a:off x="1463040" y="4114800"/>
            <a:ext cx="2011680" cy="36576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Tone</a:t>
            </a:r>
            <a:endParaRPr lang="en-US" sz="1900" dirty="0"/>
          </a:p>
        </p:txBody>
      </p:sp>
      <p:sp>
        <p:nvSpPr>
          <p:cNvPr id="16" name="Text 11"/>
          <p:cNvSpPr txBox="1"/>
          <p:nvPr/>
        </p:nvSpPr>
        <p:spPr>
          <a:xfrm>
            <a:off x="3383280" y="4142232"/>
            <a:ext cx="8229600" cy="640080"/>
          </a:xfrm>
          <a:prstGeom prst="rect">
            <a:avLst/>
          </a:prstGeom>
          <a:noFill/>
          <a:ln/>
        </p:spPr>
        <p:txBody>
          <a:bodyPr wrap="square" lIns="0" tIns="0" rIns="0" bIns="0" rtlCol="0" anchor="t"/>
          <a:lstStyle/>
          <a:p>
            <a:pPr indent="0" marL="0">
              <a:buNone/>
            </a:pPr>
            <a:r>
              <a:rPr lang="en-US" sz="1600" dirty="0">
                <a:solidFill>
                  <a:srgbClr val="3D3D3D"/>
                </a:solidFill>
                <a:latin typeface="Arial" pitchFamily="34" charset="0"/>
                <a:ea typeface="Arial" pitchFamily="34" charset="-122"/>
                <a:cs typeface="Arial" pitchFamily="34" charset="-120"/>
              </a:rPr>
              <a:t>Cut the over-apologising and padding. Would you say it out loud?</a:t>
            </a:r>
            <a:endParaRPr lang="en-US" sz="1600" dirty="0"/>
          </a:p>
        </p:txBody>
      </p:sp>
      <p:sp>
        <p:nvSpPr>
          <p:cNvPr id="17" name="Shape 12"/>
          <p:cNvSpPr/>
          <p:nvPr/>
        </p:nvSpPr>
        <p:spPr>
          <a:xfrm>
            <a:off x="548640" y="5029200"/>
            <a:ext cx="685800" cy="685800"/>
          </a:xfrm>
          <a:prstGeom prst="ellipse">
            <a:avLst/>
          </a:prstGeom>
          <a:solidFill>
            <a:srgbClr val="111111"/>
          </a:solidFill>
          <a:ln w="12700">
            <a:solidFill>
              <a:srgbClr val="111111"/>
            </a:solidFill>
            <a:prstDash val="solid"/>
          </a:ln>
        </p:spPr>
      </p:sp>
      <p:pic>
        <p:nvPicPr>
          <p:cNvPr id="18" name="Image 3" descr="preencoded.png">    </p:cNvPr>
          <p:cNvPicPr>
            <a:picLocks noChangeAspect="1"/>
          </p:cNvPicPr>
          <p:nvPr/>
        </p:nvPicPr>
        <p:blipFill>
          <a:blip r:embed="rId4"/>
          <a:stretch>
            <a:fillRect/>
          </a:stretch>
        </p:blipFill>
        <p:spPr>
          <a:xfrm>
            <a:off x="720090" y="5200650"/>
            <a:ext cx="342900" cy="342900"/>
          </a:xfrm>
          <a:prstGeom prst="rect">
            <a:avLst/>
          </a:prstGeom>
        </p:spPr>
      </p:pic>
      <p:sp>
        <p:nvSpPr>
          <p:cNvPr id="19" name="Text 13"/>
          <p:cNvSpPr txBox="1"/>
          <p:nvPr/>
        </p:nvSpPr>
        <p:spPr>
          <a:xfrm>
            <a:off x="1463040" y="5074920"/>
            <a:ext cx="2011680" cy="36576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Gaps</a:t>
            </a:r>
            <a:endParaRPr lang="en-US" sz="1900" dirty="0"/>
          </a:p>
        </p:txBody>
      </p:sp>
      <p:sp>
        <p:nvSpPr>
          <p:cNvPr id="20" name="Text 14"/>
          <p:cNvSpPr txBox="1"/>
          <p:nvPr/>
        </p:nvSpPr>
        <p:spPr>
          <a:xfrm>
            <a:off x="3383280" y="5102352"/>
            <a:ext cx="8229600" cy="640080"/>
          </a:xfrm>
          <a:prstGeom prst="rect">
            <a:avLst/>
          </a:prstGeom>
          <a:noFill/>
          <a:ln/>
        </p:spPr>
        <p:txBody>
          <a:bodyPr wrap="square" lIns="0" tIns="0" rIns="0" bIns="0" rtlCol="0" anchor="t"/>
          <a:lstStyle/>
          <a:p>
            <a:pPr indent="0" marL="0">
              <a:buNone/>
            </a:pPr>
            <a:r>
              <a:rPr lang="en-US" sz="1600" dirty="0">
                <a:solidFill>
                  <a:srgbClr val="3D3D3D"/>
                </a:solidFill>
                <a:latin typeface="Arial" pitchFamily="34" charset="0"/>
                <a:ea typeface="Arial" pitchFamily="34" charset="-122"/>
                <a:cs typeface="Arial" pitchFamily="34" charset="-120"/>
              </a:rPr>
              <a:t>Ask it: “What did you leave out?” Summaries quietly drop the awkward bit.</a:t>
            </a:r>
            <a:endParaRPr lang="en-US" sz="1600" dirty="0"/>
          </a:p>
        </p:txBody>
      </p:sp>
      <p:sp>
        <p:nvSpPr>
          <p:cNvPr id="21" name="Text 15"/>
          <p:cNvSpPr txBox="1"/>
          <p:nvPr/>
        </p:nvSpPr>
        <p:spPr>
          <a:xfrm>
            <a:off x="548640" y="6035040"/>
            <a:ext cx="11094415" cy="365760"/>
          </a:xfrm>
          <a:prstGeom prst="rect">
            <a:avLst/>
          </a:prstGeom>
          <a:noFill/>
          <a:ln/>
        </p:spPr>
        <p:txBody>
          <a:bodyPr wrap="square" lIns="0" tIns="0" rIns="0" bIns="0" rtlCol="0" anchor="t"/>
          <a:lstStyle/>
          <a:p>
            <a:pPr indent="0" marL="0">
              <a:buNone/>
            </a:pPr>
            <a:r>
              <a:rPr lang="en-US" sz="1400" i="1" dirty="0">
                <a:solidFill>
                  <a:srgbClr val="6B6B6B"/>
                </a:solidFill>
                <a:latin typeface="Arial" pitchFamily="34" charset="0"/>
                <a:ea typeface="Arial" pitchFamily="34" charset="-122"/>
                <a:cs typeface="Arial" pitchFamily="34" charset="-120"/>
              </a:rPr>
              <a:t>Be most careful where you know least. If you couldn't spot a wrong answer, ask someone who could.</a:t>
            </a:r>
            <a:endParaRPr lang="en-US" sz="1400" dirty="0"/>
          </a:p>
        </p:txBody>
      </p:sp>
      <p:sp>
        <p:nvSpPr>
          <p:cNvPr id="22" name="Text 16"/>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23" name="Text 17"/>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EVERY DAY</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Personal use, or a project?</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Most AI use is personal productivity and needs no approval. Some needs a project.</a:t>
            </a:r>
            <a:endParaRPr lang="en-US" sz="1600" dirty="0"/>
          </a:p>
        </p:txBody>
      </p:sp>
      <p:sp>
        <p:nvSpPr>
          <p:cNvPr id="5" name="Shape 3"/>
          <p:cNvSpPr/>
          <p:nvPr/>
        </p:nvSpPr>
        <p:spPr>
          <a:xfrm>
            <a:off x="548640" y="2148840"/>
            <a:ext cx="5394960" cy="3886200"/>
          </a:xfrm>
          <a:prstGeom prst="rect">
            <a:avLst/>
          </a:prstGeom>
          <a:solidFill>
            <a:srgbClr val="F4F4F4"/>
          </a:solidFill>
          <a:ln w="12700">
            <a:solidFill>
              <a:srgbClr val="F4F4F4"/>
            </a:solidFill>
            <a:prstDash val="solid"/>
          </a:ln>
        </p:spPr>
      </p:sp>
      <p:sp>
        <p:nvSpPr>
          <p:cNvPr id="6" name="Text 4"/>
          <p:cNvSpPr txBox="1"/>
          <p:nvPr/>
        </p:nvSpPr>
        <p:spPr>
          <a:xfrm>
            <a:off x="822960" y="2331720"/>
            <a:ext cx="484632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Personal use: just do it well</a:t>
            </a:r>
            <a:endParaRPr lang="en-US" sz="2000" dirty="0"/>
          </a:p>
        </p:txBody>
      </p:sp>
      <p:sp>
        <p:nvSpPr>
          <p:cNvPr id="7" name="Text 5"/>
          <p:cNvSpPr txBox="1"/>
          <p:nvPr/>
        </p:nvSpPr>
        <p:spPr>
          <a:xfrm>
            <a:off x="822960" y="2926080"/>
            <a:ext cx="4846320" cy="2926080"/>
          </a:xfrm>
          <a:prstGeom prst="rect">
            <a:avLst/>
          </a:prstGeom>
          <a:noFill/>
          <a:ln/>
        </p:spPr>
        <p:txBody>
          <a:bodyPr wrap="square" rtlCol="0" anchor="t"/>
          <a:lstStyle/>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You're drafting, summarising or rewriting your own work</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A person reads it before it goes anywhere</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It uses data the tool is approved for</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Nobody else depends on it running</a:t>
            </a:r>
            <a:endParaRPr lang="en-US" sz="1500" dirty="0"/>
          </a:p>
        </p:txBody>
      </p:sp>
      <p:sp>
        <p:nvSpPr>
          <p:cNvPr id="8" name="Shape 6"/>
          <p:cNvSpPr/>
          <p:nvPr/>
        </p:nvSpPr>
        <p:spPr>
          <a:xfrm>
            <a:off x="6245352" y="2148840"/>
            <a:ext cx="5394960" cy="3886200"/>
          </a:xfrm>
          <a:prstGeom prst="rect">
            <a:avLst/>
          </a:prstGeom>
          <a:solidFill>
            <a:srgbClr val="FDECEF"/>
          </a:solidFill>
          <a:ln w="12700">
            <a:solidFill>
              <a:srgbClr val="FDECEF"/>
            </a:solidFill>
            <a:prstDash val="solid"/>
          </a:ln>
        </p:spPr>
      </p:sp>
      <p:sp>
        <p:nvSpPr>
          <p:cNvPr id="9" name="Text 7"/>
          <p:cNvSpPr txBox="1"/>
          <p:nvPr/>
        </p:nvSpPr>
        <p:spPr>
          <a:xfrm>
            <a:off x="6519672" y="2331720"/>
            <a:ext cx="4846320" cy="457200"/>
          </a:xfrm>
          <a:prstGeom prst="rect">
            <a:avLst/>
          </a:prstGeom>
          <a:noFill/>
          <a:ln/>
        </p:spPr>
        <p:txBody>
          <a:bodyPr wrap="square" lIns="0" tIns="0" rIns="0" bIns="0" rtlCol="0" anchor="t"/>
          <a:lstStyle/>
          <a:p>
            <a:pPr indent="0" marL="0">
              <a:buNone/>
            </a:pPr>
            <a:r>
              <a:rPr lang="en-US" sz="2000" b="1" dirty="0">
                <a:solidFill>
                  <a:srgbClr val="E4002B"/>
                </a:solidFill>
                <a:latin typeface="Arial" pitchFamily="34" charset="0"/>
                <a:ea typeface="Arial" pitchFamily="34" charset="-122"/>
                <a:cs typeface="Arial" pitchFamily="34" charset="-120"/>
              </a:rPr>
              <a:t>Start a project if any is true</a:t>
            </a:r>
            <a:endParaRPr lang="en-US" sz="2000" dirty="0"/>
          </a:p>
        </p:txBody>
      </p:sp>
      <p:sp>
        <p:nvSpPr>
          <p:cNvPr id="10" name="Text 8"/>
          <p:cNvSpPr txBox="1"/>
          <p:nvPr/>
        </p:nvSpPr>
        <p:spPr>
          <a:xfrm>
            <a:off x="6519672" y="2926080"/>
            <a:ext cx="4846320" cy="2926080"/>
          </a:xfrm>
          <a:prstGeom prst="rect">
            <a:avLst/>
          </a:prstGeom>
          <a:noFill/>
          <a:ln/>
        </p:spPr>
        <p:txBody>
          <a:bodyPr wrap="square" rtlCol="0" anchor="t"/>
          <a:lstStyle/>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Output reaches customers or the public</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It affects decisions about people</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It uses personal, confidential or regulated data at scale</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It acts in other systems automatically</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It needs a new vendor, model or tool</a:t>
            </a:r>
            <a:endParaRPr lang="en-US" sz="1500" dirty="0"/>
          </a:p>
          <a:p>
            <a:pPr marL="228600" indent="-228600">
              <a:spcAft>
                <a:spcPts val="800"/>
              </a:spcAft>
              <a:buSzPct val="100000"/>
              <a:buChar char="•"/>
            </a:pPr>
            <a:r>
              <a:rPr lang="en-US" sz="1500" dirty="0">
                <a:solidFill>
                  <a:srgbClr val="3D3D3D"/>
                </a:solidFill>
                <a:latin typeface="Arial" pitchFamily="34" charset="0"/>
                <a:ea typeface="Arial" pitchFamily="34" charset="-122"/>
                <a:cs typeface="Arial" pitchFamily="34" charset="-120"/>
              </a:rPr>
              <a:t>A team or process will depend on it</a:t>
            </a:r>
            <a:endParaRPr lang="en-US" sz="1500" dirty="0"/>
          </a:p>
        </p:txBody>
      </p:sp>
      <p:sp>
        <p:nvSpPr>
          <p:cNvPr id="11" name="Text 9"/>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12" name="Text 10"/>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4002B"/>
        </a:solidFill>
      </p:bgPr>
    </p:bg>
    <p:spTree>
      <p:nvGrpSpPr>
        <p:cNvPr id="1" name=""/>
        <p:cNvGrpSpPr/>
        <p:nvPr/>
      </p:nvGrpSpPr>
      <p:grpSpPr>
        <a:xfrm>
          <a:off x="0" y="0"/>
          <a:ext cx="0" cy="0"/>
          <a:chOff x="0" y="0"/>
          <a:chExt cx="0" cy="0"/>
        </a:xfrm>
      </p:grpSpPr>
      <p:sp>
        <p:nvSpPr>
          <p:cNvPr id="2" name="Text 0"/>
          <p:cNvSpPr txBox="1"/>
          <p:nvPr/>
        </p:nvSpPr>
        <p:spPr>
          <a:xfrm>
            <a:off x="548640" y="1005840"/>
            <a:ext cx="3657600" cy="1463040"/>
          </a:xfrm>
          <a:prstGeom prst="rect">
            <a:avLst/>
          </a:prstGeom>
          <a:noFill/>
          <a:ln/>
        </p:spPr>
        <p:txBody>
          <a:bodyPr wrap="square" lIns="0" tIns="0" rIns="0" bIns="0" rtlCol="0" anchor="t"/>
          <a:lstStyle/>
          <a:p>
            <a:pPr indent="0" marL="0">
              <a:buNone/>
            </a:pPr>
            <a:r>
              <a:rPr lang="en-US" sz="11000" b="1" dirty="0">
                <a:solidFill>
                  <a:srgbClr val="FFFFFF"/>
                </a:solidFill>
                <a:latin typeface="Arial" pitchFamily="34" charset="0"/>
                <a:ea typeface="Arial" pitchFamily="34" charset="-122"/>
                <a:cs typeface="Arial" pitchFamily="34" charset="-120"/>
              </a:rPr>
              <a:t>04</a:t>
            </a:r>
            <a:endParaRPr lang="en-US" sz="11000" dirty="0"/>
          </a:p>
        </p:txBody>
      </p:sp>
      <p:sp>
        <p:nvSpPr>
          <p:cNvPr id="3" name="Text 1"/>
          <p:cNvSpPr txBox="1"/>
          <p:nvPr/>
        </p:nvSpPr>
        <p:spPr>
          <a:xfrm>
            <a:off x="548640" y="2697480"/>
            <a:ext cx="10515600" cy="1371600"/>
          </a:xfrm>
          <a:prstGeom prst="rect">
            <a:avLst/>
          </a:prstGeom>
          <a:noFill/>
          <a:ln/>
        </p:spPr>
        <p:txBody>
          <a:bodyPr wrap="square" lIns="0" tIns="0" rIns="0" bIns="0" rtlCol="0" anchor="b"/>
          <a:lstStyle/>
          <a:p>
            <a:pPr indent="0" marL="0">
              <a:buNone/>
            </a:pPr>
            <a:r>
              <a:rPr lang="en-US" sz="4000" b="1" dirty="0">
                <a:solidFill>
                  <a:srgbClr val="FFFFFF"/>
                </a:solidFill>
                <a:latin typeface="Arial" pitchFamily="34" charset="0"/>
                <a:ea typeface="Arial" pitchFamily="34" charset="-122"/>
                <a:cs typeface="Arial" pitchFamily="34" charset="-120"/>
              </a:rPr>
              <a:t>How we govern AI projects</a:t>
            </a:r>
            <a:endParaRPr lang="en-US" sz="4000" dirty="0"/>
          </a:p>
        </p:txBody>
      </p:sp>
      <p:sp>
        <p:nvSpPr>
          <p:cNvPr id="4" name="Text 2"/>
          <p:cNvSpPr txBox="1"/>
          <p:nvPr/>
        </p:nvSpPr>
        <p:spPr>
          <a:xfrm>
            <a:off x="548640" y="4343400"/>
            <a:ext cx="9601200" cy="822960"/>
          </a:xfrm>
          <a:prstGeom prst="rect">
            <a:avLst/>
          </a:prstGeom>
          <a:noFill/>
          <a:ln/>
        </p:spPr>
        <p:txBody>
          <a:bodyPr wrap="square" lIns="0" tIns="0" rIns="0" bIns="0" rtlCol="0" anchor="t"/>
          <a:lstStyle/>
          <a:p>
            <a:pPr indent="0" marL="0">
              <a:buNone/>
            </a:pPr>
            <a:r>
              <a:rPr lang="en-US" sz="1800" dirty="0">
                <a:solidFill>
                  <a:srgbClr val="FFE3E8"/>
                </a:solidFill>
                <a:latin typeface="Arial" pitchFamily="34" charset="0"/>
                <a:ea typeface="Arial" pitchFamily="34" charset="-122"/>
                <a:cs typeface="Arial" pitchFamily="34" charset="-120"/>
              </a:rPr>
              <a:t>Following the Govern AI steps in Microsoft's Cloud Adoption Framework</a:t>
            </a:r>
            <a:endParaRPr lang="en-US" sz="1800" dirty="0"/>
          </a:p>
        </p:txBody>
      </p:sp>
      <p:sp>
        <p:nvSpPr>
          <p:cNvPr id="5" name="Text 3"/>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FFD1DA"/>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GOVERNANCE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Microsoft's four steps for governing AI</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From the Govern AI guidance in Microsoft's Cloud Adoption Framework, and how we apply each one.</a:t>
            </a:r>
            <a:endParaRPr lang="en-US" sz="1600" dirty="0"/>
          </a:p>
        </p:txBody>
      </p:sp>
      <p:sp>
        <p:nvSpPr>
          <p:cNvPr id="5" name="Shape 3"/>
          <p:cNvSpPr/>
          <p:nvPr/>
        </p:nvSpPr>
        <p:spPr>
          <a:xfrm>
            <a:off x="548640" y="2148840"/>
            <a:ext cx="822960" cy="822960"/>
          </a:xfrm>
          <a:prstGeom prst="ellipse">
            <a:avLst/>
          </a:prstGeom>
          <a:solidFill>
            <a:srgbClr val="E4002B"/>
          </a:solidFill>
          <a:ln w="12700">
            <a:solidFill>
              <a:srgbClr val="E4002B"/>
            </a:solidFill>
            <a:prstDash val="solid"/>
          </a:ln>
        </p:spPr>
      </p:sp>
      <p:pic>
        <p:nvPicPr>
          <p:cNvPr id="6" name="Image 0" descr="preencoded.png">    </p:cNvPr>
          <p:cNvPicPr>
            <a:picLocks noChangeAspect="1"/>
          </p:cNvPicPr>
          <p:nvPr/>
        </p:nvPicPr>
        <p:blipFill>
          <a:blip r:embed="rId1"/>
          <a:stretch>
            <a:fillRect/>
          </a:stretch>
        </p:blipFill>
        <p:spPr>
          <a:xfrm>
            <a:off x="754380" y="2354580"/>
            <a:ext cx="411480" cy="411480"/>
          </a:xfrm>
          <a:prstGeom prst="rect">
            <a:avLst/>
          </a:prstGeom>
        </p:spPr>
      </p:pic>
      <p:sp>
        <p:nvSpPr>
          <p:cNvPr id="7" name="Text 4"/>
          <p:cNvSpPr txBox="1"/>
          <p:nvPr/>
        </p:nvSpPr>
        <p:spPr>
          <a:xfrm>
            <a:off x="548640" y="3108960"/>
            <a:ext cx="256032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1. Assess</a:t>
            </a:r>
            <a:endParaRPr lang="en-US" sz="2200" dirty="0"/>
          </a:p>
        </p:txBody>
      </p:sp>
      <p:sp>
        <p:nvSpPr>
          <p:cNvPr id="8" name="Text 5"/>
          <p:cNvSpPr txBox="1"/>
          <p:nvPr/>
        </p:nvSpPr>
        <p:spPr>
          <a:xfrm>
            <a:off x="548640" y="3611880"/>
            <a:ext cx="2560320" cy="91440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Understand each AI use and its risks, using the six principles.</a:t>
            </a:r>
            <a:endParaRPr lang="en-US" sz="1400" dirty="0"/>
          </a:p>
        </p:txBody>
      </p:sp>
      <p:sp>
        <p:nvSpPr>
          <p:cNvPr id="9" name="Shape 6"/>
          <p:cNvSpPr/>
          <p:nvPr/>
        </p:nvSpPr>
        <p:spPr>
          <a:xfrm>
            <a:off x="548640" y="4617720"/>
            <a:ext cx="2606040" cy="1371600"/>
          </a:xfrm>
          <a:prstGeom prst="rect">
            <a:avLst/>
          </a:prstGeom>
          <a:solidFill>
            <a:srgbClr val="F4F4F4"/>
          </a:solidFill>
          <a:ln w="12700">
            <a:solidFill>
              <a:srgbClr val="F4F4F4"/>
            </a:solidFill>
            <a:prstDash val="solid"/>
          </a:ln>
        </p:spPr>
      </p:sp>
      <p:sp>
        <p:nvSpPr>
          <p:cNvPr id="10" name="Text 7"/>
          <p:cNvSpPr txBox="1"/>
          <p:nvPr/>
        </p:nvSpPr>
        <p:spPr>
          <a:xfrm>
            <a:off x="731520" y="4736592"/>
            <a:ext cx="2286000" cy="274320"/>
          </a:xfrm>
          <a:prstGeom prst="rect">
            <a:avLst/>
          </a:prstGeom>
          <a:noFill/>
          <a:ln/>
        </p:spPr>
        <p:txBody>
          <a:bodyPr wrap="square" lIns="0" tIns="0" rIns="0" bIns="0" rtlCol="0" anchor="t"/>
          <a:lstStyle/>
          <a:p>
            <a:pPr indent="0" marL="0">
              <a:buNone/>
            </a:pPr>
            <a:r>
              <a:rPr lang="en-US" sz="1000" b="1" spc="100" kern="0" dirty="0">
                <a:solidFill>
                  <a:srgbClr val="E4002B"/>
                </a:solidFill>
                <a:latin typeface="Arial" pitchFamily="34" charset="0"/>
                <a:ea typeface="Arial" pitchFamily="34" charset="-122"/>
                <a:cs typeface="Arial" pitchFamily="34" charset="-120"/>
              </a:rPr>
              <a:t>HOW WE DO IT</a:t>
            </a:r>
            <a:endParaRPr lang="en-US" sz="1000" dirty="0"/>
          </a:p>
        </p:txBody>
      </p:sp>
      <p:sp>
        <p:nvSpPr>
          <p:cNvPr id="11" name="Text 8"/>
          <p:cNvSpPr txBox="1"/>
          <p:nvPr/>
        </p:nvSpPr>
        <p:spPr>
          <a:xfrm>
            <a:off x="731520" y="5010912"/>
            <a:ext cx="2286000" cy="91440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Intake, risk screen with sensitive uses, Responsible AI assessment</a:t>
            </a:r>
            <a:endParaRPr lang="en-US" sz="1300" dirty="0"/>
          </a:p>
        </p:txBody>
      </p:sp>
      <p:sp>
        <p:nvSpPr>
          <p:cNvPr id="12" name="Text 9"/>
          <p:cNvSpPr txBox="1"/>
          <p:nvPr/>
        </p:nvSpPr>
        <p:spPr>
          <a:xfrm>
            <a:off x="2971800" y="2286000"/>
            <a:ext cx="457200" cy="548640"/>
          </a:xfrm>
          <a:prstGeom prst="rect">
            <a:avLst/>
          </a:prstGeom>
          <a:noFill/>
          <a:ln/>
        </p:spPr>
        <p:txBody>
          <a:bodyPr wrap="square" lIns="0" tIns="0" rIns="0" bIns="0" rtlCol="0" anchor="t"/>
          <a:lstStyle/>
          <a:p>
            <a:pPr algn="ctr" indent="0" marL="0">
              <a:buNone/>
            </a:pPr>
            <a:r>
              <a:rPr lang="en-US" sz="2800" dirty="0">
                <a:solidFill>
                  <a:srgbClr val="6B6B6B"/>
                </a:solidFill>
                <a:latin typeface="Arial" pitchFamily="34" charset="0"/>
                <a:ea typeface="Arial" pitchFamily="34" charset="-122"/>
                <a:cs typeface="Arial" pitchFamily="34" charset="-120"/>
              </a:rPr>
              <a:t>→</a:t>
            </a:r>
            <a:endParaRPr lang="en-US" sz="2800" dirty="0"/>
          </a:p>
        </p:txBody>
      </p:sp>
      <p:sp>
        <p:nvSpPr>
          <p:cNvPr id="13" name="Shape 10"/>
          <p:cNvSpPr/>
          <p:nvPr/>
        </p:nvSpPr>
        <p:spPr>
          <a:xfrm>
            <a:off x="3383280" y="2148840"/>
            <a:ext cx="822960" cy="822960"/>
          </a:xfrm>
          <a:prstGeom prst="ellipse">
            <a:avLst/>
          </a:prstGeom>
          <a:solidFill>
            <a:srgbClr val="111111"/>
          </a:solidFill>
          <a:ln w="12700">
            <a:solidFill>
              <a:srgbClr val="111111"/>
            </a:solidFill>
            <a:prstDash val="solid"/>
          </a:ln>
        </p:spPr>
      </p:sp>
      <p:pic>
        <p:nvPicPr>
          <p:cNvPr id="14" name="Image 1" descr="preencoded.png">    </p:cNvPr>
          <p:cNvPicPr>
            <a:picLocks noChangeAspect="1"/>
          </p:cNvPicPr>
          <p:nvPr/>
        </p:nvPicPr>
        <p:blipFill>
          <a:blip r:embed="rId2"/>
          <a:stretch>
            <a:fillRect/>
          </a:stretch>
        </p:blipFill>
        <p:spPr>
          <a:xfrm>
            <a:off x="3589020" y="2354580"/>
            <a:ext cx="411480" cy="411480"/>
          </a:xfrm>
          <a:prstGeom prst="rect">
            <a:avLst/>
          </a:prstGeom>
        </p:spPr>
      </p:pic>
      <p:sp>
        <p:nvSpPr>
          <p:cNvPr id="15" name="Text 11"/>
          <p:cNvSpPr txBox="1"/>
          <p:nvPr/>
        </p:nvSpPr>
        <p:spPr>
          <a:xfrm>
            <a:off x="3383280" y="3108960"/>
            <a:ext cx="256032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2. Document</a:t>
            </a:r>
            <a:endParaRPr lang="en-US" sz="2200" dirty="0"/>
          </a:p>
        </p:txBody>
      </p:sp>
      <p:sp>
        <p:nvSpPr>
          <p:cNvPr id="16" name="Text 12"/>
          <p:cNvSpPr txBox="1"/>
          <p:nvPr/>
        </p:nvSpPr>
        <p:spPr>
          <a:xfrm>
            <a:off x="3383280" y="3611880"/>
            <a:ext cx="2560320" cy="91440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Write down the policies that address those risks.</a:t>
            </a:r>
            <a:endParaRPr lang="en-US" sz="1400" dirty="0"/>
          </a:p>
        </p:txBody>
      </p:sp>
      <p:sp>
        <p:nvSpPr>
          <p:cNvPr id="17" name="Shape 13"/>
          <p:cNvSpPr/>
          <p:nvPr/>
        </p:nvSpPr>
        <p:spPr>
          <a:xfrm>
            <a:off x="3383280" y="4617720"/>
            <a:ext cx="2606040" cy="1371600"/>
          </a:xfrm>
          <a:prstGeom prst="rect">
            <a:avLst/>
          </a:prstGeom>
          <a:solidFill>
            <a:srgbClr val="F4F4F4"/>
          </a:solidFill>
          <a:ln w="12700">
            <a:solidFill>
              <a:srgbClr val="F4F4F4"/>
            </a:solidFill>
            <a:prstDash val="solid"/>
          </a:ln>
        </p:spPr>
      </p:sp>
      <p:sp>
        <p:nvSpPr>
          <p:cNvPr id="18" name="Text 14"/>
          <p:cNvSpPr txBox="1"/>
          <p:nvPr/>
        </p:nvSpPr>
        <p:spPr>
          <a:xfrm>
            <a:off x="3566160" y="4736592"/>
            <a:ext cx="2286000" cy="274320"/>
          </a:xfrm>
          <a:prstGeom prst="rect">
            <a:avLst/>
          </a:prstGeom>
          <a:noFill/>
          <a:ln/>
        </p:spPr>
        <p:txBody>
          <a:bodyPr wrap="square" lIns="0" tIns="0" rIns="0" bIns="0" rtlCol="0" anchor="t"/>
          <a:lstStyle/>
          <a:p>
            <a:pPr indent="0" marL="0">
              <a:buNone/>
            </a:pPr>
            <a:r>
              <a:rPr lang="en-US" sz="1000" b="1" spc="100" kern="0" dirty="0">
                <a:solidFill>
                  <a:srgbClr val="E4002B"/>
                </a:solidFill>
                <a:latin typeface="Arial" pitchFamily="34" charset="0"/>
                <a:ea typeface="Arial" pitchFamily="34" charset="-122"/>
                <a:cs typeface="Arial" pitchFamily="34" charset="-120"/>
              </a:rPr>
              <a:t>HOW WE DO IT</a:t>
            </a:r>
            <a:endParaRPr lang="en-US" sz="1000" dirty="0"/>
          </a:p>
        </p:txBody>
      </p:sp>
      <p:sp>
        <p:nvSpPr>
          <p:cNvPr id="19" name="Text 15"/>
          <p:cNvSpPr txBox="1"/>
          <p:nvPr/>
        </p:nvSpPr>
        <p:spPr>
          <a:xfrm>
            <a:off x="3566160" y="5010912"/>
            <a:ext cx="2286000" cy="91440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Risk tiers, required paperwork, approval authority, training</a:t>
            </a:r>
            <a:endParaRPr lang="en-US" sz="1300" dirty="0"/>
          </a:p>
        </p:txBody>
      </p:sp>
      <p:sp>
        <p:nvSpPr>
          <p:cNvPr id="20" name="Text 16"/>
          <p:cNvSpPr txBox="1"/>
          <p:nvPr/>
        </p:nvSpPr>
        <p:spPr>
          <a:xfrm>
            <a:off x="5806440" y="2286000"/>
            <a:ext cx="457200" cy="548640"/>
          </a:xfrm>
          <a:prstGeom prst="rect">
            <a:avLst/>
          </a:prstGeom>
          <a:noFill/>
          <a:ln/>
        </p:spPr>
        <p:txBody>
          <a:bodyPr wrap="square" lIns="0" tIns="0" rIns="0" bIns="0" rtlCol="0" anchor="t"/>
          <a:lstStyle/>
          <a:p>
            <a:pPr algn="ctr" indent="0" marL="0">
              <a:buNone/>
            </a:pPr>
            <a:r>
              <a:rPr lang="en-US" sz="2800" dirty="0">
                <a:solidFill>
                  <a:srgbClr val="6B6B6B"/>
                </a:solidFill>
                <a:latin typeface="Arial" pitchFamily="34" charset="0"/>
                <a:ea typeface="Arial" pitchFamily="34" charset="-122"/>
                <a:cs typeface="Arial" pitchFamily="34" charset="-120"/>
              </a:rPr>
              <a:t>→</a:t>
            </a:r>
            <a:endParaRPr lang="en-US" sz="2800" dirty="0"/>
          </a:p>
        </p:txBody>
      </p:sp>
      <p:sp>
        <p:nvSpPr>
          <p:cNvPr id="21" name="Shape 17"/>
          <p:cNvSpPr/>
          <p:nvPr/>
        </p:nvSpPr>
        <p:spPr>
          <a:xfrm>
            <a:off x="6217920" y="2148840"/>
            <a:ext cx="822960" cy="822960"/>
          </a:xfrm>
          <a:prstGeom prst="ellipse">
            <a:avLst/>
          </a:prstGeom>
          <a:solidFill>
            <a:srgbClr val="E4002B"/>
          </a:solidFill>
          <a:ln w="12700">
            <a:solidFill>
              <a:srgbClr val="E4002B"/>
            </a:solidFill>
            <a:prstDash val="solid"/>
          </a:ln>
        </p:spPr>
      </p:sp>
      <p:pic>
        <p:nvPicPr>
          <p:cNvPr id="22" name="Image 2" descr="preencoded.png">    </p:cNvPr>
          <p:cNvPicPr>
            <a:picLocks noChangeAspect="1"/>
          </p:cNvPicPr>
          <p:nvPr/>
        </p:nvPicPr>
        <p:blipFill>
          <a:blip r:embed="rId3"/>
          <a:stretch>
            <a:fillRect/>
          </a:stretch>
        </p:blipFill>
        <p:spPr>
          <a:xfrm>
            <a:off x="6423660" y="2354580"/>
            <a:ext cx="411480" cy="411480"/>
          </a:xfrm>
          <a:prstGeom prst="rect">
            <a:avLst/>
          </a:prstGeom>
        </p:spPr>
      </p:pic>
      <p:sp>
        <p:nvSpPr>
          <p:cNvPr id="23" name="Text 18"/>
          <p:cNvSpPr txBox="1"/>
          <p:nvPr/>
        </p:nvSpPr>
        <p:spPr>
          <a:xfrm>
            <a:off x="6217920" y="3108960"/>
            <a:ext cx="256032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3. Enforce</a:t>
            </a:r>
            <a:endParaRPr lang="en-US" sz="2200" dirty="0"/>
          </a:p>
        </p:txBody>
      </p:sp>
      <p:sp>
        <p:nvSpPr>
          <p:cNvPr id="24" name="Text 19"/>
          <p:cNvSpPr txBox="1"/>
          <p:nvPr/>
        </p:nvSpPr>
        <p:spPr>
          <a:xfrm>
            <a:off x="6217920" y="3611880"/>
            <a:ext cx="2560320" cy="91440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Apply the policies, automated where possible.</a:t>
            </a:r>
            <a:endParaRPr lang="en-US" sz="1400" dirty="0"/>
          </a:p>
        </p:txBody>
      </p:sp>
      <p:sp>
        <p:nvSpPr>
          <p:cNvPr id="25" name="Shape 20"/>
          <p:cNvSpPr/>
          <p:nvPr/>
        </p:nvSpPr>
        <p:spPr>
          <a:xfrm>
            <a:off x="6217920" y="4617720"/>
            <a:ext cx="2606040" cy="1371600"/>
          </a:xfrm>
          <a:prstGeom prst="rect">
            <a:avLst/>
          </a:prstGeom>
          <a:solidFill>
            <a:srgbClr val="F4F4F4"/>
          </a:solidFill>
          <a:ln w="12700">
            <a:solidFill>
              <a:srgbClr val="F4F4F4"/>
            </a:solidFill>
            <a:prstDash val="solid"/>
          </a:ln>
        </p:spPr>
      </p:sp>
      <p:sp>
        <p:nvSpPr>
          <p:cNvPr id="26" name="Text 21"/>
          <p:cNvSpPr txBox="1"/>
          <p:nvPr/>
        </p:nvSpPr>
        <p:spPr>
          <a:xfrm>
            <a:off x="6400800" y="4736592"/>
            <a:ext cx="2286000" cy="274320"/>
          </a:xfrm>
          <a:prstGeom prst="rect">
            <a:avLst/>
          </a:prstGeom>
          <a:noFill/>
          <a:ln/>
        </p:spPr>
        <p:txBody>
          <a:bodyPr wrap="square" lIns="0" tIns="0" rIns="0" bIns="0" rtlCol="0" anchor="t"/>
          <a:lstStyle/>
          <a:p>
            <a:pPr indent="0" marL="0">
              <a:buNone/>
            </a:pPr>
            <a:r>
              <a:rPr lang="en-US" sz="1000" b="1" spc="100" kern="0" dirty="0">
                <a:solidFill>
                  <a:srgbClr val="E4002B"/>
                </a:solidFill>
                <a:latin typeface="Arial" pitchFamily="34" charset="0"/>
                <a:ea typeface="Arial" pitchFamily="34" charset="-122"/>
                <a:cs typeface="Arial" pitchFamily="34" charset="-120"/>
              </a:rPr>
              <a:t>HOW WE DO IT</a:t>
            </a:r>
            <a:endParaRPr lang="en-US" sz="1000" dirty="0"/>
          </a:p>
        </p:txBody>
      </p:sp>
      <p:sp>
        <p:nvSpPr>
          <p:cNvPr id="27" name="Text 22"/>
          <p:cNvSpPr txBox="1"/>
          <p:nvPr/>
        </p:nvSpPr>
        <p:spPr>
          <a:xfrm>
            <a:off x="6400800" y="5010912"/>
            <a:ext cx="2286000" cy="91440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Stage gates, board-only independent approvals, Purview labels</a:t>
            </a:r>
            <a:endParaRPr lang="en-US" sz="1300" dirty="0"/>
          </a:p>
        </p:txBody>
      </p:sp>
      <p:sp>
        <p:nvSpPr>
          <p:cNvPr id="28" name="Text 23"/>
          <p:cNvSpPr txBox="1"/>
          <p:nvPr/>
        </p:nvSpPr>
        <p:spPr>
          <a:xfrm>
            <a:off x="8641080" y="2286000"/>
            <a:ext cx="457200" cy="548640"/>
          </a:xfrm>
          <a:prstGeom prst="rect">
            <a:avLst/>
          </a:prstGeom>
          <a:noFill/>
          <a:ln/>
        </p:spPr>
        <p:txBody>
          <a:bodyPr wrap="square" lIns="0" tIns="0" rIns="0" bIns="0" rtlCol="0" anchor="t"/>
          <a:lstStyle/>
          <a:p>
            <a:pPr algn="ctr" indent="0" marL="0">
              <a:buNone/>
            </a:pPr>
            <a:r>
              <a:rPr lang="en-US" sz="2800" dirty="0">
                <a:solidFill>
                  <a:srgbClr val="6B6B6B"/>
                </a:solidFill>
                <a:latin typeface="Arial" pitchFamily="34" charset="0"/>
                <a:ea typeface="Arial" pitchFamily="34" charset="-122"/>
                <a:cs typeface="Arial" pitchFamily="34" charset="-120"/>
              </a:rPr>
              <a:t>→</a:t>
            </a:r>
            <a:endParaRPr lang="en-US" sz="2800" dirty="0"/>
          </a:p>
        </p:txBody>
      </p:sp>
      <p:sp>
        <p:nvSpPr>
          <p:cNvPr id="29" name="Shape 24"/>
          <p:cNvSpPr/>
          <p:nvPr/>
        </p:nvSpPr>
        <p:spPr>
          <a:xfrm>
            <a:off x="9052560" y="2148840"/>
            <a:ext cx="822960" cy="822960"/>
          </a:xfrm>
          <a:prstGeom prst="ellipse">
            <a:avLst/>
          </a:prstGeom>
          <a:solidFill>
            <a:srgbClr val="111111"/>
          </a:solidFill>
          <a:ln w="12700">
            <a:solidFill>
              <a:srgbClr val="111111"/>
            </a:solidFill>
            <a:prstDash val="solid"/>
          </a:ln>
        </p:spPr>
      </p:sp>
      <p:pic>
        <p:nvPicPr>
          <p:cNvPr id="30" name="Image 3" descr="preencoded.png">    </p:cNvPr>
          <p:cNvPicPr>
            <a:picLocks noChangeAspect="1"/>
          </p:cNvPicPr>
          <p:nvPr/>
        </p:nvPicPr>
        <p:blipFill>
          <a:blip r:embed="rId4"/>
          <a:stretch>
            <a:fillRect/>
          </a:stretch>
        </p:blipFill>
        <p:spPr>
          <a:xfrm>
            <a:off x="9258300" y="2354580"/>
            <a:ext cx="411480" cy="411480"/>
          </a:xfrm>
          <a:prstGeom prst="rect">
            <a:avLst/>
          </a:prstGeom>
        </p:spPr>
      </p:pic>
      <p:sp>
        <p:nvSpPr>
          <p:cNvPr id="31" name="Text 25"/>
          <p:cNvSpPr txBox="1"/>
          <p:nvPr/>
        </p:nvSpPr>
        <p:spPr>
          <a:xfrm>
            <a:off x="9052560" y="3108960"/>
            <a:ext cx="256032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4. Monitor</a:t>
            </a:r>
            <a:endParaRPr lang="en-US" sz="2200" dirty="0"/>
          </a:p>
        </p:txBody>
      </p:sp>
      <p:sp>
        <p:nvSpPr>
          <p:cNvPr id="32" name="Text 26"/>
          <p:cNvSpPr txBox="1"/>
          <p:nvPr/>
        </p:nvSpPr>
        <p:spPr>
          <a:xfrm>
            <a:off x="9052560" y="3611880"/>
            <a:ext cx="2560320" cy="91440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Keep checking risk and results once it's running.</a:t>
            </a:r>
            <a:endParaRPr lang="en-US" sz="1400" dirty="0"/>
          </a:p>
        </p:txBody>
      </p:sp>
      <p:sp>
        <p:nvSpPr>
          <p:cNvPr id="33" name="Shape 27"/>
          <p:cNvSpPr/>
          <p:nvPr/>
        </p:nvSpPr>
        <p:spPr>
          <a:xfrm>
            <a:off x="9052560" y="4617720"/>
            <a:ext cx="2606040" cy="1371600"/>
          </a:xfrm>
          <a:prstGeom prst="rect">
            <a:avLst/>
          </a:prstGeom>
          <a:solidFill>
            <a:srgbClr val="F4F4F4"/>
          </a:solidFill>
          <a:ln w="12700">
            <a:solidFill>
              <a:srgbClr val="F4F4F4"/>
            </a:solidFill>
            <a:prstDash val="solid"/>
          </a:ln>
        </p:spPr>
      </p:sp>
      <p:sp>
        <p:nvSpPr>
          <p:cNvPr id="34" name="Text 28"/>
          <p:cNvSpPr txBox="1"/>
          <p:nvPr/>
        </p:nvSpPr>
        <p:spPr>
          <a:xfrm>
            <a:off x="9235440" y="4736592"/>
            <a:ext cx="2286000" cy="274320"/>
          </a:xfrm>
          <a:prstGeom prst="rect">
            <a:avLst/>
          </a:prstGeom>
          <a:noFill/>
          <a:ln/>
        </p:spPr>
        <p:txBody>
          <a:bodyPr wrap="square" lIns="0" tIns="0" rIns="0" bIns="0" rtlCol="0" anchor="t"/>
          <a:lstStyle/>
          <a:p>
            <a:pPr indent="0" marL="0">
              <a:buNone/>
            </a:pPr>
            <a:r>
              <a:rPr lang="en-US" sz="1000" b="1" spc="100" kern="0" dirty="0">
                <a:solidFill>
                  <a:srgbClr val="E4002B"/>
                </a:solidFill>
                <a:latin typeface="Arial" pitchFamily="34" charset="0"/>
                <a:ea typeface="Arial" pitchFamily="34" charset="-122"/>
                <a:cs typeface="Arial" pitchFamily="34" charset="-120"/>
              </a:rPr>
              <a:t>HOW WE DO IT</a:t>
            </a:r>
            <a:endParaRPr lang="en-US" sz="1000" dirty="0"/>
          </a:p>
        </p:txBody>
      </p:sp>
      <p:sp>
        <p:nvSpPr>
          <p:cNvPr id="35" name="Text 29"/>
          <p:cNvSpPr txBox="1"/>
          <p:nvPr/>
        </p:nvSpPr>
        <p:spPr>
          <a:xfrm>
            <a:off x="9235440" y="5010912"/>
            <a:ext cx="2286000" cy="91440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Quarterly or yearly risk reviews, benefits tracking, post-launch review</a:t>
            </a:r>
            <a:endParaRPr lang="en-US" sz="1300" dirty="0"/>
          </a:p>
        </p:txBody>
      </p:sp>
      <p:sp>
        <p:nvSpPr>
          <p:cNvPr id="36" name="Text 30"/>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37" name="Text 3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GOVERNANCE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Every project follows the same seven stages</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A project can't move on until the paperwork for its stage is done.</a:t>
            </a:r>
            <a:endParaRPr lang="en-US" sz="1600" dirty="0"/>
          </a:p>
        </p:txBody>
      </p:sp>
      <p:sp>
        <p:nvSpPr>
          <p:cNvPr id="5" name="Shape 3"/>
          <p:cNvSpPr/>
          <p:nvPr/>
        </p:nvSpPr>
        <p:spPr>
          <a:xfrm>
            <a:off x="1341098" y="2651760"/>
            <a:ext cx="9509499" cy="0"/>
          </a:xfrm>
          <a:prstGeom prst="line">
            <a:avLst/>
          </a:prstGeom>
          <a:noFill/>
          <a:ln w="38100">
            <a:solidFill>
              <a:srgbClr val="E2E2E2"/>
            </a:solidFill>
            <a:prstDash val="solid"/>
          </a:ln>
        </p:spPr>
      </p:sp>
      <p:sp>
        <p:nvSpPr>
          <p:cNvPr id="6" name="Shape 4"/>
          <p:cNvSpPr/>
          <p:nvPr/>
        </p:nvSpPr>
        <p:spPr>
          <a:xfrm>
            <a:off x="1066778" y="2377440"/>
            <a:ext cx="548640" cy="548640"/>
          </a:xfrm>
          <a:prstGeom prst="ellipse">
            <a:avLst/>
          </a:prstGeom>
          <a:solidFill>
            <a:srgbClr val="111111"/>
          </a:solidFill>
          <a:ln w="25400">
            <a:solidFill>
              <a:srgbClr val="FFFFFF"/>
            </a:solidFill>
            <a:prstDash val="solid"/>
          </a:ln>
        </p:spPr>
      </p:sp>
      <p:sp>
        <p:nvSpPr>
          <p:cNvPr id="7" name="Text 5"/>
          <p:cNvSpPr txBox="1"/>
          <p:nvPr/>
        </p:nvSpPr>
        <p:spPr>
          <a:xfrm>
            <a:off x="1066778" y="2468880"/>
            <a:ext cx="548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594360" y="3154680"/>
            <a:ext cx="1493476" cy="640080"/>
          </a:xfrm>
          <a:prstGeom prst="rect">
            <a:avLst/>
          </a:prstGeom>
          <a:noFill/>
          <a:ln/>
        </p:spPr>
        <p:txBody>
          <a:bodyPr wrap="square" lIns="0" tIns="0" rIns="0" bIns="0" rtlCol="0" anchor="t"/>
          <a:lstStyle/>
          <a:p>
            <a:pPr algn="ctr" indent="0" marL="0">
              <a:buNone/>
            </a:pPr>
            <a:r>
              <a:rPr lang="en-US" sz="1600" b="1" dirty="0">
                <a:solidFill>
                  <a:srgbClr val="111111"/>
                </a:solidFill>
                <a:latin typeface="Arial" pitchFamily="34" charset="0"/>
                <a:ea typeface="Arial" pitchFamily="34" charset="-122"/>
                <a:cs typeface="Arial" pitchFamily="34" charset="-120"/>
              </a:rPr>
              <a:t>Idea</a:t>
            </a:r>
            <a:endParaRPr lang="en-US" sz="1600" dirty="0"/>
          </a:p>
        </p:txBody>
      </p:sp>
      <p:sp>
        <p:nvSpPr>
          <p:cNvPr id="9" name="Text 7"/>
          <p:cNvSpPr txBox="1"/>
          <p:nvPr/>
        </p:nvSpPr>
        <p:spPr>
          <a:xfrm>
            <a:off x="640080" y="3794760"/>
            <a:ext cx="1402036" cy="914400"/>
          </a:xfrm>
          <a:prstGeom prst="rect">
            <a:avLst/>
          </a:prstGeom>
          <a:noFill/>
          <a:ln/>
        </p:spPr>
        <p:txBody>
          <a:bodyPr wrap="square" lIns="0" tIns="0" rIns="0" bIns="0" rtlCol="0" anchor="t"/>
          <a:lstStyle/>
          <a:p>
            <a:pPr algn="ctr" indent="0" marL="0">
              <a:buNone/>
            </a:pPr>
            <a:r>
              <a:rPr lang="en-US" sz="1250" dirty="0">
                <a:solidFill>
                  <a:srgbClr val="3D3D3D"/>
                </a:solidFill>
                <a:latin typeface="Arial" pitchFamily="34" charset="0"/>
                <a:ea typeface="Arial" pitchFamily="34" charset="-122"/>
                <a:cs typeface="Arial" pitchFamily="34" charset="-120"/>
              </a:rPr>
              <a:t>Start it in the portal</a:t>
            </a:r>
            <a:endParaRPr lang="en-US" sz="1250" dirty="0"/>
          </a:p>
        </p:txBody>
      </p:sp>
      <p:sp>
        <p:nvSpPr>
          <p:cNvPr id="10" name="Shape 8"/>
          <p:cNvSpPr/>
          <p:nvPr/>
        </p:nvSpPr>
        <p:spPr>
          <a:xfrm>
            <a:off x="2651695" y="2377440"/>
            <a:ext cx="548640" cy="548640"/>
          </a:xfrm>
          <a:prstGeom prst="ellipse">
            <a:avLst/>
          </a:prstGeom>
          <a:solidFill>
            <a:srgbClr val="111111"/>
          </a:solidFill>
          <a:ln w="25400">
            <a:solidFill>
              <a:srgbClr val="FFFFFF"/>
            </a:solidFill>
            <a:prstDash val="solid"/>
          </a:ln>
        </p:spPr>
      </p:sp>
      <p:sp>
        <p:nvSpPr>
          <p:cNvPr id="11" name="Text 9"/>
          <p:cNvSpPr txBox="1"/>
          <p:nvPr/>
        </p:nvSpPr>
        <p:spPr>
          <a:xfrm>
            <a:off x="2651695" y="2468880"/>
            <a:ext cx="548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2179276" y="3154680"/>
            <a:ext cx="1493476" cy="640080"/>
          </a:xfrm>
          <a:prstGeom prst="rect">
            <a:avLst/>
          </a:prstGeom>
          <a:noFill/>
          <a:ln/>
        </p:spPr>
        <p:txBody>
          <a:bodyPr wrap="square" lIns="0" tIns="0" rIns="0" bIns="0" rtlCol="0" anchor="t"/>
          <a:lstStyle/>
          <a:p>
            <a:pPr algn="ctr" indent="0" marL="0">
              <a:buNone/>
            </a:pPr>
            <a:r>
              <a:rPr lang="en-US" sz="1600" b="1" dirty="0">
                <a:solidFill>
                  <a:srgbClr val="111111"/>
                </a:solidFill>
                <a:latin typeface="Arial" pitchFamily="34" charset="0"/>
                <a:ea typeface="Arial" pitchFamily="34" charset="-122"/>
                <a:cs typeface="Arial" pitchFamily="34" charset="-120"/>
              </a:rPr>
              <a:t>Assessed</a:t>
            </a:r>
            <a:endParaRPr lang="en-US" sz="1600" dirty="0"/>
          </a:p>
        </p:txBody>
      </p:sp>
      <p:sp>
        <p:nvSpPr>
          <p:cNvPr id="13" name="Text 11"/>
          <p:cNvSpPr txBox="1"/>
          <p:nvPr/>
        </p:nvSpPr>
        <p:spPr>
          <a:xfrm>
            <a:off x="2224996" y="3794760"/>
            <a:ext cx="1402036" cy="914400"/>
          </a:xfrm>
          <a:prstGeom prst="rect">
            <a:avLst/>
          </a:prstGeom>
          <a:noFill/>
          <a:ln/>
        </p:spPr>
        <p:txBody>
          <a:bodyPr wrap="square" lIns="0" tIns="0" rIns="0" bIns="0" rtlCol="0" anchor="t"/>
          <a:lstStyle/>
          <a:p>
            <a:pPr algn="ctr" indent="0" marL="0">
              <a:buNone/>
            </a:pPr>
            <a:r>
              <a:rPr lang="en-US" sz="1250" dirty="0">
                <a:solidFill>
                  <a:srgbClr val="3D3D3D"/>
                </a:solidFill>
                <a:latin typeface="Arial" pitchFamily="34" charset="0"/>
                <a:ea typeface="Arial" pitchFamily="34" charset="-122"/>
                <a:cs typeface="Arial" pitchFamily="34" charset="-120"/>
              </a:rPr>
              <a:t>Idea check and risk tier done</a:t>
            </a:r>
            <a:endParaRPr lang="en-US" sz="1250" dirty="0"/>
          </a:p>
        </p:txBody>
      </p:sp>
      <p:sp>
        <p:nvSpPr>
          <p:cNvPr id="14" name="Shape 12"/>
          <p:cNvSpPr/>
          <p:nvPr/>
        </p:nvSpPr>
        <p:spPr>
          <a:xfrm>
            <a:off x="4236611" y="2377440"/>
            <a:ext cx="548640" cy="548640"/>
          </a:xfrm>
          <a:prstGeom prst="ellipse">
            <a:avLst/>
          </a:prstGeom>
          <a:solidFill>
            <a:srgbClr val="111111"/>
          </a:solidFill>
          <a:ln w="25400">
            <a:solidFill>
              <a:srgbClr val="FFFFFF"/>
            </a:solidFill>
            <a:prstDash val="solid"/>
          </a:ln>
        </p:spPr>
      </p:sp>
      <p:sp>
        <p:nvSpPr>
          <p:cNvPr id="15" name="Text 13"/>
          <p:cNvSpPr txBox="1"/>
          <p:nvPr/>
        </p:nvSpPr>
        <p:spPr>
          <a:xfrm>
            <a:off x="4236611" y="2468880"/>
            <a:ext cx="548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txBox="1"/>
          <p:nvPr/>
        </p:nvSpPr>
        <p:spPr>
          <a:xfrm>
            <a:off x="3764193" y="3154680"/>
            <a:ext cx="1493476" cy="640080"/>
          </a:xfrm>
          <a:prstGeom prst="rect">
            <a:avLst/>
          </a:prstGeom>
          <a:noFill/>
          <a:ln/>
        </p:spPr>
        <p:txBody>
          <a:bodyPr wrap="square" lIns="0" tIns="0" rIns="0" bIns="0" rtlCol="0" anchor="t"/>
          <a:lstStyle/>
          <a:p>
            <a:pPr algn="ctr" indent="0" marL="0">
              <a:buNone/>
            </a:pPr>
            <a:r>
              <a:rPr lang="en-US" sz="1600" b="1" dirty="0">
                <a:solidFill>
                  <a:srgbClr val="111111"/>
                </a:solidFill>
                <a:latin typeface="Arial" pitchFamily="34" charset="0"/>
                <a:ea typeface="Arial" pitchFamily="34" charset="-122"/>
                <a:cs typeface="Arial" pitchFamily="34" charset="-120"/>
              </a:rPr>
              <a:t>Awaiting approval</a:t>
            </a:r>
            <a:endParaRPr lang="en-US" sz="1600" dirty="0"/>
          </a:p>
        </p:txBody>
      </p:sp>
      <p:sp>
        <p:nvSpPr>
          <p:cNvPr id="17" name="Text 15"/>
          <p:cNvSpPr txBox="1"/>
          <p:nvPr/>
        </p:nvSpPr>
        <p:spPr>
          <a:xfrm>
            <a:off x="3809913" y="3794760"/>
            <a:ext cx="1402036" cy="914400"/>
          </a:xfrm>
          <a:prstGeom prst="rect">
            <a:avLst/>
          </a:prstGeom>
          <a:noFill/>
          <a:ln/>
        </p:spPr>
        <p:txBody>
          <a:bodyPr wrap="square" lIns="0" tIns="0" rIns="0" bIns="0" rtlCol="0" anchor="t"/>
          <a:lstStyle/>
          <a:p>
            <a:pPr algn="ctr" indent="0" marL="0">
              <a:buNone/>
            </a:pPr>
            <a:r>
              <a:rPr lang="en-US" sz="1250" dirty="0">
                <a:solidFill>
                  <a:srgbClr val="3D3D3D"/>
                </a:solidFill>
                <a:latin typeface="Arial" pitchFamily="34" charset="0"/>
                <a:ea typeface="Arial" pitchFamily="34" charset="-122"/>
                <a:cs typeface="Arial" pitchFamily="34" charset="-120"/>
              </a:rPr>
              <a:t>Exec brief submitted</a:t>
            </a:r>
            <a:endParaRPr lang="en-US" sz="1250" dirty="0"/>
          </a:p>
        </p:txBody>
      </p:sp>
      <p:sp>
        <p:nvSpPr>
          <p:cNvPr id="18" name="Shape 16"/>
          <p:cNvSpPr/>
          <p:nvPr/>
        </p:nvSpPr>
        <p:spPr>
          <a:xfrm>
            <a:off x="5821528" y="2377440"/>
            <a:ext cx="548640" cy="548640"/>
          </a:xfrm>
          <a:prstGeom prst="ellipse">
            <a:avLst/>
          </a:prstGeom>
          <a:solidFill>
            <a:srgbClr val="E4002B"/>
          </a:solidFill>
          <a:ln w="25400">
            <a:solidFill>
              <a:srgbClr val="FFFFFF"/>
            </a:solidFill>
            <a:prstDash val="solid"/>
          </a:ln>
        </p:spPr>
      </p:sp>
      <p:sp>
        <p:nvSpPr>
          <p:cNvPr id="19" name="Text 17"/>
          <p:cNvSpPr txBox="1"/>
          <p:nvPr/>
        </p:nvSpPr>
        <p:spPr>
          <a:xfrm>
            <a:off x="5821528" y="2468880"/>
            <a:ext cx="548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0" name="Text 18"/>
          <p:cNvSpPr txBox="1"/>
          <p:nvPr/>
        </p:nvSpPr>
        <p:spPr>
          <a:xfrm>
            <a:off x="5349109" y="3154680"/>
            <a:ext cx="1493476" cy="640080"/>
          </a:xfrm>
          <a:prstGeom prst="rect">
            <a:avLst/>
          </a:prstGeom>
          <a:noFill/>
          <a:ln/>
        </p:spPr>
        <p:txBody>
          <a:bodyPr wrap="square" lIns="0" tIns="0" rIns="0" bIns="0" rtlCol="0" anchor="t"/>
          <a:lstStyle/>
          <a:p>
            <a:pPr algn="ctr" indent="0" marL="0">
              <a:buNone/>
            </a:pPr>
            <a:r>
              <a:rPr lang="en-US" sz="1600" b="1" dirty="0">
                <a:solidFill>
                  <a:srgbClr val="111111"/>
                </a:solidFill>
                <a:latin typeface="Arial" pitchFamily="34" charset="0"/>
                <a:ea typeface="Arial" pitchFamily="34" charset="-122"/>
                <a:cs typeface="Arial" pitchFamily="34" charset="-120"/>
              </a:rPr>
              <a:t>Approved</a:t>
            </a:r>
            <a:endParaRPr lang="en-US" sz="1600" dirty="0"/>
          </a:p>
        </p:txBody>
      </p:sp>
      <p:sp>
        <p:nvSpPr>
          <p:cNvPr id="21" name="Text 19"/>
          <p:cNvSpPr txBox="1"/>
          <p:nvPr/>
        </p:nvSpPr>
        <p:spPr>
          <a:xfrm>
            <a:off x="5394829" y="3794760"/>
            <a:ext cx="1402036" cy="914400"/>
          </a:xfrm>
          <a:prstGeom prst="rect">
            <a:avLst/>
          </a:prstGeom>
          <a:noFill/>
          <a:ln/>
        </p:spPr>
        <p:txBody>
          <a:bodyPr wrap="square" lIns="0" tIns="0" rIns="0" bIns="0" rtlCol="0" anchor="t"/>
          <a:lstStyle/>
          <a:p>
            <a:pPr algn="ctr" indent="0" marL="0">
              <a:buNone/>
            </a:pPr>
            <a:r>
              <a:rPr lang="en-US" sz="1250" dirty="0">
                <a:solidFill>
                  <a:srgbClr val="3D3D3D"/>
                </a:solidFill>
                <a:latin typeface="Arial" pitchFamily="34" charset="0"/>
                <a:ea typeface="Arial" pitchFamily="34" charset="-122"/>
                <a:cs typeface="Arial" pitchFamily="34" charset="-120"/>
              </a:rPr>
              <a:t>Decision recorded by the board</a:t>
            </a:r>
            <a:endParaRPr lang="en-US" sz="1250" dirty="0"/>
          </a:p>
        </p:txBody>
      </p:sp>
      <p:sp>
        <p:nvSpPr>
          <p:cNvPr id="22" name="Shape 20"/>
          <p:cNvSpPr/>
          <p:nvPr/>
        </p:nvSpPr>
        <p:spPr>
          <a:xfrm>
            <a:off x="7406444" y="2377440"/>
            <a:ext cx="548640" cy="548640"/>
          </a:xfrm>
          <a:prstGeom prst="ellipse">
            <a:avLst/>
          </a:prstGeom>
          <a:solidFill>
            <a:srgbClr val="111111"/>
          </a:solidFill>
          <a:ln w="25400">
            <a:solidFill>
              <a:srgbClr val="FFFFFF"/>
            </a:solidFill>
            <a:prstDash val="solid"/>
          </a:ln>
        </p:spPr>
      </p:sp>
      <p:sp>
        <p:nvSpPr>
          <p:cNvPr id="23" name="Text 21"/>
          <p:cNvSpPr txBox="1"/>
          <p:nvPr/>
        </p:nvSpPr>
        <p:spPr>
          <a:xfrm>
            <a:off x="7406444" y="2468880"/>
            <a:ext cx="548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4" name="Text 22"/>
          <p:cNvSpPr txBox="1"/>
          <p:nvPr/>
        </p:nvSpPr>
        <p:spPr>
          <a:xfrm>
            <a:off x="6934026" y="3154680"/>
            <a:ext cx="1493476" cy="640080"/>
          </a:xfrm>
          <a:prstGeom prst="rect">
            <a:avLst/>
          </a:prstGeom>
          <a:noFill/>
          <a:ln/>
        </p:spPr>
        <p:txBody>
          <a:bodyPr wrap="square" lIns="0" tIns="0" rIns="0" bIns="0" rtlCol="0" anchor="t"/>
          <a:lstStyle/>
          <a:p>
            <a:pPr algn="ctr" indent="0" marL="0">
              <a:buNone/>
            </a:pPr>
            <a:r>
              <a:rPr lang="en-US" sz="1600" b="1" dirty="0">
                <a:solidFill>
                  <a:srgbClr val="111111"/>
                </a:solidFill>
                <a:latin typeface="Arial" pitchFamily="34" charset="0"/>
                <a:ea typeface="Arial" pitchFamily="34" charset="-122"/>
                <a:cs typeface="Arial" pitchFamily="34" charset="-120"/>
              </a:rPr>
              <a:t>Pilot</a:t>
            </a:r>
            <a:endParaRPr lang="en-US" sz="1600" dirty="0"/>
          </a:p>
        </p:txBody>
      </p:sp>
      <p:sp>
        <p:nvSpPr>
          <p:cNvPr id="25" name="Text 23"/>
          <p:cNvSpPr txBox="1"/>
          <p:nvPr/>
        </p:nvSpPr>
        <p:spPr>
          <a:xfrm>
            <a:off x="6979746" y="3794760"/>
            <a:ext cx="1402036" cy="914400"/>
          </a:xfrm>
          <a:prstGeom prst="rect">
            <a:avLst/>
          </a:prstGeom>
          <a:noFill/>
          <a:ln/>
        </p:spPr>
        <p:txBody>
          <a:bodyPr wrap="square" lIns="0" tIns="0" rIns="0" bIns="0" rtlCol="0" anchor="t"/>
          <a:lstStyle/>
          <a:p>
            <a:pPr algn="ctr" indent="0" marL="0">
              <a:buNone/>
            </a:pPr>
            <a:r>
              <a:rPr lang="en-US" sz="1250" dirty="0">
                <a:solidFill>
                  <a:srgbClr val="3D3D3D"/>
                </a:solidFill>
                <a:latin typeface="Arial" pitchFamily="34" charset="0"/>
                <a:ea typeface="Arial" pitchFamily="34" charset="-122"/>
                <a:cs typeface="Arial" pitchFamily="34" charset="-120"/>
              </a:rPr>
              <a:t>Pass mark set before it starts</a:t>
            </a:r>
            <a:endParaRPr lang="en-US" sz="1250" dirty="0"/>
          </a:p>
        </p:txBody>
      </p:sp>
      <p:sp>
        <p:nvSpPr>
          <p:cNvPr id="26" name="Shape 24"/>
          <p:cNvSpPr/>
          <p:nvPr/>
        </p:nvSpPr>
        <p:spPr>
          <a:xfrm>
            <a:off x="8991361" y="2377440"/>
            <a:ext cx="548640" cy="548640"/>
          </a:xfrm>
          <a:prstGeom prst="ellipse">
            <a:avLst/>
          </a:prstGeom>
          <a:solidFill>
            <a:srgbClr val="E4002B"/>
          </a:solidFill>
          <a:ln w="25400">
            <a:solidFill>
              <a:srgbClr val="FFFFFF"/>
            </a:solidFill>
            <a:prstDash val="solid"/>
          </a:ln>
        </p:spPr>
      </p:sp>
      <p:sp>
        <p:nvSpPr>
          <p:cNvPr id="27" name="Text 25"/>
          <p:cNvSpPr txBox="1"/>
          <p:nvPr/>
        </p:nvSpPr>
        <p:spPr>
          <a:xfrm>
            <a:off x="8991361" y="2468880"/>
            <a:ext cx="548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8" name="Text 26"/>
          <p:cNvSpPr txBox="1"/>
          <p:nvPr/>
        </p:nvSpPr>
        <p:spPr>
          <a:xfrm>
            <a:off x="8518942" y="3154680"/>
            <a:ext cx="1493476" cy="640080"/>
          </a:xfrm>
          <a:prstGeom prst="rect">
            <a:avLst/>
          </a:prstGeom>
          <a:noFill/>
          <a:ln/>
        </p:spPr>
        <p:txBody>
          <a:bodyPr wrap="square" lIns="0" tIns="0" rIns="0" bIns="0" rtlCol="0" anchor="t"/>
          <a:lstStyle/>
          <a:p>
            <a:pPr algn="ctr" indent="0" marL="0">
              <a:buNone/>
            </a:pPr>
            <a:r>
              <a:rPr lang="en-US" sz="1600" b="1" dirty="0">
                <a:solidFill>
                  <a:srgbClr val="111111"/>
                </a:solidFill>
                <a:latin typeface="Arial" pitchFamily="34" charset="0"/>
                <a:ea typeface="Arial" pitchFamily="34" charset="-122"/>
                <a:cs typeface="Arial" pitchFamily="34" charset="-120"/>
              </a:rPr>
              <a:t>Live</a:t>
            </a:r>
            <a:endParaRPr lang="en-US" sz="1600" dirty="0"/>
          </a:p>
        </p:txBody>
      </p:sp>
      <p:sp>
        <p:nvSpPr>
          <p:cNvPr id="29" name="Text 27"/>
          <p:cNvSpPr txBox="1"/>
          <p:nvPr/>
        </p:nvSpPr>
        <p:spPr>
          <a:xfrm>
            <a:off x="8564662" y="3794760"/>
            <a:ext cx="1402036" cy="914400"/>
          </a:xfrm>
          <a:prstGeom prst="rect">
            <a:avLst/>
          </a:prstGeom>
          <a:noFill/>
          <a:ln/>
        </p:spPr>
        <p:txBody>
          <a:bodyPr wrap="square" lIns="0" tIns="0" rIns="0" bIns="0" rtlCol="0" anchor="t"/>
          <a:lstStyle/>
          <a:p>
            <a:pPr algn="ctr" indent="0" marL="0">
              <a:buNone/>
            </a:pPr>
            <a:r>
              <a:rPr lang="en-US" sz="1250" dirty="0">
                <a:solidFill>
                  <a:srgbClr val="3D3D3D"/>
                </a:solidFill>
                <a:latin typeface="Arial" pitchFamily="34" charset="0"/>
                <a:ea typeface="Arial" pitchFamily="34" charset="-122"/>
                <a:cs typeface="Arial" pitchFamily="34" charset="-120"/>
              </a:rPr>
              <a:t>Monitored and reviewed</a:t>
            </a:r>
            <a:endParaRPr lang="en-US" sz="1250" dirty="0"/>
          </a:p>
        </p:txBody>
      </p:sp>
      <p:sp>
        <p:nvSpPr>
          <p:cNvPr id="30" name="Shape 28"/>
          <p:cNvSpPr/>
          <p:nvPr/>
        </p:nvSpPr>
        <p:spPr>
          <a:xfrm>
            <a:off x="10576277" y="2377440"/>
            <a:ext cx="548640" cy="548640"/>
          </a:xfrm>
          <a:prstGeom prst="ellipse">
            <a:avLst/>
          </a:prstGeom>
          <a:solidFill>
            <a:srgbClr val="111111"/>
          </a:solidFill>
          <a:ln w="25400">
            <a:solidFill>
              <a:srgbClr val="FFFFFF"/>
            </a:solidFill>
            <a:prstDash val="solid"/>
          </a:ln>
        </p:spPr>
      </p:sp>
      <p:sp>
        <p:nvSpPr>
          <p:cNvPr id="31" name="Text 29"/>
          <p:cNvSpPr txBox="1"/>
          <p:nvPr/>
        </p:nvSpPr>
        <p:spPr>
          <a:xfrm>
            <a:off x="10576277" y="2468880"/>
            <a:ext cx="548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32" name="Text 30"/>
          <p:cNvSpPr txBox="1"/>
          <p:nvPr/>
        </p:nvSpPr>
        <p:spPr>
          <a:xfrm>
            <a:off x="10103859" y="3154680"/>
            <a:ext cx="1493476" cy="640080"/>
          </a:xfrm>
          <a:prstGeom prst="rect">
            <a:avLst/>
          </a:prstGeom>
          <a:noFill/>
          <a:ln/>
        </p:spPr>
        <p:txBody>
          <a:bodyPr wrap="square" lIns="0" tIns="0" rIns="0" bIns="0" rtlCol="0" anchor="t"/>
          <a:lstStyle/>
          <a:p>
            <a:pPr algn="ctr" indent="0" marL="0">
              <a:buNone/>
            </a:pPr>
            <a:r>
              <a:rPr lang="en-US" sz="1600" b="1" dirty="0">
                <a:solidFill>
                  <a:srgbClr val="111111"/>
                </a:solidFill>
                <a:latin typeface="Arial" pitchFamily="34" charset="0"/>
                <a:ea typeface="Arial" pitchFamily="34" charset="-122"/>
                <a:cs typeface="Arial" pitchFamily="34" charset="-120"/>
              </a:rPr>
              <a:t>Closed</a:t>
            </a:r>
            <a:endParaRPr lang="en-US" sz="1600" dirty="0"/>
          </a:p>
        </p:txBody>
      </p:sp>
      <p:sp>
        <p:nvSpPr>
          <p:cNvPr id="33" name="Text 31"/>
          <p:cNvSpPr txBox="1"/>
          <p:nvPr/>
        </p:nvSpPr>
        <p:spPr>
          <a:xfrm>
            <a:off x="10149579" y="3794760"/>
            <a:ext cx="1402036" cy="914400"/>
          </a:xfrm>
          <a:prstGeom prst="rect">
            <a:avLst/>
          </a:prstGeom>
          <a:noFill/>
          <a:ln/>
        </p:spPr>
        <p:txBody>
          <a:bodyPr wrap="square" lIns="0" tIns="0" rIns="0" bIns="0" rtlCol="0" anchor="t"/>
          <a:lstStyle/>
          <a:p>
            <a:pPr algn="ctr" indent="0" marL="0">
              <a:buNone/>
            </a:pPr>
            <a:r>
              <a:rPr lang="en-US" sz="1250" dirty="0">
                <a:solidFill>
                  <a:srgbClr val="3D3D3D"/>
                </a:solidFill>
                <a:latin typeface="Arial" pitchFamily="34" charset="0"/>
                <a:ea typeface="Arial" pitchFamily="34" charset="-122"/>
                <a:cs typeface="Arial" pitchFamily="34" charset="-120"/>
              </a:rPr>
              <a:t>Post-launch review done</a:t>
            </a:r>
            <a:endParaRPr lang="en-US" sz="1250" dirty="0"/>
          </a:p>
        </p:txBody>
      </p:sp>
      <p:sp>
        <p:nvSpPr>
          <p:cNvPr id="34" name="Shape 32"/>
          <p:cNvSpPr/>
          <p:nvPr/>
        </p:nvSpPr>
        <p:spPr>
          <a:xfrm>
            <a:off x="548640" y="4983480"/>
            <a:ext cx="11094415" cy="1051560"/>
          </a:xfrm>
          <a:prstGeom prst="rect">
            <a:avLst/>
          </a:prstGeom>
          <a:solidFill>
            <a:srgbClr val="F4F4F4"/>
          </a:solidFill>
          <a:ln w="12700">
            <a:solidFill>
              <a:srgbClr val="F4F4F4"/>
            </a:solidFill>
            <a:prstDash val="solid"/>
          </a:ln>
        </p:spPr>
      </p:sp>
      <p:sp>
        <p:nvSpPr>
          <p:cNvPr id="35" name="Text 33"/>
          <p:cNvSpPr txBox="1"/>
          <p:nvPr/>
        </p:nvSpPr>
        <p:spPr>
          <a:xfrm>
            <a:off x="822960" y="5138928"/>
            <a:ext cx="10545775" cy="822960"/>
          </a:xfrm>
          <a:prstGeom prst="rect">
            <a:avLst/>
          </a:prstGeom>
          <a:noFill/>
          <a:ln/>
        </p:spPr>
        <p:txBody>
          <a:bodyPr wrap="square" rtlCol="0" anchor="t"/>
          <a:lstStyle/>
          <a:p>
            <a:pPr marL="228600" indent="-228600">
              <a:buSzPct val="100000"/>
              <a:buChar char="•"/>
            </a:pPr>
            <a:r>
              <a:rPr lang="en-US" sz="1500" b="1" dirty="0">
                <a:solidFill>
                  <a:srgbClr val="111111"/>
                </a:solidFill>
                <a:latin typeface="Arial" pitchFamily="34" charset="0"/>
                <a:ea typeface="Arial" pitchFamily="34" charset="-122"/>
                <a:cs typeface="Arial" pitchFamily="34" charset="-120"/>
              </a:rPr>
              <a:t>Gates, not suggestions. </a:t>
            </a:r>
            <a:pPr indent="0" marL="0">
              <a:spcAft>
                <a:spcPts val="1000"/>
              </a:spcAft>
              <a:buNone/>
            </a:pPr>
            <a:r>
              <a:rPr lang="en-US" sz="1500" dirty="0">
                <a:solidFill>
                  <a:srgbClr val="3D3D3D"/>
                </a:solidFill>
                <a:latin typeface="Arial" pitchFamily="34" charset="0"/>
                <a:ea typeface="Arial" pitchFamily="34" charset="-122"/>
                <a:cs typeface="Arial" pitchFamily="34" charset="-120"/>
              </a:rPr>
              <a:t>The portal won't move a project to the next stage until the required paperwork is complete. Only the AI review board can record an approval, and never on a project they started.</a:t>
            </a:r>
            <a:endParaRPr lang="en-US" sz="1500" dirty="0"/>
          </a:p>
        </p:txBody>
      </p:sp>
      <p:sp>
        <p:nvSpPr>
          <p:cNvPr id="36" name="Text 34"/>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37" name="Text 35"/>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GOVERNANCE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Three risk tiers decide how much review a project needs</a:t>
            </a:r>
            <a:endParaRPr lang="en-US" sz="3200" dirty="0"/>
          </a:p>
        </p:txBody>
      </p:sp>
      <p:sp>
        <p:nvSpPr>
          <p:cNvPr id="4" name="Shape 2"/>
          <p:cNvSpPr/>
          <p:nvPr/>
        </p:nvSpPr>
        <p:spPr>
          <a:xfrm>
            <a:off x="548640" y="1691640"/>
            <a:ext cx="3520440" cy="4343400"/>
          </a:xfrm>
          <a:prstGeom prst="rect">
            <a:avLst/>
          </a:prstGeom>
          <a:solidFill>
            <a:srgbClr val="F4F4F4"/>
          </a:solidFill>
          <a:ln w="12700">
            <a:solidFill>
              <a:srgbClr val="F4F4F4"/>
            </a:solidFill>
            <a:prstDash val="solid"/>
          </a:ln>
        </p:spPr>
      </p:sp>
      <p:sp>
        <p:nvSpPr>
          <p:cNvPr id="5" name="Text 3"/>
          <p:cNvSpPr txBox="1"/>
          <p:nvPr/>
        </p:nvSpPr>
        <p:spPr>
          <a:xfrm>
            <a:off x="822960" y="1874520"/>
            <a:ext cx="2926080" cy="54864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Tier 1</a:t>
            </a:r>
            <a:endParaRPr lang="en-US" sz="3000" dirty="0"/>
          </a:p>
        </p:txBody>
      </p:sp>
      <p:sp>
        <p:nvSpPr>
          <p:cNvPr id="6" name="Text 4"/>
          <p:cNvSpPr txBox="1"/>
          <p:nvPr/>
        </p:nvSpPr>
        <p:spPr>
          <a:xfrm>
            <a:off x="822960" y="2468880"/>
            <a:ext cx="2926080" cy="36576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Low risk</a:t>
            </a:r>
            <a:endParaRPr lang="en-US" sz="1800" dirty="0"/>
          </a:p>
        </p:txBody>
      </p:sp>
      <p:sp>
        <p:nvSpPr>
          <p:cNvPr id="7" name="Text 5"/>
          <p:cNvSpPr txBox="1"/>
          <p:nvPr/>
        </p:nvSpPr>
        <p:spPr>
          <a:xfrm>
            <a:off x="822960" y="2971800"/>
            <a:ext cx="2971800" cy="109728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Internal use, general data, and a person checks the output.</a:t>
            </a:r>
            <a:endParaRPr lang="en-US" sz="1400" dirty="0"/>
          </a:p>
        </p:txBody>
      </p:sp>
      <p:sp>
        <p:nvSpPr>
          <p:cNvPr id="8" name="Text 6"/>
          <p:cNvSpPr txBox="1"/>
          <p:nvPr/>
        </p:nvSpPr>
        <p:spPr>
          <a:xfrm>
            <a:off x="822960" y="4160520"/>
            <a:ext cx="2926080" cy="274320"/>
          </a:xfrm>
          <a:prstGeom prst="rect">
            <a:avLst/>
          </a:prstGeom>
          <a:noFill/>
          <a:ln/>
        </p:spPr>
        <p:txBody>
          <a:bodyPr wrap="square" lIns="0" tIns="0" rIns="0" bIns="0" rtlCol="0" anchor="t"/>
          <a:lstStyle/>
          <a:p>
            <a:pPr indent="0" marL="0">
              <a:buNone/>
            </a:pPr>
            <a:r>
              <a:rPr lang="en-US" sz="1000" b="1" spc="100" kern="0" dirty="0">
                <a:solidFill>
                  <a:srgbClr val="111111"/>
                </a:solidFill>
                <a:latin typeface="Arial" pitchFamily="34" charset="0"/>
                <a:ea typeface="Arial" pitchFamily="34" charset="-122"/>
                <a:cs typeface="Arial" pitchFamily="34" charset="-120"/>
              </a:rPr>
              <a:t>APPROVED BY</a:t>
            </a:r>
            <a:endParaRPr lang="en-US" sz="1000" dirty="0"/>
          </a:p>
        </p:txBody>
      </p:sp>
      <p:sp>
        <p:nvSpPr>
          <p:cNvPr id="9" name="Text 7"/>
          <p:cNvSpPr txBox="1"/>
          <p:nvPr/>
        </p:nvSpPr>
        <p:spPr>
          <a:xfrm>
            <a:off x="822960" y="4434840"/>
            <a:ext cx="2971800" cy="54864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Team lead and AI governance lead</a:t>
            </a:r>
            <a:endParaRPr lang="en-US" sz="1400" dirty="0"/>
          </a:p>
        </p:txBody>
      </p:sp>
      <p:sp>
        <p:nvSpPr>
          <p:cNvPr id="10" name="Text 8"/>
          <p:cNvSpPr txBox="1"/>
          <p:nvPr/>
        </p:nvSpPr>
        <p:spPr>
          <a:xfrm>
            <a:off x="822960" y="5074920"/>
            <a:ext cx="2926080" cy="274320"/>
          </a:xfrm>
          <a:prstGeom prst="rect">
            <a:avLst/>
          </a:prstGeom>
          <a:noFill/>
          <a:ln/>
        </p:spPr>
        <p:txBody>
          <a:bodyPr wrap="square" lIns="0" tIns="0" rIns="0" bIns="0" rtlCol="0" anchor="t"/>
          <a:lstStyle/>
          <a:p>
            <a:pPr indent="0" marL="0">
              <a:buNone/>
            </a:pPr>
            <a:r>
              <a:rPr lang="en-US" sz="1000" b="1" spc="100" kern="0" dirty="0">
                <a:solidFill>
                  <a:srgbClr val="111111"/>
                </a:solidFill>
                <a:latin typeface="Arial" pitchFamily="34" charset="0"/>
                <a:ea typeface="Arial" pitchFamily="34" charset="-122"/>
                <a:cs typeface="Arial" pitchFamily="34" charset="-120"/>
              </a:rPr>
              <a:t>RISK REVIEW ONCE LIVE</a:t>
            </a:r>
            <a:endParaRPr lang="en-US" sz="1000" dirty="0"/>
          </a:p>
        </p:txBody>
      </p:sp>
      <p:sp>
        <p:nvSpPr>
          <p:cNvPr id="11" name="Text 9"/>
          <p:cNvSpPr txBox="1"/>
          <p:nvPr/>
        </p:nvSpPr>
        <p:spPr>
          <a:xfrm>
            <a:off x="822960" y="5349240"/>
            <a:ext cx="2926080" cy="36576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Every year</a:t>
            </a:r>
            <a:endParaRPr lang="en-US" sz="1400" dirty="0"/>
          </a:p>
        </p:txBody>
      </p:sp>
      <p:sp>
        <p:nvSpPr>
          <p:cNvPr id="12" name="Shape 10"/>
          <p:cNvSpPr/>
          <p:nvPr/>
        </p:nvSpPr>
        <p:spPr>
          <a:xfrm>
            <a:off x="4297680" y="1691640"/>
            <a:ext cx="3520440" cy="4343400"/>
          </a:xfrm>
          <a:prstGeom prst="rect">
            <a:avLst/>
          </a:prstGeom>
          <a:solidFill>
            <a:srgbClr val="3D3D3D"/>
          </a:solidFill>
          <a:ln w="12700">
            <a:solidFill>
              <a:srgbClr val="3D3D3D"/>
            </a:solidFill>
            <a:prstDash val="solid"/>
          </a:ln>
        </p:spPr>
      </p:sp>
      <p:sp>
        <p:nvSpPr>
          <p:cNvPr id="13" name="Text 11"/>
          <p:cNvSpPr txBox="1"/>
          <p:nvPr/>
        </p:nvSpPr>
        <p:spPr>
          <a:xfrm>
            <a:off x="4572000" y="1874520"/>
            <a:ext cx="2926080"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Tier 2</a:t>
            </a:r>
            <a:endParaRPr lang="en-US" sz="3000" dirty="0"/>
          </a:p>
        </p:txBody>
      </p:sp>
      <p:sp>
        <p:nvSpPr>
          <p:cNvPr id="14" name="Text 12"/>
          <p:cNvSpPr txBox="1"/>
          <p:nvPr/>
        </p:nvSpPr>
        <p:spPr>
          <a:xfrm>
            <a:off x="4572000" y="2468880"/>
            <a:ext cx="2926080" cy="36576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Medium risk</a:t>
            </a:r>
            <a:endParaRPr lang="en-US" sz="1800" dirty="0"/>
          </a:p>
        </p:txBody>
      </p:sp>
      <p:sp>
        <p:nvSpPr>
          <p:cNvPr id="15" name="Text 13"/>
          <p:cNvSpPr txBox="1"/>
          <p:nvPr/>
        </p:nvSpPr>
        <p:spPr>
          <a:xfrm>
            <a:off x="4572000" y="2971800"/>
            <a:ext cx="2971800" cy="109728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Personal or confidential data, automated actions, finance processes, or a new vendor.</a:t>
            </a:r>
            <a:endParaRPr lang="en-US" sz="1400" dirty="0"/>
          </a:p>
        </p:txBody>
      </p:sp>
      <p:sp>
        <p:nvSpPr>
          <p:cNvPr id="16" name="Text 14"/>
          <p:cNvSpPr txBox="1"/>
          <p:nvPr/>
        </p:nvSpPr>
        <p:spPr>
          <a:xfrm>
            <a:off x="4572000" y="4160520"/>
            <a:ext cx="2926080" cy="274320"/>
          </a:xfrm>
          <a:prstGeom prst="rect">
            <a:avLst/>
          </a:prstGeom>
          <a:noFill/>
          <a:ln/>
        </p:spPr>
        <p:txBody>
          <a:bodyPr wrap="square" lIns="0" tIns="0" rIns="0" bIns="0" rtlCol="0" anchor="t"/>
          <a:lstStyle/>
          <a:p>
            <a:pPr indent="0" marL="0">
              <a:buNone/>
            </a:pPr>
            <a:r>
              <a:rPr lang="en-US" sz="1000" b="1" spc="100" kern="0" dirty="0">
                <a:solidFill>
                  <a:srgbClr val="FFFFFF"/>
                </a:solidFill>
                <a:latin typeface="Arial" pitchFamily="34" charset="0"/>
                <a:ea typeface="Arial" pitchFamily="34" charset="-122"/>
                <a:cs typeface="Arial" pitchFamily="34" charset="-120"/>
              </a:rPr>
              <a:t>APPROVED BY</a:t>
            </a:r>
            <a:endParaRPr lang="en-US" sz="1000" dirty="0"/>
          </a:p>
        </p:txBody>
      </p:sp>
      <p:sp>
        <p:nvSpPr>
          <p:cNvPr id="17" name="Text 15"/>
          <p:cNvSpPr txBox="1"/>
          <p:nvPr/>
        </p:nvSpPr>
        <p:spPr>
          <a:xfrm>
            <a:off x="4572000" y="4434840"/>
            <a:ext cx="2971800" cy="5486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AI review board</a:t>
            </a:r>
            <a:endParaRPr lang="en-US" sz="1400" dirty="0"/>
          </a:p>
        </p:txBody>
      </p:sp>
      <p:sp>
        <p:nvSpPr>
          <p:cNvPr id="18" name="Text 16"/>
          <p:cNvSpPr txBox="1"/>
          <p:nvPr/>
        </p:nvSpPr>
        <p:spPr>
          <a:xfrm>
            <a:off x="4572000" y="5074920"/>
            <a:ext cx="2926080" cy="274320"/>
          </a:xfrm>
          <a:prstGeom prst="rect">
            <a:avLst/>
          </a:prstGeom>
          <a:noFill/>
          <a:ln/>
        </p:spPr>
        <p:txBody>
          <a:bodyPr wrap="square" lIns="0" tIns="0" rIns="0" bIns="0" rtlCol="0" anchor="t"/>
          <a:lstStyle/>
          <a:p>
            <a:pPr indent="0" marL="0">
              <a:buNone/>
            </a:pPr>
            <a:r>
              <a:rPr lang="en-US" sz="1000" b="1" spc="100" kern="0" dirty="0">
                <a:solidFill>
                  <a:srgbClr val="FFFFFF"/>
                </a:solidFill>
                <a:latin typeface="Arial" pitchFamily="34" charset="0"/>
                <a:ea typeface="Arial" pitchFamily="34" charset="-122"/>
                <a:cs typeface="Arial" pitchFamily="34" charset="-120"/>
              </a:rPr>
              <a:t>RISK REVIEW ONCE LIVE</a:t>
            </a:r>
            <a:endParaRPr lang="en-US" sz="1000" dirty="0"/>
          </a:p>
        </p:txBody>
      </p:sp>
      <p:sp>
        <p:nvSpPr>
          <p:cNvPr id="19" name="Text 17"/>
          <p:cNvSpPr txBox="1"/>
          <p:nvPr/>
        </p:nvSpPr>
        <p:spPr>
          <a:xfrm>
            <a:off x="4572000" y="5349240"/>
            <a:ext cx="292608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Every year</a:t>
            </a:r>
            <a:endParaRPr lang="en-US" sz="1400" dirty="0"/>
          </a:p>
        </p:txBody>
      </p:sp>
      <p:sp>
        <p:nvSpPr>
          <p:cNvPr id="20" name="Shape 18"/>
          <p:cNvSpPr/>
          <p:nvPr/>
        </p:nvSpPr>
        <p:spPr>
          <a:xfrm>
            <a:off x="8046720" y="1691640"/>
            <a:ext cx="3520440" cy="4343400"/>
          </a:xfrm>
          <a:prstGeom prst="rect">
            <a:avLst/>
          </a:prstGeom>
          <a:solidFill>
            <a:srgbClr val="E4002B"/>
          </a:solidFill>
          <a:ln w="12700">
            <a:solidFill>
              <a:srgbClr val="E4002B"/>
            </a:solidFill>
            <a:prstDash val="solid"/>
          </a:ln>
        </p:spPr>
      </p:sp>
      <p:sp>
        <p:nvSpPr>
          <p:cNvPr id="21" name="Text 19"/>
          <p:cNvSpPr txBox="1"/>
          <p:nvPr/>
        </p:nvSpPr>
        <p:spPr>
          <a:xfrm>
            <a:off x="8321040" y="1874520"/>
            <a:ext cx="2926080"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Tier 3</a:t>
            </a:r>
            <a:endParaRPr lang="en-US" sz="3000" dirty="0"/>
          </a:p>
        </p:txBody>
      </p:sp>
      <p:sp>
        <p:nvSpPr>
          <p:cNvPr id="22" name="Text 20"/>
          <p:cNvSpPr txBox="1"/>
          <p:nvPr/>
        </p:nvSpPr>
        <p:spPr>
          <a:xfrm>
            <a:off x="8321040" y="2468880"/>
            <a:ext cx="2926080" cy="36576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High risk</a:t>
            </a:r>
            <a:endParaRPr lang="en-US" sz="1800" dirty="0"/>
          </a:p>
        </p:txBody>
      </p:sp>
      <p:sp>
        <p:nvSpPr>
          <p:cNvPr id="23" name="Text 21"/>
          <p:cNvSpPr txBox="1"/>
          <p:nvPr/>
        </p:nvSpPr>
        <p:spPr>
          <a:xfrm>
            <a:off x="8321040" y="2971800"/>
            <a:ext cx="2971800" cy="109728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A Microsoft sensitive use, or output reaching customers without a person checking it.</a:t>
            </a:r>
            <a:endParaRPr lang="en-US" sz="1400" dirty="0"/>
          </a:p>
        </p:txBody>
      </p:sp>
      <p:sp>
        <p:nvSpPr>
          <p:cNvPr id="24" name="Text 22"/>
          <p:cNvSpPr txBox="1"/>
          <p:nvPr/>
        </p:nvSpPr>
        <p:spPr>
          <a:xfrm>
            <a:off x="8321040" y="4160520"/>
            <a:ext cx="2926080" cy="274320"/>
          </a:xfrm>
          <a:prstGeom prst="rect">
            <a:avLst/>
          </a:prstGeom>
          <a:noFill/>
          <a:ln/>
        </p:spPr>
        <p:txBody>
          <a:bodyPr wrap="square" lIns="0" tIns="0" rIns="0" bIns="0" rtlCol="0" anchor="t"/>
          <a:lstStyle/>
          <a:p>
            <a:pPr indent="0" marL="0">
              <a:buNone/>
            </a:pPr>
            <a:r>
              <a:rPr lang="en-US" sz="1000" b="1" spc="100" kern="0" dirty="0">
                <a:solidFill>
                  <a:srgbClr val="FFFFFF"/>
                </a:solidFill>
                <a:latin typeface="Arial" pitchFamily="34" charset="0"/>
                <a:ea typeface="Arial" pitchFamily="34" charset="-122"/>
                <a:cs typeface="Arial" pitchFamily="34" charset="-120"/>
              </a:rPr>
              <a:t>APPROVED BY</a:t>
            </a:r>
            <a:endParaRPr lang="en-US" sz="1000" dirty="0"/>
          </a:p>
        </p:txBody>
      </p:sp>
      <p:sp>
        <p:nvSpPr>
          <p:cNvPr id="25" name="Text 23"/>
          <p:cNvSpPr txBox="1"/>
          <p:nvPr/>
        </p:nvSpPr>
        <p:spPr>
          <a:xfrm>
            <a:off x="8321040" y="4434840"/>
            <a:ext cx="2971800" cy="5486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AI review board with Legal and Security</a:t>
            </a:r>
            <a:endParaRPr lang="en-US" sz="1400" dirty="0"/>
          </a:p>
        </p:txBody>
      </p:sp>
      <p:sp>
        <p:nvSpPr>
          <p:cNvPr id="26" name="Text 24"/>
          <p:cNvSpPr txBox="1"/>
          <p:nvPr/>
        </p:nvSpPr>
        <p:spPr>
          <a:xfrm>
            <a:off x="8321040" y="5074920"/>
            <a:ext cx="2926080" cy="274320"/>
          </a:xfrm>
          <a:prstGeom prst="rect">
            <a:avLst/>
          </a:prstGeom>
          <a:noFill/>
          <a:ln/>
        </p:spPr>
        <p:txBody>
          <a:bodyPr wrap="square" lIns="0" tIns="0" rIns="0" bIns="0" rtlCol="0" anchor="t"/>
          <a:lstStyle/>
          <a:p>
            <a:pPr indent="0" marL="0">
              <a:buNone/>
            </a:pPr>
            <a:r>
              <a:rPr lang="en-US" sz="1000" b="1" spc="100" kern="0" dirty="0">
                <a:solidFill>
                  <a:srgbClr val="FFFFFF"/>
                </a:solidFill>
                <a:latin typeface="Arial" pitchFamily="34" charset="0"/>
                <a:ea typeface="Arial" pitchFamily="34" charset="-122"/>
                <a:cs typeface="Arial" pitchFamily="34" charset="-120"/>
              </a:rPr>
              <a:t>RISK REVIEW ONCE LIVE</a:t>
            </a:r>
            <a:endParaRPr lang="en-US" sz="1000" dirty="0"/>
          </a:p>
        </p:txBody>
      </p:sp>
      <p:sp>
        <p:nvSpPr>
          <p:cNvPr id="27" name="Text 25"/>
          <p:cNvSpPr txBox="1"/>
          <p:nvPr/>
        </p:nvSpPr>
        <p:spPr>
          <a:xfrm>
            <a:off x="8321040" y="5349240"/>
            <a:ext cx="292608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Every quarter</a:t>
            </a:r>
            <a:endParaRPr lang="en-US" sz="1400" dirty="0"/>
          </a:p>
        </p:txBody>
      </p:sp>
      <p:sp>
        <p:nvSpPr>
          <p:cNvPr id="28" name="Text 26"/>
          <p:cNvSpPr txBox="1"/>
          <p:nvPr/>
        </p:nvSpPr>
        <p:spPr>
          <a:xfrm>
            <a:off x="548640" y="6172200"/>
            <a:ext cx="7315200" cy="274320"/>
          </a:xfrm>
          <a:prstGeom prst="rect">
            <a:avLst/>
          </a:prstGeom>
          <a:noFill/>
          <a:ln/>
        </p:spPr>
        <p:txBody>
          <a:bodyPr wrap="square" lIns="0" tIns="0" rIns="0" bIns="0" rtlCol="0" anchor="t"/>
          <a:lstStyle/>
          <a:p>
            <a:pPr indent="0" marL="0">
              <a:buNone/>
            </a:pPr>
            <a:r>
              <a:rPr lang="en-US" sz="1300" i="1" dirty="0">
                <a:solidFill>
                  <a:srgbClr val="6B6B6B"/>
                </a:solidFill>
                <a:latin typeface="Arial" pitchFamily="34" charset="0"/>
                <a:ea typeface="Arial" pitchFamily="34" charset="-122"/>
                <a:cs typeface="Arial" pitchFamily="34" charset="-120"/>
              </a:rPr>
              <a:t>The highest “yes” in the risk screen sets the tier.</a:t>
            </a:r>
            <a:endParaRPr lang="en-US" sz="1300" dirty="0"/>
          </a:p>
        </p:txBody>
      </p:sp>
      <p:sp>
        <p:nvSpPr>
          <p:cNvPr id="29" name="Text 27"/>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30" name="Text 28"/>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GOVERNANCE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The paperwork each tier needs</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All of it lives in the project's page in the AI portal, and exports as one governance pack PDF.</a:t>
            </a:r>
            <a:endParaRPr lang="en-US" sz="1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4415" cy="914400"/>
        </p:xfrm>
        <a:graphic>
          <a:graphicData uri="http://schemas.openxmlformats.org/drawingml/2006/table">
            <a:tbl>
              <a:tblPr/>
              <a:tblGrid>
                <a:gridCol w="3108960"/>
                <a:gridCol w="5971032"/>
                <a:gridCol w="640080"/>
                <a:gridCol w="640080"/>
                <a:gridCol w="731520"/>
              </a:tblGrid>
              <a:tr h="420624">
                <a:tc>
                  <a:txBody>
                    <a:bodyPr/>
                    <a:lstStyle/>
                    <a:p>
                      <a:pPr algn="l" indent="0" marL="0">
                        <a:buNone/>
                      </a:pPr>
                      <a:r>
                        <a:rPr lang="en-US" sz="1350" b="1" dirty="0">
                          <a:solidFill>
                            <a:srgbClr val="FFFFFF"/>
                          </a:solidFill>
                          <a:latin typeface="Arial" pitchFamily="34" charset="0"/>
                          <a:ea typeface="Arial" pitchFamily="34" charset="-122"/>
                          <a:cs typeface="Arial" pitchFamily="34" charset="-120"/>
                        </a:rPr>
                        <a:t>Paperwork</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11111"/>
                    </a:solidFill>
                  </a:tcPr>
                </a:tc>
                <a:tc>
                  <a:txBody>
                    <a:bodyPr/>
                    <a:lstStyle/>
                    <a:p>
                      <a:pPr algn="l" indent="0" marL="0">
                        <a:buNone/>
                      </a:pPr>
                      <a:r>
                        <a:rPr lang="en-US" sz="1350" b="1" dirty="0">
                          <a:solidFill>
                            <a:srgbClr val="FFFFFF"/>
                          </a:solidFill>
                          <a:latin typeface="Arial" pitchFamily="34" charset="0"/>
                          <a:ea typeface="Arial" pitchFamily="34" charset="-122"/>
                          <a:cs typeface="Arial" pitchFamily="34" charset="-120"/>
                        </a:rPr>
                        <a:t>What it answers</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11111"/>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T1</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11111"/>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T2</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11111"/>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T3</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11111"/>
                    </a:solidFill>
                  </a:tcPr>
                </a:tc>
              </a:tr>
              <a:tr h="420624">
                <a:tc>
                  <a:txBody>
                    <a:bodyPr/>
                    <a:lstStyle/>
                    <a:p>
                      <a:pPr algn="l" indent="0" marL="0">
                        <a:buNone/>
                      </a:pPr>
                      <a:r>
                        <a:rPr lang="en-US" sz="1350" b="1" dirty="0">
                          <a:solidFill>
                            <a:srgbClr val="111111"/>
                          </a:solidFill>
                          <a:latin typeface="Arial" pitchFamily="34" charset="0"/>
                          <a:ea typeface="Arial" pitchFamily="34" charset="-122"/>
                          <a:cs typeface="Arial" pitchFamily="34" charset="-120"/>
                        </a:rPr>
                        <a:t>Intake and idea check</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indent="0" marL="0">
                        <a:buNone/>
                      </a:pPr>
                      <a:r>
                        <a:rPr lang="en-US" sz="1350" dirty="0">
                          <a:solidFill>
                            <a:srgbClr val="3D3D3D"/>
                          </a:solidFill>
                          <a:latin typeface="Arial" pitchFamily="34" charset="0"/>
                          <a:ea typeface="Arial" pitchFamily="34" charset="-122"/>
                          <a:cs typeface="Arial" pitchFamily="34" charset="-120"/>
                        </a:rPr>
                        <a:t>Is this a job for AI at all?</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420624">
                <a:tc>
                  <a:txBody>
                    <a:bodyPr/>
                    <a:lstStyle/>
                    <a:p>
                      <a:pPr algn="l" indent="0" marL="0">
                        <a:buNone/>
                      </a:pPr>
                      <a:r>
                        <a:rPr lang="en-US" sz="1350" b="1" dirty="0">
                          <a:solidFill>
                            <a:srgbClr val="111111"/>
                          </a:solidFill>
                          <a:latin typeface="Arial" pitchFamily="34" charset="0"/>
                          <a:ea typeface="Arial" pitchFamily="34" charset="-122"/>
                          <a:cs typeface="Arial" pitchFamily="34" charset="-120"/>
                        </a:rPr>
                        <a:t>Risk tier</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l" indent="0" marL="0">
                        <a:buNone/>
                      </a:pPr>
                      <a:r>
                        <a:rPr lang="en-US" sz="1350" dirty="0">
                          <a:solidFill>
                            <a:srgbClr val="3D3D3D"/>
                          </a:solidFill>
                          <a:latin typeface="Arial" pitchFamily="34" charset="0"/>
                          <a:ea typeface="Arial" pitchFamily="34" charset="-122"/>
                          <a:cs typeface="Arial" pitchFamily="34" charset="-120"/>
                        </a:rPr>
                        <a:t>How risky is it, using the sensitive uses and screening?</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r>
              <a:tr h="420624">
                <a:tc>
                  <a:txBody>
                    <a:bodyPr/>
                    <a:lstStyle/>
                    <a:p>
                      <a:pPr algn="l" indent="0" marL="0">
                        <a:buNone/>
                      </a:pPr>
                      <a:r>
                        <a:rPr lang="en-US" sz="1350" b="1" dirty="0">
                          <a:solidFill>
                            <a:srgbClr val="111111"/>
                          </a:solidFill>
                          <a:latin typeface="Arial" pitchFamily="34" charset="0"/>
                          <a:ea typeface="Arial" pitchFamily="34" charset="-122"/>
                          <a:cs typeface="Arial" pitchFamily="34" charset="-120"/>
                        </a:rPr>
                        <a:t>Exec brief</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indent="0" marL="0">
                        <a:buNone/>
                      </a:pPr>
                      <a:r>
                        <a:rPr lang="en-US" sz="1350" dirty="0">
                          <a:solidFill>
                            <a:srgbClr val="3D3D3D"/>
                          </a:solidFill>
                          <a:latin typeface="Arial" pitchFamily="34" charset="0"/>
                          <a:ea typeface="Arial" pitchFamily="34" charset="-122"/>
                          <a:cs typeface="Arial" pitchFamily="34" charset="-120"/>
                        </a:rPr>
                        <a:t>What's the ask, the problem, the plan and the numbers?</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420624">
                <a:tc>
                  <a:txBody>
                    <a:bodyPr/>
                    <a:lstStyle/>
                    <a:p>
                      <a:pPr algn="l" indent="0" marL="0">
                        <a:buNone/>
                      </a:pPr>
                      <a:r>
                        <a:rPr lang="en-US" sz="1350" b="1" dirty="0">
                          <a:solidFill>
                            <a:srgbClr val="111111"/>
                          </a:solidFill>
                          <a:latin typeface="Arial" pitchFamily="34" charset="0"/>
                          <a:ea typeface="Arial" pitchFamily="34" charset="-122"/>
                          <a:cs typeface="Arial" pitchFamily="34" charset="-120"/>
                        </a:rPr>
                        <a:t>Approval record</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l" indent="0" marL="0">
                        <a:buNone/>
                      </a:pPr>
                      <a:r>
                        <a:rPr lang="en-US" sz="1350" dirty="0">
                          <a:solidFill>
                            <a:srgbClr val="3D3D3D"/>
                          </a:solidFill>
                          <a:latin typeface="Arial" pitchFamily="34" charset="0"/>
                          <a:ea typeface="Arial" pitchFamily="34" charset="-122"/>
                          <a:cs typeface="Arial" pitchFamily="34" charset="-120"/>
                        </a:rPr>
                        <a:t>Who decided, when, and on what conditions?</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r>
              <a:tr h="420624">
                <a:tc>
                  <a:txBody>
                    <a:bodyPr/>
                    <a:lstStyle/>
                    <a:p>
                      <a:pPr algn="l" indent="0" marL="0">
                        <a:buNone/>
                      </a:pPr>
                      <a:r>
                        <a:rPr lang="en-US" sz="1350" b="1" dirty="0">
                          <a:solidFill>
                            <a:srgbClr val="111111"/>
                          </a:solidFill>
                          <a:latin typeface="Arial" pitchFamily="34" charset="0"/>
                          <a:ea typeface="Arial" pitchFamily="34" charset="-122"/>
                          <a:cs typeface="Arial" pitchFamily="34" charset="-120"/>
                        </a:rPr>
                        <a:t>Pilot plan and result</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indent="0" marL="0">
                        <a:buNone/>
                      </a:pPr>
                      <a:r>
                        <a:rPr lang="en-US" sz="1350" dirty="0">
                          <a:solidFill>
                            <a:srgbClr val="3D3D3D"/>
                          </a:solidFill>
                          <a:latin typeface="Arial" pitchFamily="34" charset="0"/>
                          <a:ea typeface="Arial" pitchFamily="34" charset="-122"/>
                          <a:cs typeface="Arial" pitchFamily="34" charset="-120"/>
                        </a:rPr>
                        <a:t>What pass mark did we set, and did we hit it?</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420624">
                <a:tc>
                  <a:txBody>
                    <a:bodyPr/>
                    <a:lstStyle/>
                    <a:p>
                      <a:pPr algn="l" indent="0" marL="0">
                        <a:buNone/>
                      </a:pPr>
                      <a:r>
                        <a:rPr lang="en-US" sz="1350" b="1" dirty="0">
                          <a:solidFill>
                            <a:srgbClr val="111111"/>
                          </a:solidFill>
                          <a:latin typeface="Arial" pitchFamily="34" charset="0"/>
                          <a:ea typeface="Arial" pitchFamily="34" charset="-122"/>
                          <a:cs typeface="Arial" pitchFamily="34" charset="-120"/>
                        </a:rPr>
                        <a:t>Responsible AI assessment</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l" indent="0" marL="0">
                        <a:buNone/>
                      </a:pPr>
                      <a:r>
                        <a:rPr lang="en-US" sz="1350" dirty="0">
                          <a:solidFill>
                            <a:srgbClr val="3D3D3D"/>
                          </a:solidFill>
                          <a:latin typeface="Arial" pitchFamily="34" charset="0"/>
                          <a:ea typeface="Arial" pitchFamily="34" charset="-122"/>
                          <a:cs typeface="Arial" pitchFamily="34" charset="-120"/>
                        </a:rPr>
                        <a:t>How does it meet each of the six principles?</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r>
              <a:tr h="420624">
                <a:tc>
                  <a:txBody>
                    <a:bodyPr/>
                    <a:lstStyle/>
                    <a:p>
                      <a:pPr algn="l" indent="0" marL="0">
                        <a:buNone/>
                      </a:pPr>
                      <a:r>
                        <a:rPr lang="en-US" sz="1350" b="1" dirty="0">
                          <a:solidFill>
                            <a:srgbClr val="111111"/>
                          </a:solidFill>
                          <a:latin typeface="Arial" pitchFamily="34" charset="0"/>
                          <a:ea typeface="Arial" pitchFamily="34" charset="-122"/>
                          <a:cs typeface="Arial" pitchFamily="34" charset="-120"/>
                        </a:rPr>
                        <a:t>Privacy and legal sign-off</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indent="0" marL="0">
                        <a:buNone/>
                      </a:pPr>
                      <a:r>
                        <a:rPr lang="en-US" sz="1350" dirty="0">
                          <a:solidFill>
                            <a:srgbClr val="3D3D3D"/>
                          </a:solidFill>
                          <a:latin typeface="Arial" pitchFamily="34" charset="0"/>
                          <a:ea typeface="Arial" pitchFamily="34" charset="-122"/>
                          <a:cs typeface="Arial" pitchFamily="34" charset="-120"/>
                        </a:rPr>
                        <a:t>Have Privacy and Legal reviewed it before launch?</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420624">
                <a:tc>
                  <a:txBody>
                    <a:bodyPr/>
                    <a:lstStyle/>
                    <a:p>
                      <a:pPr algn="l" indent="0" marL="0">
                        <a:buNone/>
                      </a:pPr>
                      <a:r>
                        <a:rPr lang="en-US" sz="1350" b="1" dirty="0">
                          <a:solidFill>
                            <a:srgbClr val="111111"/>
                          </a:solidFill>
                          <a:latin typeface="Arial" pitchFamily="34" charset="0"/>
                          <a:ea typeface="Arial" pitchFamily="34" charset="-122"/>
                          <a:cs typeface="Arial" pitchFamily="34" charset="-120"/>
                        </a:rPr>
                        <a:t>Benefits tracking</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l" indent="0" marL="0">
                        <a:buNone/>
                      </a:pPr>
                      <a:r>
                        <a:rPr lang="en-US" sz="1350" dirty="0">
                          <a:solidFill>
                            <a:srgbClr val="3D3D3D"/>
                          </a:solidFill>
                          <a:latin typeface="Arial" pitchFamily="34" charset="0"/>
                          <a:ea typeface="Arial" pitchFamily="34" charset="-122"/>
                          <a:cs typeface="Arial" pitchFamily="34" charset="-120"/>
                        </a:rPr>
                        <a:t>What did it actually deliver, quarter by quarter?</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r>
              <a:tr h="420624">
                <a:tc>
                  <a:txBody>
                    <a:bodyPr/>
                    <a:lstStyle/>
                    <a:p>
                      <a:pPr algn="l" indent="0" marL="0">
                        <a:buNone/>
                      </a:pPr>
                      <a:r>
                        <a:rPr lang="en-US" sz="1350" b="1" dirty="0">
                          <a:solidFill>
                            <a:srgbClr val="111111"/>
                          </a:solidFill>
                          <a:latin typeface="Arial" pitchFamily="34" charset="0"/>
                          <a:ea typeface="Arial" pitchFamily="34" charset="-122"/>
                          <a:cs typeface="Arial" pitchFamily="34" charset="-120"/>
                        </a:rPr>
                        <a:t>Post-launch review</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indent="0" marL="0">
                        <a:buNone/>
                      </a:pPr>
                      <a:r>
                        <a:rPr lang="en-US" sz="1350" dirty="0">
                          <a:solidFill>
                            <a:srgbClr val="3D3D3D"/>
                          </a:solidFill>
                          <a:latin typeface="Arial" pitchFamily="34" charset="0"/>
                          <a:ea typeface="Arial" pitchFamily="34" charset="-122"/>
                          <a:cs typeface="Arial" pitchFamily="34" charset="-120"/>
                        </a:rPr>
                        <a:t>What worked, what didn't, keep or stop?</a:t>
                      </a:r>
                      <a:endParaRPr lang="en-US" sz="135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E4002B"/>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7"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GOVERNANCE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The Responsible AI assessment</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One answer per principle. Questions adapted from Microsoft's Cloud Adoption Framework. Required for Tier 2 and 3.</a:t>
            </a:r>
            <a:endParaRPr lang="en-US" sz="1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94415" cy="914400"/>
        </p:xfrm>
        <a:graphic>
          <a:graphicData uri="http://schemas.openxmlformats.org/drawingml/2006/table">
            <a:tbl>
              <a:tblPr/>
              <a:tblGrid>
                <a:gridCol w="2560320"/>
                <a:gridCol w="4389120"/>
                <a:gridCol w="4142232"/>
              </a:tblGrid>
              <a:tr h="530352">
                <a:tc>
                  <a:txBody>
                    <a:bodyPr/>
                    <a:lstStyle/>
                    <a:p>
                      <a:pPr indent="0" marL="0">
                        <a:buNone/>
                      </a:pPr>
                      <a:r>
                        <a:rPr lang="en-US" sz="1400" b="1" dirty="0">
                          <a:solidFill>
                            <a:srgbClr val="FFFFFF"/>
                          </a:solidFill>
                          <a:latin typeface="Arial" pitchFamily="34" charset="0"/>
                          <a:ea typeface="Arial" pitchFamily="34" charset="-122"/>
                          <a:cs typeface="Arial" pitchFamily="34" charset="-120"/>
                        </a:rPr>
                        <a:t>Principle</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E4002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Microsoft's question</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E4002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What to write</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E4002B"/>
                    </a:solidFill>
                  </a:tcPr>
                </a:tc>
              </a:tr>
              <a:tr h="530352">
                <a:tc>
                  <a:txBody>
                    <a:bodyPr/>
                    <a:lstStyle/>
                    <a:p>
                      <a:pPr indent="0" marL="0">
                        <a:buNone/>
                      </a:pPr>
                      <a:r>
                        <a:rPr lang="en-US" sz="1400" b="1" dirty="0">
                          <a:solidFill>
                            <a:srgbClr val="111111"/>
                          </a:solidFill>
                          <a:latin typeface="Arial" pitchFamily="34" charset="0"/>
                          <a:ea typeface="Arial" pitchFamily="34" charset="-122"/>
                          <a:cs typeface="Arial" pitchFamily="34" charset="-120"/>
                        </a:rPr>
                        <a:t>Fairness</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How could it lead to unequal treatment or bias?</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Who could be treated differently, and how you'll check</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11111"/>
                          </a:solidFill>
                          <a:latin typeface="Arial" pitchFamily="34" charset="0"/>
                          <a:ea typeface="Arial" pitchFamily="34" charset="-122"/>
                          <a:cs typeface="Arial" pitchFamily="34" charset="-120"/>
                        </a:rPr>
                        <a:t>Reliability and safety</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Where could it fail or give unreliable results?</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Testing, monitoring and how to switch it off</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r>
              <a:tr h="530352">
                <a:tc>
                  <a:txBody>
                    <a:bodyPr/>
                    <a:lstStyle/>
                    <a:p>
                      <a:pPr indent="0" marL="0">
                        <a:buNone/>
                      </a:pPr>
                      <a:r>
                        <a:rPr lang="en-US" sz="1400" b="1" dirty="0">
                          <a:solidFill>
                            <a:srgbClr val="111111"/>
                          </a:solidFill>
                          <a:latin typeface="Arial" pitchFamily="34" charset="0"/>
                          <a:ea typeface="Arial" pitchFamily="34" charset="-122"/>
                          <a:cs typeface="Arial" pitchFamily="34" charset="-120"/>
                        </a:rPr>
                        <a:t>Privacy and security</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How might it expose sensitive data or create a security gap?</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What data it touches, where it goes, who approved the tool</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11111"/>
                          </a:solidFill>
                          <a:latin typeface="Arial" pitchFamily="34" charset="0"/>
                          <a:ea typeface="Arial" pitchFamily="34" charset="-122"/>
                          <a:cs typeface="Arial" pitchFamily="34" charset="-120"/>
                        </a:rPr>
                        <a:t>Inclusiveness</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Could some groups be left out or disadvantaged?</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Who uses it or is affected, and how it works for them</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r>
              <a:tr h="530352">
                <a:tc>
                  <a:txBody>
                    <a:bodyPr/>
                    <a:lstStyle/>
                    <a:p>
                      <a:pPr indent="0" marL="0">
                        <a:buNone/>
                      </a:pPr>
                      <a:r>
                        <a:rPr lang="en-US" sz="1400" b="1" dirty="0">
                          <a:solidFill>
                            <a:srgbClr val="111111"/>
                          </a:solidFill>
                          <a:latin typeface="Arial" pitchFamily="34" charset="0"/>
                          <a:ea typeface="Arial" pitchFamily="34" charset="-122"/>
                          <a:cs typeface="Arial" pitchFamily="34" charset="-120"/>
                        </a:rPr>
                        <a:t>Transparency</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What would be hard for people to understand?</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Who knows AI is involved and how its limits are explained</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11111"/>
                          </a:solidFill>
                          <a:latin typeface="Arial" pitchFamily="34" charset="0"/>
                          <a:ea typeface="Arial" pitchFamily="34" charset="-122"/>
                          <a:cs typeface="Arial" pitchFamily="34" charset="-120"/>
                        </a:rPr>
                        <a:t>Accountability</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Where could responsibility be unclear?</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c>
                  <a:txBody>
                    <a:bodyPr/>
                    <a:lstStyle/>
                    <a:p>
                      <a:pPr indent="0" marL="0">
                        <a:buNone/>
                      </a:pPr>
                      <a:r>
                        <a:rPr lang="en-US" sz="1400" dirty="0">
                          <a:solidFill>
                            <a:srgbClr val="3D3D3D"/>
                          </a:solidFill>
                          <a:latin typeface="Arial" pitchFamily="34" charset="0"/>
                          <a:ea typeface="Arial" pitchFamily="34" charset="-122"/>
                          <a:cs typeface="Arial" pitchFamily="34" charset="-120"/>
                        </a:rPr>
                        <a:t>The named owner, reviewer and complaints route</a:t>
                      </a:r>
                      <a:endParaRPr lang="en-US" sz="1400" dirty="0">
                        <a:latin typeface="Arial" charset="0"/>
                        <a:ea typeface="Arial" charset="0"/>
                        <a:cs typeface="Arial" charset="0"/>
                      </a:endParaRPr>
                    </a:p>
                  </a:txBody>
                  <a:tcPr marL="91440" marR="91440" marT="36576" marB="36576"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4F4F4"/>
                    </a:solidFill>
                  </a:tcPr>
                </a:tc>
              </a:tr>
            </a:tbl>
          </a:graphicData>
        </a:graphic>
      </p:graphicFrame>
      <p:sp>
        <p:nvSpPr>
          <p:cNvPr id="6" name="Text 3"/>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7"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GOVERNANCE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Who does what</a:t>
            </a:r>
            <a:endParaRPr lang="en-US" sz="3200" dirty="0"/>
          </a:p>
        </p:txBody>
      </p:sp>
      <p:sp>
        <p:nvSpPr>
          <p:cNvPr id="4" name="Shape 2"/>
          <p:cNvSpPr/>
          <p:nvPr/>
        </p:nvSpPr>
        <p:spPr>
          <a:xfrm>
            <a:off x="548640" y="1737360"/>
            <a:ext cx="731520" cy="731520"/>
          </a:xfrm>
          <a:prstGeom prst="ellipse">
            <a:avLst/>
          </a:prstGeom>
          <a:solidFill>
            <a:srgbClr val="E4002B"/>
          </a:solidFill>
          <a:ln w="12700">
            <a:solidFill>
              <a:srgbClr val="E4002B"/>
            </a:solidFill>
            <a:prstDash val="solid"/>
          </a:ln>
        </p:spPr>
      </p:sp>
      <p:pic>
        <p:nvPicPr>
          <p:cNvPr id="5" name="Image 0" descr="preencoded.png">    </p:cNvPr>
          <p:cNvPicPr>
            <a:picLocks noChangeAspect="1"/>
          </p:cNvPicPr>
          <p:nvPr/>
        </p:nvPicPr>
        <p:blipFill>
          <a:blip r:embed="rId1"/>
          <a:stretch>
            <a:fillRect/>
          </a:stretch>
        </p:blipFill>
        <p:spPr>
          <a:xfrm>
            <a:off x="731520" y="1920240"/>
            <a:ext cx="365760" cy="365760"/>
          </a:xfrm>
          <a:prstGeom prst="rect">
            <a:avLst/>
          </a:prstGeom>
        </p:spPr>
      </p:pic>
      <p:sp>
        <p:nvSpPr>
          <p:cNvPr id="6" name="Text 3"/>
          <p:cNvSpPr txBox="1"/>
          <p:nvPr/>
        </p:nvSpPr>
        <p:spPr>
          <a:xfrm>
            <a:off x="1508760" y="1755648"/>
            <a:ext cx="4480560" cy="36576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Everyone</a:t>
            </a:r>
            <a:endParaRPr lang="en-US" sz="1800" dirty="0"/>
          </a:p>
        </p:txBody>
      </p:sp>
      <p:sp>
        <p:nvSpPr>
          <p:cNvPr id="7" name="Text 4"/>
          <p:cNvSpPr txBox="1"/>
          <p:nvPr/>
        </p:nvSpPr>
        <p:spPr>
          <a:xfrm>
            <a:off x="1508760" y="2148840"/>
            <a:ext cx="4480560" cy="82296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Uses approved tools, checks outputs, logs wins, and flags anything that feels wrong.</a:t>
            </a:r>
            <a:endParaRPr lang="en-US" sz="1400" dirty="0"/>
          </a:p>
        </p:txBody>
      </p:sp>
      <p:sp>
        <p:nvSpPr>
          <p:cNvPr id="8" name="Shape 5"/>
          <p:cNvSpPr/>
          <p:nvPr/>
        </p:nvSpPr>
        <p:spPr>
          <a:xfrm>
            <a:off x="6172200" y="1737360"/>
            <a:ext cx="731520" cy="731520"/>
          </a:xfrm>
          <a:prstGeom prst="ellipse">
            <a:avLst/>
          </a:prstGeom>
          <a:solidFill>
            <a:srgbClr val="111111"/>
          </a:solidFill>
          <a:ln w="12700">
            <a:solidFill>
              <a:srgbClr val="111111"/>
            </a:solidFill>
            <a:prstDash val="solid"/>
          </a:ln>
        </p:spPr>
      </p:sp>
      <p:pic>
        <p:nvPicPr>
          <p:cNvPr id="9" name="Image 1" descr="preencoded.png">    </p:cNvPr>
          <p:cNvPicPr>
            <a:picLocks noChangeAspect="1"/>
          </p:cNvPicPr>
          <p:nvPr/>
        </p:nvPicPr>
        <p:blipFill>
          <a:blip r:embed="rId2"/>
          <a:stretch>
            <a:fillRect/>
          </a:stretch>
        </p:blipFill>
        <p:spPr>
          <a:xfrm>
            <a:off x="6355080" y="1920240"/>
            <a:ext cx="365760" cy="365760"/>
          </a:xfrm>
          <a:prstGeom prst="rect">
            <a:avLst/>
          </a:prstGeom>
        </p:spPr>
      </p:pic>
      <p:sp>
        <p:nvSpPr>
          <p:cNvPr id="10" name="Text 6"/>
          <p:cNvSpPr txBox="1"/>
          <p:nvPr/>
        </p:nvSpPr>
        <p:spPr>
          <a:xfrm>
            <a:off x="7132320" y="1755648"/>
            <a:ext cx="4480560" cy="36576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Project owner</a:t>
            </a:r>
            <a:endParaRPr lang="en-US" sz="1800" dirty="0"/>
          </a:p>
        </p:txBody>
      </p:sp>
      <p:sp>
        <p:nvSpPr>
          <p:cNvPr id="11" name="Text 7"/>
          <p:cNvSpPr txBox="1"/>
          <p:nvPr/>
        </p:nvSpPr>
        <p:spPr>
          <a:xfrm>
            <a:off x="7132320" y="2148840"/>
            <a:ext cx="4480560" cy="82296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Runs the project, completes the paperwork, tracks benefits, and owns the outcome.</a:t>
            </a:r>
            <a:endParaRPr lang="en-US" sz="1400" dirty="0"/>
          </a:p>
        </p:txBody>
      </p:sp>
      <p:sp>
        <p:nvSpPr>
          <p:cNvPr id="12" name="Shape 8"/>
          <p:cNvSpPr/>
          <p:nvPr/>
        </p:nvSpPr>
        <p:spPr>
          <a:xfrm>
            <a:off x="548640" y="3200400"/>
            <a:ext cx="731520" cy="731520"/>
          </a:xfrm>
          <a:prstGeom prst="ellipse">
            <a:avLst/>
          </a:prstGeom>
          <a:solidFill>
            <a:srgbClr val="E4002B"/>
          </a:solidFill>
          <a:ln w="12700">
            <a:solidFill>
              <a:srgbClr val="E4002B"/>
            </a:solidFill>
            <a:prstDash val="solid"/>
          </a:ln>
        </p:spPr>
      </p:sp>
      <p:pic>
        <p:nvPicPr>
          <p:cNvPr id="13" name="Image 2" descr="preencoded.png">    </p:cNvPr>
          <p:cNvPicPr>
            <a:picLocks noChangeAspect="1"/>
          </p:cNvPicPr>
          <p:nvPr/>
        </p:nvPicPr>
        <p:blipFill>
          <a:blip r:embed="rId3"/>
          <a:stretch>
            <a:fillRect/>
          </a:stretch>
        </p:blipFill>
        <p:spPr>
          <a:xfrm>
            <a:off x="731520" y="3383280"/>
            <a:ext cx="365760" cy="365760"/>
          </a:xfrm>
          <a:prstGeom prst="rect">
            <a:avLst/>
          </a:prstGeom>
        </p:spPr>
      </p:pic>
      <p:sp>
        <p:nvSpPr>
          <p:cNvPr id="14" name="Text 9"/>
          <p:cNvSpPr txBox="1"/>
          <p:nvPr/>
        </p:nvSpPr>
        <p:spPr>
          <a:xfrm>
            <a:off x="1508760" y="3218688"/>
            <a:ext cx="4480560" cy="36576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Executive sponsor</a:t>
            </a:r>
            <a:endParaRPr lang="en-US" sz="1800" dirty="0"/>
          </a:p>
        </p:txBody>
      </p:sp>
      <p:sp>
        <p:nvSpPr>
          <p:cNvPr id="15" name="Text 10"/>
          <p:cNvSpPr txBox="1"/>
          <p:nvPr/>
        </p:nvSpPr>
        <p:spPr>
          <a:xfrm>
            <a:off x="1508760" y="3611880"/>
            <a:ext cx="4480560" cy="82296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Backs the project, removes blockers, and is accountable for its business case.</a:t>
            </a:r>
            <a:endParaRPr lang="en-US" sz="1400" dirty="0"/>
          </a:p>
        </p:txBody>
      </p:sp>
      <p:sp>
        <p:nvSpPr>
          <p:cNvPr id="16" name="Shape 11"/>
          <p:cNvSpPr/>
          <p:nvPr/>
        </p:nvSpPr>
        <p:spPr>
          <a:xfrm>
            <a:off x="6172200" y="3200400"/>
            <a:ext cx="731520" cy="731520"/>
          </a:xfrm>
          <a:prstGeom prst="ellipse">
            <a:avLst/>
          </a:prstGeom>
          <a:solidFill>
            <a:srgbClr val="111111"/>
          </a:solidFill>
          <a:ln w="12700">
            <a:solidFill>
              <a:srgbClr val="111111"/>
            </a:solidFill>
            <a:prstDash val="solid"/>
          </a:ln>
        </p:spPr>
      </p:sp>
      <p:pic>
        <p:nvPicPr>
          <p:cNvPr id="17" name="Image 3" descr="preencoded.png">    </p:cNvPr>
          <p:cNvPicPr>
            <a:picLocks noChangeAspect="1"/>
          </p:cNvPicPr>
          <p:nvPr/>
        </p:nvPicPr>
        <p:blipFill>
          <a:blip r:embed="rId4"/>
          <a:stretch>
            <a:fillRect/>
          </a:stretch>
        </p:blipFill>
        <p:spPr>
          <a:xfrm>
            <a:off x="6355080" y="3383280"/>
            <a:ext cx="365760" cy="365760"/>
          </a:xfrm>
          <a:prstGeom prst="rect">
            <a:avLst/>
          </a:prstGeom>
        </p:spPr>
      </p:pic>
      <p:sp>
        <p:nvSpPr>
          <p:cNvPr id="18" name="Text 12"/>
          <p:cNvSpPr txBox="1"/>
          <p:nvPr/>
        </p:nvSpPr>
        <p:spPr>
          <a:xfrm>
            <a:off x="7132320" y="3218688"/>
            <a:ext cx="4480560" cy="36576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AI review board</a:t>
            </a:r>
            <a:endParaRPr lang="en-US" sz="1800" dirty="0"/>
          </a:p>
        </p:txBody>
      </p:sp>
      <p:sp>
        <p:nvSpPr>
          <p:cNvPr id="19" name="Text 13"/>
          <p:cNvSpPr txBox="1"/>
          <p:nvPr/>
        </p:nvSpPr>
        <p:spPr>
          <a:xfrm>
            <a:off x="7132320" y="3611880"/>
            <a:ext cx="4480560" cy="82296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Records approval decisions. Never approves a project its members started.</a:t>
            </a:r>
            <a:endParaRPr lang="en-US" sz="1400" dirty="0"/>
          </a:p>
        </p:txBody>
      </p:sp>
      <p:sp>
        <p:nvSpPr>
          <p:cNvPr id="20" name="Shape 14"/>
          <p:cNvSpPr/>
          <p:nvPr/>
        </p:nvSpPr>
        <p:spPr>
          <a:xfrm>
            <a:off x="548640" y="4663440"/>
            <a:ext cx="731520" cy="731520"/>
          </a:xfrm>
          <a:prstGeom prst="ellipse">
            <a:avLst/>
          </a:prstGeom>
          <a:solidFill>
            <a:srgbClr val="E4002B"/>
          </a:solidFill>
          <a:ln w="12700">
            <a:solidFill>
              <a:srgbClr val="E4002B"/>
            </a:solidFill>
            <a:prstDash val="solid"/>
          </a:ln>
        </p:spPr>
      </p:sp>
      <p:pic>
        <p:nvPicPr>
          <p:cNvPr id="21" name="Image 4" descr="preencoded.png">    </p:cNvPr>
          <p:cNvPicPr>
            <a:picLocks noChangeAspect="1"/>
          </p:cNvPicPr>
          <p:nvPr/>
        </p:nvPicPr>
        <p:blipFill>
          <a:blip r:embed="rId5"/>
          <a:stretch>
            <a:fillRect/>
          </a:stretch>
        </p:blipFill>
        <p:spPr>
          <a:xfrm>
            <a:off x="731520" y="4846320"/>
            <a:ext cx="365760" cy="365760"/>
          </a:xfrm>
          <a:prstGeom prst="rect">
            <a:avLst/>
          </a:prstGeom>
        </p:spPr>
      </p:pic>
      <p:sp>
        <p:nvSpPr>
          <p:cNvPr id="22" name="Text 15"/>
          <p:cNvSpPr txBox="1"/>
          <p:nvPr/>
        </p:nvSpPr>
        <p:spPr>
          <a:xfrm>
            <a:off x="1508760" y="4681728"/>
            <a:ext cx="4480560" cy="36576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Legal, Privacy, Security</a:t>
            </a:r>
            <a:endParaRPr lang="en-US" sz="1800" dirty="0"/>
          </a:p>
        </p:txBody>
      </p:sp>
      <p:sp>
        <p:nvSpPr>
          <p:cNvPr id="23" name="Text 16"/>
          <p:cNvSpPr txBox="1"/>
          <p:nvPr/>
        </p:nvSpPr>
        <p:spPr>
          <a:xfrm>
            <a:off x="1508760" y="5074920"/>
            <a:ext cx="4480560" cy="82296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Sign off Tier 3 projects, review new vendors, and advise on sensitive data.</a:t>
            </a:r>
            <a:endParaRPr lang="en-US" sz="1400" dirty="0"/>
          </a:p>
        </p:txBody>
      </p:sp>
      <p:sp>
        <p:nvSpPr>
          <p:cNvPr id="24" name="Shape 17"/>
          <p:cNvSpPr/>
          <p:nvPr/>
        </p:nvSpPr>
        <p:spPr>
          <a:xfrm>
            <a:off x="6172200" y="4663440"/>
            <a:ext cx="731520" cy="731520"/>
          </a:xfrm>
          <a:prstGeom prst="ellipse">
            <a:avLst/>
          </a:prstGeom>
          <a:solidFill>
            <a:srgbClr val="111111"/>
          </a:solidFill>
          <a:ln w="12700">
            <a:solidFill>
              <a:srgbClr val="111111"/>
            </a:solidFill>
            <a:prstDash val="solid"/>
          </a:ln>
        </p:spPr>
      </p:sp>
      <p:pic>
        <p:nvPicPr>
          <p:cNvPr id="25" name="Image 5" descr="preencoded.png">    </p:cNvPr>
          <p:cNvPicPr>
            <a:picLocks noChangeAspect="1"/>
          </p:cNvPicPr>
          <p:nvPr/>
        </p:nvPicPr>
        <p:blipFill>
          <a:blip r:embed="rId6"/>
          <a:stretch>
            <a:fillRect/>
          </a:stretch>
        </p:blipFill>
        <p:spPr>
          <a:xfrm>
            <a:off x="6355080" y="4846320"/>
            <a:ext cx="365760" cy="365760"/>
          </a:xfrm>
          <a:prstGeom prst="rect">
            <a:avLst/>
          </a:prstGeom>
        </p:spPr>
      </p:pic>
      <p:sp>
        <p:nvSpPr>
          <p:cNvPr id="26" name="Text 18"/>
          <p:cNvSpPr txBox="1"/>
          <p:nvPr/>
        </p:nvSpPr>
        <p:spPr>
          <a:xfrm>
            <a:off x="7132320" y="4681728"/>
            <a:ext cx="4480560" cy="36576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AI governance lead</a:t>
            </a:r>
            <a:endParaRPr lang="en-US" sz="1800" dirty="0"/>
          </a:p>
        </p:txBody>
      </p:sp>
      <p:sp>
        <p:nvSpPr>
          <p:cNvPr id="27" name="Text 19"/>
          <p:cNvSpPr txBox="1"/>
          <p:nvPr/>
        </p:nvSpPr>
        <p:spPr>
          <a:xfrm>
            <a:off x="7132320" y="5074920"/>
            <a:ext cx="4480560" cy="82296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Keeps the process running, approves Tier 1 with team leads, and reports to leadership.</a:t>
            </a:r>
            <a:endParaRPr lang="en-US" sz="1400" dirty="0"/>
          </a:p>
        </p:txBody>
      </p:sp>
      <p:sp>
        <p:nvSpPr>
          <p:cNvPr id="28" name="Text 20"/>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29" name="Text 2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GOVERNANCE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Going live isn't the end: monitor it</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Microsoft's guidance: keep evaluating risk, measure consistently, and report what you find.</a:t>
            </a:r>
            <a:endParaRPr lang="en-US" sz="1600" dirty="0"/>
          </a:p>
        </p:txBody>
      </p:sp>
      <p:sp>
        <p:nvSpPr>
          <p:cNvPr id="5" name="Shape 3"/>
          <p:cNvSpPr/>
          <p:nvPr/>
        </p:nvSpPr>
        <p:spPr>
          <a:xfrm>
            <a:off x="548640" y="2103120"/>
            <a:ext cx="594360" cy="594360"/>
          </a:xfrm>
          <a:prstGeom prst="ellipse">
            <a:avLst/>
          </a:prstGeom>
          <a:solidFill>
            <a:srgbClr val="E4002B"/>
          </a:solidFill>
          <a:ln w="12700">
            <a:solidFill>
              <a:srgbClr val="E4002B"/>
            </a:solidFill>
            <a:prstDash val="solid"/>
          </a:ln>
        </p:spPr>
      </p:sp>
      <p:pic>
        <p:nvPicPr>
          <p:cNvPr id="6" name="Image 0" descr="preencoded.png">    </p:cNvPr>
          <p:cNvPicPr>
            <a:picLocks noChangeAspect="1"/>
          </p:cNvPicPr>
          <p:nvPr/>
        </p:nvPicPr>
        <p:blipFill>
          <a:blip r:embed="rId1"/>
          <a:stretch>
            <a:fillRect/>
          </a:stretch>
        </p:blipFill>
        <p:spPr>
          <a:xfrm>
            <a:off x="697230" y="2251710"/>
            <a:ext cx="297180" cy="297180"/>
          </a:xfrm>
          <a:prstGeom prst="rect">
            <a:avLst/>
          </a:prstGeom>
        </p:spPr>
      </p:pic>
      <p:sp>
        <p:nvSpPr>
          <p:cNvPr id="7" name="Text 4"/>
          <p:cNvSpPr txBox="1"/>
          <p:nvPr/>
        </p:nvSpPr>
        <p:spPr>
          <a:xfrm>
            <a:off x="1371600" y="2212848"/>
            <a:ext cx="3291840" cy="36576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Scheduled risk reviews</a:t>
            </a:r>
            <a:endParaRPr lang="en-US" sz="1700" dirty="0"/>
          </a:p>
        </p:txBody>
      </p:sp>
      <p:sp>
        <p:nvSpPr>
          <p:cNvPr id="8" name="Text 5"/>
          <p:cNvSpPr txBox="1"/>
          <p:nvPr/>
        </p:nvSpPr>
        <p:spPr>
          <a:xfrm>
            <a:off x="4480560" y="2212848"/>
            <a:ext cx="7132320" cy="640080"/>
          </a:xfrm>
          <a:prstGeom prst="rect">
            <a:avLst/>
          </a:prstGeom>
          <a:noFill/>
          <a:ln/>
        </p:spPr>
        <p:txBody>
          <a:bodyPr wrap="square" lIns="0" tIns="0" rIns="0" bIns="0" rtlCol="0" anchor="t"/>
          <a:lstStyle/>
          <a:p>
            <a:pPr indent="0" marL="0">
              <a:buNone/>
            </a:pPr>
            <a:r>
              <a:rPr lang="en-US" sz="1500" dirty="0">
                <a:solidFill>
                  <a:srgbClr val="3D3D3D"/>
                </a:solidFill>
                <a:latin typeface="Arial" pitchFamily="34" charset="0"/>
                <a:ea typeface="Arial" pitchFamily="34" charset="-122"/>
                <a:cs typeface="Arial" pitchFamily="34" charset="-120"/>
              </a:rPr>
              <a:t>Every quarter for Tier 3, every year otherwise. Overdue reviews show in red on the portal.</a:t>
            </a:r>
            <a:endParaRPr lang="en-US" sz="1500" dirty="0"/>
          </a:p>
        </p:txBody>
      </p:sp>
      <p:sp>
        <p:nvSpPr>
          <p:cNvPr id="9" name="Shape 6"/>
          <p:cNvSpPr/>
          <p:nvPr/>
        </p:nvSpPr>
        <p:spPr>
          <a:xfrm>
            <a:off x="548640" y="2926080"/>
            <a:ext cx="594360" cy="594360"/>
          </a:xfrm>
          <a:prstGeom prst="ellipse">
            <a:avLst/>
          </a:prstGeom>
          <a:solidFill>
            <a:srgbClr val="111111"/>
          </a:solidFill>
          <a:ln w="12700">
            <a:solidFill>
              <a:srgbClr val="111111"/>
            </a:solidFill>
            <a:prstDash val="solid"/>
          </a:ln>
        </p:spPr>
      </p:sp>
      <p:pic>
        <p:nvPicPr>
          <p:cNvPr id="10" name="Image 1" descr="preencoded.png">    </p:cNvPr>
          <p:cNvPicPr>
            <a:picLocks noChangeAspect="1"/>
          </p:cNvPicPr>
          <p:nvPr/>
        </p:nvPicPr>
        <p:blipFill>
          <a:blip r:embed="rId2"/>
          <a:stretch>
            <a:fillRect/>
          </a:stretch>
        </p:blipFill>
        <p:spPr>
          <a:xfrm>
            <a:off x="697230" y="3074670"/>
            <a:ext cx="297180" cy="297180"/>
          </a:xfrm>
          <a:prstGeom prst="rect">
            <a:avLst/>
          </a:prstGeom>
        </p:spPr>
      </p:pic>
      <p:sp>
        <p:nvSpPr>
          <p:cNvPr id="11" name="Text 7"/>
          <p:cNvSpPr txBox="1"/>
          <p:nvPr/>
        </p:nvSpPr>
        <p:spPr>
          <a:xfrm>
            <a:off x="1371600" y="3035808"/>
            <a:ext cx="3291840" cy="36576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Benefits tracking</a:t>
            </a:r>
            <a:endParaRPr lang="en-US" sz="1700" dirty="0"/>
          </a:p>
        </p:txBody>
      </p:sp>
      <p:sp>
        <p:nvSpPr>
          <p:cNvPr id="12" name="Text 8"/>
          <p:cNvSpPr txBox="1"/>
          <p:nvPr/>
        </p:nvSpPr>
        <p:spPr>
          <a:xfrm>
            <a:off x="4480560" y="3035808"/>
            <a:ext cx="7132320" cy="640080"/>
          </a:xfrm>
          <a:prstGeom prst="rect">
            <a:avLst/>
          </a:prstGeom>
          <a:noFill/>
          <a:ln/>
        </p:spPr>
        <p:txBody>
          <a:bodyPr wrap="square" lIns="0" tIns="0" rIns="0" bIns="0" rtlCol="0" anchor="t"/>
          <a:lstStyle/>
          <a:p>
            <a:pPr indent="0" marL="0">
              <a:buNone/>
            </a:pPr>
            <a:r>
              <a:rPr lang="en-US" sz="1500" dirty="0">
                <a:solidFill>
                  <a:srgbClr val="3D3D3D"/>
                </a:solidFill>
                <a:latin typeface="Arial" pitchFamily="34" charset="0"/>
                <a:ea typeface="Arial" pitchFamily="34" charset="-122"/>
                <a:cs typeface="Arial" pitchFamily="34" charset="-120"/>
              </a:rPr>
              <a:t>Planned against actual, every quarter, with the evidence for each number.</a:t>
            </a:r>
            <a:endParaRPr lang="en-US" sz="1500" dirty="0"/>
          </a:p>
        </p:txBody>
      </p:sp>
      <p:sp>
        <p:nvSpPr>
          <p:cNvPr id="13" name="Shape 9"/>
          <p:cNvSpPr/>
          <p:nvPr/>
        </p:nvSpPr>
        <p:spPr>
          <a:xfrm>
            <a:off x="548640" y="3749040"/>
            <a:ext cx="594360" cy="594360"/>
          </a:xfrm>
          <a:prstGeom prst="ellipse">
            <a:avLst/>
          </a:prstGeom>
          <a:solidFill>
            <a:srgbClr val="111111"/>
          </a:solidFill>
          <a:ln w="12700">
            <a:solidFill>
              <a:srgbClr val="111111"/>
            </a:solidFill>
            <a:prstDash val="solid"/>
          </a:ln>
        </p:spPr>
      </p:sp>
      <p:pic>
        <p:nvPicPr>
          <p:cNvPr id="14" name="Image 2" descr="preencoded.png">    </p:cNvPr>
          <p:cNvPicPr>
            <a:picLocks noChangeAspect="1"/>
          </p:cNvPicPr>
          <p:nvPr/>
        </p:nvPicPr>
        <p:blipFill>
          <a:blip r:embed="rId3"/>
          <a:stretch>
            <a:fillRect/>
          </a:stretch>
        </p:blipFill>
        <p:spPr>
          <a:xfrm>
            <a:off x="697230" y="3897630"/>
            <a:ext cx="297180" cy="297180"/>
          </a:xfrm>
          <a:prstGeom prst="rect">
            <a:avLst/>
          </a:prstGeom>
        </p:spPr>
      </p:pic>
      <p:sp>
        <p:nvSpPr>
          <p:cNvPr id="15" name="Text 10"/>
          <p:cNvSpPr txBox="1"/>
          <p:nvPr/>
        </p:nvSpPr>
        <p:spPr>
          <a:xfrm>
            <a:off x="1371600" y="3858768"/>
            <a:ext cx="3291840" cy="36576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Monitoring</a:t>
            </a:r>
            <a:endParaRPr lang="en-US" sz="1700" dirty="0"/>
          </a:p>
        </p:txBody>
      </p:sp>
      <p:sp>
        <p:nvSpPr>
          <p:cNvPr id="16" name="Text 11"/>
          <p:cNvSpPr txBox="1"/>
          <p:nvPr/>
        </p:nvSpPr>
        <p:spPr>
          <a:xfrm>
            <a:off x="4480560" y="3858768"/>
            <a:ext cx="7132320" cy="640080"/>
          </a:xfrm>
          <a:prstGeom prst="rect">
            <a:avLst/>
          </a:prstGeom>
          <a:noFill/>
          <a:ln/>
        </p:spPr>
        <p:txBody>
          <a:bodyPr wrap="square" lIns="0" tIns="0" rIns="0" bIns="0" rtlCol="0" anchor="t"/>
          <a:lstStyle/>
          <a:p>
            <a:pPr indent="0" marL="0">
              <a:buNone/>
            </a:pPr>
            <a:r>
              <a:rPr lang="en-US" sz="1500" dirty="0">
                <a:solidFill>
                  <a:srgbClr val="3D3D3D"/>
                </a:solidFill>
                <a:latin typeface="Arial" pitchFamily="34" charset="0"/>
                <a:ea typeface="Arial" pitchFamily="34" charset="-122"/>
                <a:cs typeface="Arial" pitchFamily="34" charset="-120"/>
              </a:rPr>
              <a:t>The measures named in the Responsible AI assessment, reviewed by the named person.</a:t>
            </a:r>
            <a:endParaRPr lang="en-US" sz="1500" dirty="0"/>
          </a:p>
        </p:txBody>
      </p:sp>
      <p:sp>
        <p:nvSpPr>
          <p:cNvPr id="17" name="Shape 12"/>
          <p:cNvSpPr/>
          <p:nvPr/>
        </p:nvSpPr>
        <p:spPr>
          <a:xfrm>
            <a:off x="548640" y="4572000"/>
            <a:ext cx="594360" cy="594360"/>
          </a:xfrm>
          <a:prstGeom prst="ellipse">
            <a:avLst/>
          </a:prstGeom>
          <a:solidFill>
            <a:srgbClr val="111111"/>
          </a:solidFill>
          <a:ln w="12700">
            <a:solidFill>
              <a:srgbClr val="111111"/>
            </a:solidFill>
            <a:prstDash val="solid"/>
          </a:ln>
        </p:spPr>
      </p:sp>
      <p:pic>
        <p:nvPicPr>
          <p:cNvPr id="18" name="Image 3" descr="preencoded.png">    </p:cNvPr>
          <p:cNvPicPr>
            <a:picLocks noChangeAspect="1"/>
          </p:cNvPicPr>
          <p:nvPr/>
        </p:nvPicPr>
        <p:blipFill>
          <a:blip r:embed="rId4"/>
          <a:stretch>
            <a:fillRect/>
          </a:stretch>
        </p:blipFill>
        <p:spPr>
          <a:xfrm>
            <a:off x="697230" y="4720590"/>
            <a:ext cx="297180" cy="297180"/>
          </a:xfrm>
          <a:prstGeom prst="rect">
            <a:avLst/>
          </a:prstGeom>
        </p:spPr>
      </p:pic>
      <p:sp>
        <p:nvSpPr>
          <p:cNvPr id="19" name="Text 13"/>
          <p:cNvSpPr txBox="1"/>
          <p:nvPr/>
        </p:nvSpPr>
        <p:spPr>
          <a:xfrm>
            <a:off x="1371600" y="4681728"/>
            <a:ext cx="3291840" cy="36576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Switch-off plan</a:t>
            </a:r>
            <a:endParaRPr lang="en-US" sz="1700" dirty="0"/>
          </a:p>
        </p:txBody>
      </p:sp>
      <p:sp>
        <p:nvSpPr>
          <p:cNvPr id="20" name="Text 14"/>
          <p:cNvSpPr txBox="1"/>
          <p:nvPr/>
        </p:nvSpPr>
        <p:spPr>
          <a:xfrm>
            <a:off x="4480560" y="4681728"/>
            <a:ext cx="7132320" cy="640080"/>
          </a:xfrm>
          <a:prstGeom prst="rect">
            <a:avLst/>
          </a:prstGeom>
          <a:noFill/>
          <a:ln/>
        </p:spPr>
        <p:txBody>
          <a:bodyPr wrap="square" lIns="0" tIns="0" rIns="0" bIns="0" rtlCol="0" anchor="t"/>
          <a:lstStyle/>
          <a:p>
            <a:pPr indent="0" marL="0">
              <a:buNone/>
            </a:pPr>
            <a:r>
              <a:rPr lang="en-US" sz="1500" dirty="0">
                <a:solidFill>
                  <a:srgbClr val="3D3D3D"/>
                </a:solidFill>
                <a:latin typeface="Arial" pitchFamily="34" charset="0"/>
                <a:ea typeface="Arial" pitchFamily="34" charset="-122"/>
                <a:cs typeface="Arial" pitchFamily="34" charset="-120"/>
              </a:rPr>
              <a:t>Who can turn it off, and how fast, if something goes wrong.</a:t>
            </a:r>
            <a:endParaRPr lang="en-US" sz="1500" dirty="0"/>
          </a:p>
        </p:txBody>
      </p:sp>
      <p:sp>
        <p:nvSpPr>
          <p:cNvPr id="21" name="Shape 15"/>
          <p:cNvSpPr/>
          <p:nvPr/>
        </p:nvSpPr>
        <p:spPr>
          <a:xfrm>
            <a:off x="548640" y="5394960"/>
            <a:ext cx="594360" cy="594360"/>
          </a:xfrm>
          <a:prstGeom prst="ellipse">
            <a:avLst/>
          </a:prstGeom>
          <a:solidFill>
            <a:srgbClr val="111111"/>
          </a:solidFill>
          <a:ln w="12700">
            <a:solidFill>
              <a:srgbClr val="111111"/>
            </a:solidFill>
            <a:prstDash val="solid"/>
          </a:ln>
        </p:spPr>
      </p:sp>
      <p:pic>
        <p:nvPicPr>
          <p:cNvPr id="22" name="Image 4" descr="preencoded.png">    </p:cNvPr>
          <p:cNvPicPr>
            <a:picLocks noChangeAspect="1"/>
          </p:cNvPicPr>
          <p:nvPr/>
        </p:nvPicPr>
        <p:blipFill>
          <a:blip r:embed="rId5"/>
          <a:stretch>
            <a:fillRect/>
          </a:stretch>
        </p:blipFill>
        <p:spPr>
          <a:xfrm>
            <a:off x="697230" y="5543550"/>
            <a:ext cx="297180" cy="297180"/>
          </a:xfrm>
          <a:prstGeom prst="rect">
            <a:avLst/>
          </a:prstGeom>
        </p:spPr>
      </p:pic>
      <p:sp>
        <p:nvSpPr>
          <p:cNvPr id="23" name="Text 16"/>
          <p:cNvSpPr txBox="1"/>
          <p:nvPr/>
        </p:nvSpPr>
        <p:spPr>
          <a:xfrm>
            <a:off x="1371600" y="5504688"/>
            <a:ext cx="3291840" cy="36576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Post-launch review</a:t>
            </a:r>
            <a:endParaRPr lang="en-US" sz="1700" dirty="0"/>
          </a:p>
        </p:txBody>
      </p:sp>
      <p:sp>
        <p:nvSpPr>
          <p:cNvPr id="24" name="Text 17"/>
          <p:cNvSpPr txBox="1"/>
          <p:nvPr/>
        </p:nvSpPr>
        <p:spPr>
          <a:xfrm>
            <a:off x="4480560" y="5504688"/>
            <a:ext cx="7132320" cy="640080"/>
          </a:xfrm>
          <a:prstGeom prst="rect">
            <a:avLst/>
          </a:prstGeom>
          <a:noFill/>
          <a:ln/>
        </p:spPr>
        <p:txBody>
          <a:bodyPr wrap="square" lIns="0" tIns="0" rIns="0" bIns="0" rtlCol="0" anchor="t"/>
          <a:lstStyle/>
          <a:p>
            <a:pPr indent="0" marL="0">
              <a:buNone/>
            </a:pPr>
            <a:r>
              <a:rPr lang="en-US" sz="1500" dirty="0">
                <a:solidFill>
                  <a:srgbClr val="3D3D3D"/>
                </a:solidFill>
                <a:latin typeface="Arial" pitchFamily="34" charset="0"/>
                <a:ea typeface="Arial" pitchFamily="34" charset="-122"/>
                <a:cs typeface="Arial" pitchFamily="34" charset="-120"/>
              </a:rPr>
              <a:t>About three months in: what worked, what didn't, and whether to scale, change or stop.</a:t>
            </a:r>
            <a:endParaRPr lang="en-US" sz="1500" dirty="0"/>
          </a:p>
        </p:txBody>
      </p:sp>
      <p:sp>
        <p:nvSpPr>
          <p:cNvPr id="25" name="Text 18"/>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26" name="Text 19"/>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4002B"/>
        </a:solidFill>
      </p:bgPr>
    </p:bg>
    <p:spTree>
      <p:nvGrpSpPr>
        <p:cNvPr id="1" name=""/>
        <p:cNvGrpSpPr/>
        <p:nvPr/>
      </p:nvGrpSpPr>
      <p:grpSpPr>
        <a:xfrm>
          <a:off x="0" y="0"/>
          <a:ext cx="0" cy="0"/>
          <a:chOff x="0" y="0"/>
          <a:chExt cx="0" cy="0"/>
        </a:xfrm>
      </p:grpSpPr>
      <p:sp>
        <p:nvSpPr>
          <p:cNvPr id="2" name="Text 0"/>
          <p:cNvSpPr txBox="1"/>
          <p:nvPr/>
        </p:nvSpPr>
        <p:spPr>
          <a:xfrm>
            <a:off x="548640" y="1005840"/>
            <a:ext cx="3657600" cy="1463040"/>
          </a:xfrm>
          <a:prstGeom prst="rect">
            <a:avLst/>
          </a:prstGeom>
          <a:noFill/>
          <a:ln/>
        </p:spPr>
        <p:txBody>
          <a:bodyPr wrap="square" lIns="0" tIns="0" rIns="0" bIns="0" rtlCol="0" anchor="t"/>
          <a:lstStyle/>
          <a:p>
            <a:pPr indent="0" marL="0">
              <a:buNone/>
            </a:pPr>
            <a:r>
              <a:rPr lang="en-US" sz="11000" b="1" dirty="0">
                <a:solidFill>
                  <a:srgbClr val="FFFFFF"/>
                </a:solidFill>
                <a:latin typeface="Arial" pitchFamily="34" charset="0"/>
                <a:ea typeface="Arial" pitchFamily="34" charset="-122"/>
                <a:cs typeface="Arial" pitchFamily="34" charset="-120"/>
              </a:rPr>
              <a:t>05</a:t>
            </a:r>
            <a:endParaRPr lang="en-US" sz="11000" dirty="0"/>
          </a:p>
        </p:txBody>
      </p:sp>
      <p:sp>
        <p:nvSpPr>
          <p:cNvPr id="3" name="Text 1"/>
          <p:cNvSpPr txBox="1"/>
          <p:nvPr/>
        </p:nvSpPr>
        <p:spPr>
          <a:xfrm>
            <a:off x="548640" y="2697480"/>
            <a:ext cx="10515600" cy="1371600"/>
          </a:xfrm>
          <a:prstGeom prst="rect">
            <a:avLst/>
          </a:prstGeom>
          <a:noFill/>
          <a:ln/>
        </p:spPr>
        <p:txBody>
          <a:bodyPr wrap="square" lIns="0" tIns="0" rIns="0" bIns="0" rtlCol="0" anchor="b"/>
          <a:lstStyle/>
          <a:p>
            <a:pPr indent="0" marL="0">
              <a:buNone/>
            </a:pPr>
            <a:r>
              <a:rPr lang="en-US" sz="4000" b="1" dirty="0">
                <a:solidFill>
                  <a:srgbClr val="FFFFFF"/>
                </a:solidFill>
                <a:latin typeface="Arial" pitchFamily="34" charset="0"/>
                <a:ea typeface="Arial" pitchFamily="34" charset="-122"/>
                <a:cs typeface="Arial" pitchFamily="34" charset="-120"/>
              </a:rPr>
              <a:t>Proving the value</a:t>
            </a:r>
            <a:endParaRPr lang="en-US" sz="4000" dirty="0"/>
          </a:p>
        </p:txBody>
      </p:sp>
      <p:sp>
        <p:nvSpPr>
          <p:cNvPr id="4" name="Text 2"/>
          <p:cNvSpPr txBox="1"/>
          <p:nvPr/>
        </p:nvSpPr>
        <p:spPr>
          <a:xfrm>
            <a:off x="548640" y="4343400"/>
            <a:ext cx="9601200" cy="822960"/>
          </a:xfrm>
          <a:prstGeom prst="rect">
            <a:avLst/>
          </a:prstGeom>
          <a:noFill/>
          <a:ln/>
        </p:spPr>
        <p:txBody>
          <a:bodyPr wrap="square" lIns="0" tIns="0" rIns="0" bIns="0" rtlCol="0" anchor="t"/>
          <a:lstStyle/>
          <a:p>
            <a:pPr indent="0" marL="0">
              <a:buNone/>
            </a:pPr>
            <a:r>
              <a:rPr lang="en-US" sz="1800" dirty="0">
                <a:solidFill>
                  <a:srgbClr val="FFE3E8"/>
                </a:solidFill>
                <a:latin typeface="Arial" pitchFamily="34" charset="0"/>
                <a:ea typeface="Arial" pitchFamily="34" charset="-122"/>
                <a:cs typeface="Arial" pitchFamily="34" charset="-120"/>
              </a:rPr>
              <a:t>Honest numbers that stand up in front of leadership</a:t>
            </a:r>
            <a:endParaRPr lang="en-US" sz="1800" dirty="0"/>
          </a:p>
        </p:txBody>
      </p:sp>
      <p:sp>
        <p:nvSpPr>
          <p:cNvPr id="5" name="Text 3"/>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FFD1DA"/>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VALUE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Hours saved are not money saved</a:t>
            </a:r>
            <a:endParaRPr lang="en-US" sz="3200" dirty="0"/>
          </a:p>
        </p:txBody>
      </p:sp>
      <p:sp>
        <p:nvSpPr>
          <p:cNvPr id="4" name="Text 2"/>
          <p:cNvSpPr txBox="1"/>
          <p:nvPr/>
        </p:nvSpPr>
        <p:spPr>
          <a:xfrm>
            <a:off x="548640" y="1600200"/>
            <a:ext cx="6400800" cy="457200"/>
          </a:xfrm>
          <a:prstGeom prst="rect">
            <a:avLst/>
          </a:prstGeom>
          <a:noFill/>
          <a:ln/>
        </p:spPr>
        <p:txBody>
          <a:bodyPr wrap="square" lIns="0" tIns="0" rIns="0" bIns="0" rtlCol="0" anchor="t"/>
          <a:lstStyle/>
          <a:p>
            <a:pPr indent="0" marL="0">
              <a:buNone/>
            </a:pPr>
            <a:r>
              <a:rPr lang="en-US" sz="1800" dirty="0">
                <a:solidFill>
                  <a:srgbClr val="3D3D3D"/>
                </a:solidFill>
                <a:latin typeface="Arial" pitchFamily="34" charset="0"/>
                <a:ea typeface="Arial" pitchFamily="34" charset="-122"/>
                <a:cs typeface="Arial" pitchFamily="34" charset="-120"/>
              </a:rPr>
              <a:t>Time freed up only becomes value when it goes somewhere.</a:t>
            </a:r>
            <a:endParaRPr lang="en-US" sz="1800" dirty="0"/>
          </a:p>
        </p:txBody>
      </p:sp>
      <p:sp>
        <p:nvSpPr>
          <p:cNvPr id="5" name="Shape 3"/>
          <p:cNvSpPr/>
          <p:nvPr/>
        </p:nvSpPr>
        <p:spPr>
          <a:xfrm>
            <a:off x="548640" y="2286000"/>
            <a:ext cx="3063240" cy="2926080"/>
          </a:xfrm>
          <a:prstGeom prst="rect">
            <a:avLst/>
          </a:prstGeom>
          <a:solidFill>
            <a:srgbClr val="F4F4F4"/>
          </a:solidFill>
          <a:ln w="12700">
            <a:solidFill>
              <a:srgbClr val="F4F4F4"/>
            </a:solidFill>
            <a:prstDash val="solid"/>
          </a:ln>
        </p:spPr>
      </p:sp>
      <p:sp>
        <p:nvSpPr>
          <p:cNvPr id="6" name="Text 4"/>
          <p:cNvSpPr txBox="1"/>
          <p:nvPr/>
        </p:nvSpPr>
        <p:spPr>
          <a:xfrm>
            <a:off x="822960" y="2468880"/>
            <a:ext cx="256032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Counts</a:t>
            </a:r>
            <a:endParaRPr lang="en-US" sz="2000" dirty="0"/>
          </a:p>
        </p:txBody>
      </p:sp>
      <p:sp>
        <p:nvSpPr>
          <p:cNvPr id="7" name="Text 5"/>
          <p:cNvSpPr txBox="1"/>
          <p:nvPr/>
        </p:nvSpPr>
        <p:spPr>
          <a:xfrm>
            <a:off x="822960" y="3063240"/>
            <a:ext cx="2606040" cy="201168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A hire we no longer need</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Overtime or contractors that stop</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Named work people move to</a:t>
            </a:r>
            <a:endParaRPr lang="en-US" sz="1400" dirty="0"/>
          </a:p>
        </p:txBody>
      </p:sp>
      <p:sp>
        <p:nvSpPr>
          <p:cNvPr id="8" name="Shape 6"/>
          <p:cNvSpPr/>
          <p:nvPr/>
        </p:nvSpPr>
        <p:spPr>
          <a:xfrm>
            <a:off x="3794760" y="2286000"/>
            <a:ext cx="3063240" cy="2926080"/>
          </a:xfrm>
          <a:prstGeom prst="rect">
            <a:avLst/>
          </a:prstGeom>
          <a:solidFill>
            <a:srgbClr val="FDECEF"/>
          </a:solidFill>
          <a:ln w="12700">
            <a:solidFill>
              <a:srgbClr val="FDECEF"/>
            </a:solidFill>
            <a:prstDash val="solid"/>
          </a:ln>
        </p:spPr>
      </p:sp>
      <p:sp>
        <p:nvSpPr>
          <p:cNvPr id="9" name="Text 7"/>
          <p:cNvSpPr txBox="1"/>
          <p:nvPr/>
        </p:nvSpPr>
        <p:spPr>
          <a:xfrm>
            <a:off x="4069080" y="2468880"/>
            <a:ext cx="2560320" cy="457200"/>
          </a:xfrm>
          <a:prstGeom prst="rect">
            <a:avLst/>
          </a:prstGeom>
          <a:noFill/>
          <a:ln/>
        </p:spPr>
        <p:txBody>
          <a:bodyPr wrap="square" lIns="0" tIns="0" rIns="0" bIns="0" rtlCol="0" anchor="t"/>
          <a:lstStyle/>
          <a:p>
            <a:pPr indent="0" marL="0">
              <a:buNone/>
            </a:pPr>
            <a:r>
              <a:rPr lang="en-US" sz="2000" b="1" dirty="0">
                <a:solidFill>
                  <a:srgbClr val="E4002B"/>
                </a:solidFill>
                <a:latin typeface="Arial" pitchFamily="34" charset="0"/>
                <a:ea typeface="Arial" pitchFamily="34" charset="-122"/>
                <a:cs typeface="Arial" pitchFamily="34" charset="-120"/>
              </a:rPr>
              <a:t>Doesn't count</a:t>
            </a:r>
            <a:endParaRPr lang="en-US" sz="2000" dirty="0"/>
          </a:p>
        </p:txBody>
      </p:sp>
      <p:sp>
        <p:nvSpPr>
          <p:cNvPr id="10" name="Text 8"/>
          <p:cNvSpPr txBox="1"/>
          <p:nvPr/>
        </p:nvSpPr>
        <p:spPr>
          <a:xfrm>
            <a:off x="4069080" y="3063240"/>
            <a:ext cx="2606040" cy="2011680"/>
          </a:xfrm>
          <a:prstGeom prst="rect">
            <a:avLst/>
          </a:prstGeom>
          <a:noFill/>
          <a:ln/>
        </p:spPr>
        <p:txBody>
          <a:bodyPr wrap="square" rtlCol="0" anchor="t"/>
          <a:lstStyle/>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Time that just gets absorbed</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“We'll find something for them to do”</a:t>
            </a:r>
            <a:endParaRPr lang="en-US" sz="1400" dirty="0"/>
          </a:p>
          <a:p>
            <a:pPr marL="228600" indent="-228600">
              <a:spcAft>
                <a:spcPts val="800"/>
              </a:spcAft>
              <a:buSzPct val="100000"/>
              <a:buChar char="•"/>
            </a:pPr>
            <a:r>
              <a:rPr lang="en-US" sz="1400" dirty="0">
                <a:solidFill>
                  <a:srgbClr val="3D3D3D"/>
                </a:solidFill>
                <a:latin typeface="Arial" pitchFamily="34" charset="0"/>
                <a:ea typeface="Arial" pitchFamily="34" charset="-122"/>
                <a:cs typeface="Arial" pitchFamily="34" charset="-120"/>
              </a:rPr>
              <a:t>Savings nobody can point to</a:t>
            </a:r>
            <a:endParaRPr lang="en-US" sz="1400" dirty="0"/>
          </a:p>
        </p:txBody>
      </p:sp>
      <p:sp>
        <p:nvSpPr>
          <p:cNvPr id="11" name="Shape 9"/>
          <p:cNvSpPr/>
          <p:nvPr/>
        </p:nvSpPr>
        <p:spPr>
          <a:xfrm>
            <a:off x="7315200" y="2286000"/>
            <a:ext cx="4325112" cy="2926080"/>
          </a:xfrm>
          <a:prstGeom prst="rect">
            <a:avLst/>
          </a:prstGeom>
          <a:solidFill>
            <a:srgbClr val="111111"/>
          </a:solidFill>
          <a:ln w="12700">
            <a:solidFill>
              <a:srgbClr val="111111"/>
            </a:solidFill>
            <a:prstDash val="solid"/>
          </a:ln>
        </p:spPr>
      </p:sp>
      <p:sp>
        <p:nvSpPr>
          <p:cNvPr id="12" name="Text 10"/>
          <p:cNvSpPr txBox="1"/>
          <p:nvPr/>
        </p:nvSpPr>
        <p:spPr>
          <a:xfrm>
            <a:off x="7589520" y="2468880"/>
            <a:ext cx="3840480" cy="45720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Confidence haircut</a:t>
            </a:r>
            <a:endParaRPr lang="en-US" sz="2000" dirty="0"/>
          </a:p>
        </p:txBody>
      </p:sp>
      <p:sp>
        <p:nvSpPr>
          <p:cNvPr id="13" name="Text 11"/>
          <p:cNvSpPr txBox="1"/>
          <p:nvPr/>
        </p:nvSpPr>
        <p:spPr>
          <a:xfrm>
            <a:off x="7589520" y="3108960"/>
            <a:ext cx="1188720" cy="45720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100%</a:t>
            </a:r>
            <a:endParaRPr lang="en-US" sz="2600" dirty="0"/>
          </a:p>
        </p:txBody>
      </p:sp>
      <p:sp>
        <p:nvSpPr>
          <p:cNvPr id="14" name="Text 12"/>
          <p:cNvSpPr txBox="1"/>
          <p:nvPr/>
        </p:nvSpPr>
        <p:spPr>
          <a:xfrm>
            <a:off x="8869680" y="3200400"/>
            <a:ext cx="2651760" cy="36576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High: measured it</a:t>
            </a:r>
            <a:endParaRPr lang="en-US" sz="1400" dirty="0"/>
          </a:p>
        </p:txBody>
      </p:sp>
      <p:sp>
        <p:nvSpPr>
          <p:cNvPr id="15" name="Text 13"/>
          <p:cNvSpPr txBox="1"/>
          <p:nvPr/>
        </p:nvSpPr>
        <p:spPr>
          <a:xfrm>
            <a:off x="7589520" y="3749040"/>
            <a:ext cx="1188720" cy="457200"/>
          </a:xfrm>
          <a:prstGeom prst="rect">
            <a:avLst/>
          </a:prstGeom>
          <a:noFill/>
          <a:ln/>
        </p:spPr>
        <p:txBody>
          <a:bodyPr wrap="square" lIns="0" tIns="0" rIns="0" bIns="0" rtlCol="0" anchor="t"/>
          <a:lstStyle/>
          <a:p>
            <a:pPr indent="0" marL="0">
              <a:buNone/>
            </a:pPr>
            <a:r>
              <a:rPr lang="en-US" sz="2600" b="1" dirty="0">
                <a:solidFill>
                  <a:srgbClr val="FFB3C1"/>
                </a:solidFill>
                <a:latin typeface="Arial" pitchFamily="34" charset="0"/>
                <a:ea typeface="Arial" pitchFamily="34" charset="-122"/>
                <a:cs typeface="Arial" pitchFamily="34" charset="-120"/>
              </a:rPr>
              <a:t>75%</a:t>
            </a:r>
            <a:endParaRPr lang="en-US" sz="2600" dirty="0"/>
          </a:p>
        </p:txBody>
      </p:sp>
      <p:sp>
        <p:nvSpPr>
          <p:cNvPr id="16" name="Text 14"/>
          <p:cNvSpPr txBox="1"/>
          <p:nvPr/>
        </p:nvSpPr>
        <p:spPr>
          <a:xfrm>
            <a:off x="8869680" y="3840480"/>
            <a:ext cx="2651760" cy="36576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Medium: trial or good estimate</a:t>
            </a:r>
            <a:endParaRPr lang="en-US" sz="1400" dirty="0"/>
          </a:p>
        </p:txBody>
      </p:sp>
      <p:sp>
        <p:nvSpPr>
          <p:cNvPr id="17" name="Text 15"/>
          <p:cNvSpPr txBox="1"/>
          <p:nvPr/>
        </p:nvSpPr>
        <p:spPr>
          <a:xfrm>
            <a:off x="7589520" y="4389120"/>
            <a:ext cx="1188720" cy="457200"/>
          </a:xfrm>
          <a:prstGeom prst="rect">
            <a:avLst/>
          </a:prstGeom>
          <a:noFill/>
          <a:ln/>
        </p:spPr>
        <p:txBody>
          <a:bodyPr wrap="square" lIns="0" tIns="0" rIns="0" bIns="0" rtlCol="0" anchor="t"/>
          <a:lstStyle/>
          <a:p>
            <a:pPr indent="0" marL="0">
              <a:buNone/>
            </a:pPr>
            <a:r>
              <a:rPr lang="en-US" sz="2600" b="1" dirty="0">
                <a:solidFill>
                  <a:srgbClr val="E4002B"/>
                </a:solidFill>
                <a:latin typeface="Arial" pitchFamily="34" charset="0"/>
                <a:ea typeface="Arial" pitchFamily="34" charset="-122"/>
                <a:cs typeface="Arial" pitchFamily="34" charset="-120"/>
              </a:rPr>
              <a:t>50%</a:t>
            </a:r>
            <a:endParaRPr lang="en-US" sz="2600" dirty="0"/>
          </a:p>
        </p:txBody>
      </p:sp>
      <p:sp>
        <p:nvSpPr>
          <p:cNvPr id="18" name="Text 16"/>
          <p:cNvSpPr txBox="1"/>
          <p:nvPr/>
        </p:nvSpPr>
        <p:spPr>
          <a:xfrm>
            <a:off x="8869680" y="4480560"/>
            <a:ext cx="2651760" cy="36576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Low: educated guess</a:t>
            </a:r>
            <a:endParaRPr lang="en-US" sz="1400" dirty="0"/>
          </a:p>
        </p:txBody>
      </p:sp>
      <p:sp>
        <p:nvSpPr>
          <p:cNvPr id="19" name="Text 17"/>
          <p:cNvSpPr txBox="1"/>
          <p:nvPr/>
        </p:nvSpPr>
        <p:spPr>
          <a:xfrm>
            <a:off x="548640" y="5486400"/>
            <a:ext cx="11094415" cy="457200"/>
          </a:xfrm>
          <a:prstGeom prst="rect">
            <a:avLst/>
          </a:prstGeom>
          <a:noFill/>
          <a:ln/>
        </p:spPr>
        <p:txBody>
          <a:bodyPr wrap="square" lIns="0" tIns="0" rIns="0" bIns="0" rtlCol="0" anchor="t"/>
          <a:lstStyle/>
          <a:p>
            <a:pPr indent="0" marL="0">
              <a:buNone/>
            </a:pPr>
            <a:r>
              <a:rPr lang="en-US" sz="1500" i="1" dirty="0">
                <a:solidFill>
                  <a:srgbClr val="6B6B6B"/>
                </a:solidFill>
                <a:latin typeface="Arial" pitchFamily="34" charset="0"/>
                <a:ea typeface="Arial" pitchFamily="34" charset="-122"/>
                <a:cs typeface="Arial" pitchFamily="34" charset="-120"/>
              </a:rPr>
              <a:t>A benefit you're 50/50 on is worth about half of itself today. Costs never get a haircut.</a:t>
            </a:r>
            <a:endParaRPr lang="en-US" sz="1500" dirty="0"/>
          </a:p>
        </p:txBody>
      </p:sp>
      <p:sp>
        <p:nvSpPr>
          <p:cNvPr id="20" name="Text 18"/>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21" name="Text 19"/>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VALUE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Three numbers leadership will see every quarter</a:t>
            </a:r>
            <a:endParaRPr lang="en-US" sz="3200" dirty="0"/>
          </a:p>
        </p:txBody>
      </p:sp>
      <p:sp>
        <p:nvSpPr>
          <p:cNvPr id="4" name="Text 2"/>
          <p:cNvSpPr txBox="1"/>
          <p:nvPr/>
        </p:nvSpPr>
        <p:spPr>
          <a:xfrm>
            <a:off x="548640" y="1783080"/>
            <a:ext cx="640080" cy="822960"/>
          </a:xfrm>
          <a:prstGeom prst="rect">
            <a:avLst/>
          </a:prstGeom>
          <a:noFill/>
          <a:ln/>
        </p:spPr>
        <p:txBody>
          <a:bodyPr wrap="square" lIns="0" tIns="0" rIns="0" bIns="0" rtlCol="0" anchor="t"/>
          <a:lstStyle/>
          <a:p>
            <a:pPr indent="0" marL="0">
              <a:buNone/>
            </a:pPr>
            <a:r>
              <a:rPr lang="en-US" sz="4400" b="1" dirty="0">
                <a:solidFill>
                  <a:srgbClr val="E4002B"/>
                </a:solidFill>
                <a:latin typeface="Arial" pitchFamily="34" charset="0"/>
                <a:ea typeface="Arial" pitchFamily="34" charset="-122"/>
                <a:cs typeface="Arial" pitchFamily="34" charset="-120"/>
              </a:rPr>
              <a:t>1</a:t>
            </a:r>
            <a:endParaRPr lang="en-US" sz="4400" dirty="0"/>
          </a:p>
        </p:txBody>
      </p:sp>
      <p:sp>
        <p:nvSpPr>
          <p:cNvPr id="5" name="Text 3"/>
          <p:cNvSpPr txBox="1"/>
          <p:nvPr/>
        </p:nvSpPr>
        <p:spPr>
          <a:xfrm>
            <a:off x="1325880" y="1828800"/>
            <a:ext cx="3931920" cy="41148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Adoption</a:t>
            </a:r>
            <a:endParaRPr lang="en-US" sz="2000" dirty="0"/>
          </a:p>
        </p:txBody>
      </p:sp>
      <p:sp>
        <p:nvSpPr>
          <p:cNvPr id="6" name="Text 4"/>
          <p:cNvSpPr txBox="1"/>
          <p:nvPr/>
        </p:nvSpPr>
        <p:spPr>
          <a:xfrm>
            <a:off x="1325880" y="2286000"/>
            <a:ext cx="3931920" cy="73152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People trained and active, by team</a:t>
            </a:r>
            <a:endParaRPr lang="en-US" sz="1400" dirty="0"/>
          </a:p>
        </p:txBody>
      </p:sp>
      <p:sp>
        <p:nvSpPr>
          <p:cNvPr id="7" name="Text 5"/>
          <p:cNvSpPr txBox="1"/>
          <p:nvPr/>
        </p:nvSpPr>
        <p:spPr>
          <a:xfrm>
            <a:off x="548640" y="3154680"/>
            <a:ext cx="640080" cy="822960"/>
          </a:xfrm>
          <a:prstGeom prst="rect">
            <a:avLst/>
          </a:prstGeom>
          <a:noFill/>
          <a:ln/>
        </p:spPr>
        <p:txBody>
          <a:bodyPr wrap="square" lIns="0" tIns="0" rIns="0" bIns="0" rtlCol="0" anchor="t"/>
          <a:lstStyle/>
          <a:p>
            <a:pPr indent="0" marL="0">
              <a:buNone/>
            </a:pPr>
            <a:r>
              <a:rPr lang="en-US" sz="4400" b="1" dirty="0">
                <a:solidFill>
                  <a:srgbClr val="E4002B"/>
                </a:solidFill>
                <a:latin typeface="Arial" pitchFamily="34" charset="0"/>
                <a:ea typeface="Arial" pitchFamily="34" charset="-122"/>
                <a:cs typeface="Arial" pitchFamily="34" charset="-120"/>
              </a:rPr>
              <a:t>2</a:t>
            </a:r>
            <a:endParaRPr lang="en-US" sz="4400" dirty="0"/>
          </a:p>
        </p:txBody>
      </p:sp>
      <p:sp>
        <p:nvSpPr>
          <p:cNvPr id="8" name="Text 6"/>
          <p:cNvSpPr txBox="1"/>
          <p:nvPr/>
        </p:nvSpPr>
        <p:spPr>
          <a:xfrm>
            <a:off x="1325880" y="3200400"/>
            <a:ext cx="3931920" cy="41148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Time back</a:t>
            </a:r>
            <a:endParaRPr lang="en-US" sz="2000" dirty="0"/>
          </a:p>
        </p:txBody>
      </p:sp>
      <p:sp>
        <p:nvSpPr>
          <p:cNvPr id="9" name="Text 7"/>
          <p:cNvSpPr txBox="1"/>
          <p:nvPr/>
        </p:nvSpPr>
        <p:spPr>
          <a:xfrm>
            <a:off x="1325880" y="3657600"/>
            <a:ext cx="3931920" cy="73152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Wins people log, counted at 50% because self-reports run high</a:t>
            </a:r>
            <a:endParaRPr lang="en-US" sz="1400" dirty="0"/>
          </a:p>
        </p:txBody>
      </p:sp>
      <p:sp>
        <p:nvSpPr>
          <p:cNvPr id="10" name="Text 8"/>
          <p:cNvSpPr txBox="1"/>
          <p:nvPr/>
        </p:nvSpPr>
        <p:spPr>
          <a:xfrm>
            <a:off x="548640" y="4526280"/>
            <a:ext cx="640080" cy="822960"/>
          </a:xfrm>
          <a:prstGeom prst="rect">
            <a:avLst/>
          </a:prstGeom>
          <a:noFill/>
          <a:ln/>
        </p:spPr>
        <p:txBody>
          <a:bodyPr wrap="square" lIns="0" tIns="0" rIns="0" bIns="0" rtlCol="0" anchor="t"/>
          <a:lstStyle/>
          <a:p>
            <a:pPr indent="0" marL="0">
              <a:buNone/>
            </a:pPr>
            <a:r>
              <a:rPr lang="en-US" sz="4400" b="1" dirty="0">
                <a:solidFill>
                  <a:srgbClr val="E4002B"/>
                </a:solidFill>
                <a:latin typeface="Arial" pitchFamily="34" charset="0"/>
                <a:ea typeface="Arial" pitchFamily="34" charset="-122"/>
                <a:cs typeface="Arial" pitchFamily="34" charset="-120"/>
              </a:rPr>
              <a:t>3</a:t>
            </a:r>
            <a:endParaRPr lang="en-US" sz="4400" dirty="0"/>
          </a:p>
        </p:txBody>
      </p:sp>
      <p:sp>
        <p:nvSpPr>
          <p:cNvPr id="11" name="Text 9"/>
          <p:cNvSpPr txBox="1"/>
          <p:nvPr/>
        </p:nvSpPr>
        <p:spPr>
          <a:xfrm>
            <a:off x="1325880" y="4572000"/>
            <a:ext cx="3931920" cy="41148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Delivered value</a:t>
            </a:r>
            <a:endParaRPr lang="en-US" sz="2000" dirty="0"/>
          </a:p>
        </p:txBody>
      </p:sp>
      <p:sp>
        <p:nvSpPr>
          <p:cNvPr id="12" name="Text 10"/>
          <p:cNvSpPr txBox="1"/>
          <p:nvPr/>
        </p:nvSpPr>
        <p:spPr>
          <a:xfrm>
            <a:off x="1325880" y="5029200"/>
            <a:ext cx="3931920" cy="73152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Project benefits against plan, with evidence</a:t>
            </a:r>
            <a:endParaRPr lang="en-US" sz="1400" dirty="0"/>
          </a:p>
        </p:txBody>
      </p:sp>
      <p:graphicFrame>
        <p:nvGraphicFramePr>
          <p:cNvPr id="13" name="Chart 0" descr=""/>
          <p:cNvGraphicFramePr/>
          <p:nvPr/>
        </p:nvGraphicFramePr>
        <p:xfrm>
          <a:off x="5486400" y="1691640"/>
          <a:ext cx="6153912" cy="42062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15" name="Text 12"/>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KNOWLEDGE CHECK</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Five questions. Answers in the speaker notes.</a:t>
            </a:r>
            <a:endParaRPr lang="en-US" sz="3200" dirty="0"/>
          </a:p>
        </p:txBody>
      </p:sp>
      <p:sp>
        <p:nvSpPr>
          <p:cNvPr id="4" name="Shape 2"/>
          <p:cNvSpPr/>
          <p:nvPr/>
        </p:nvSpPr>
        <p:spPr>
          <a:xfrm>
            <a:off x="548640" y="1737360"/>
            <a:ext cx="548640" cy="548640"/>
          </a:xfrm>
          <a:prstGeom prst="ellipse">
            <a:avLst/>
          </a:prstGeom>
          <a:solidFill>
            <a:srgbClr val="E4002B"/>
          </a:solidFill>
          <a:ln w="12700">
            <a:solidFill>
              <a:srgbClr val="E4002B"/>
            </a:solidFill>
            <a:prstDash val="solid"/>
          </a:ln>
        </p:spPr>
      </p:sp>
      <p:sp>
        <p:nvSpPr>
          <p:cNvPr id="5" name="Text 3"/>
          <p:cNvSpPr txBox="1"/>
          <p:nvPr/>
        </p:nvSpPr>
        <p:spPr>
          <a:xfrm>
            <a:off x="548640" y="1828800"/>
            <a:ext cx="54864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371600" y="1810512"/>
            <a:ext cx="10332720" cy="6400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You need the exact total of a 400-row column. What do you use?</a:t>
            </a:r>
            <a:endParaRPr lang="en-US" sz="1800" dirty="0"/>
          </a:p>
        </p:txBody>
      </p:sp>
      <p:sp>
        <p:nvSpPr>
          <p:cNvPr id="7" name="Shape 5"/>
          <p:cNvSpPr/>
          <p:nvPr/>
        </p:nvSpPr>
        <p:spPr>
          <a:xfrm>
            <a:off x="548640" y="2606040"/>
            <a:ext cx="548640" cy="548640"/>
          </a:xfrm>
          <a:prstGeom prst="ellipse">
            <a:avLst/>
          </a:prstGeom>
          <a:solidFill>
            <a:srgbClr val="111111"/>
          </a:solidFill>
          <a:ln w="12700">
            <a:solidFill>
              <a:srgbClr val="111111"/>
            </a:solidFill>
            <a:prstDash val="solid"/>
          </a:ln>
        </p:spPr>
      </p:sp>
      <p:sp>
        <p:nvSpPr>
          <p:cNvPr id="8" name="Text 6"/>
          <p:cNvSpPr txBox="1"/>
          <p:nvPr/>
        </p:nvSpPr>
        <p:spPr>
          <a:xfrm>
            <a:off x="548640" y="2697480"/>
            <a:ext cx="54864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9" name="Text 7"/>
          <p:cNvSpPr txBox="1"/>
          <p:nvPr/>
        </p:nvSpPr>
        <p:spPr>
          <a:xfrm>
            <a:off x="1371600" y="2679192"/>
            <a:ext cx="10332720" cy="6400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Copilot shows you a document you weren't meant to see. What most likely happened, and what do you do?</a:t>
            </a:r>
            <a:endParaRPr lang="en-US" sz="1800" dirty="0"/>
          </a:p>
        </p:txBody>
      </p:sp>
      <p:sp>
        <p:nvSpPr>
          <p:cNvPr id="10" name="Shape 8"/>
          <p:cNvSpPr/>
          <p:nvPr/>
        </p:nvSpPr>
        <p:spPr>
          <a:xfrm>
            <a:off x="548640" y="3474720"/>
            <a:ext cx="548640" cy="548640"/>
          </a:xfrm>
          <a:prstGeom prst="ellipse">
            <a:avLst/>
          </a:prstGeom>
          <a:solidFill>
            <a:srgbClr val="E4002B"/>
          </a:solidFill>
          <a:ln w="12700">
            <a:solidFill>
              <a:srgbClr val="E4002B"/>
            </a:solidFill>
            <a:prstDash val="solid"/>
          </a:ln>
        </p:spPr>
      </p:sp>
      <p:sp>
        <p:nvSpPr>
          <p:cNvPr id="11" name="Text 9"/>
          <p:cNvSpPr txBox="1"/>
          <p:nvPr/>
        </p:nvSpPr>
        <p:spPr>
          <a:xfrm>
            <a:off x="548640" y="3566160"/>
            <a:ext cx="54864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2" name="Text 10"/>
          <p:cNvSpPr txBox="1"/>
          <p:nvPr/>
        </p:nvSpPr>
        <p:spPr>
          <a:xfrm>
            <a:off x="1371600" y="3547872"/>
            <a:ext cx="10332720" cy="6400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Name Microsoft's three sensitive uses.</a:t>
            </a:r>
            <a:endParaRPr lang="en-US" sz="1800" dirty="0"/>
          </a:p>
        </p:txBody>
      </p:sp>
      <p:sp>
        <p:nvSpPr>
          <p:cNvPr id="13" name="Shape 11"/>
          <p:cNvSpPr/>
          <p:nvPr/>
        </p:nvSpPr>
        <p:spPr>
          <a:xfrm>
            <a:off x="548640" y="4343400"/>
            <a:ext cx="548640" cy="548640"/>
          </a:xfrm>
          <a:prstGeom prst="ellipse">
            <a:avLst/>
          </a:prstGeom>
          <a:solidFill>
            <a:srgbClr val="111111"/>
          </a:solidFill>
          <a:ln w="12700">
            <a:solidFill>
              <a:srgbClr val="111111"/>
            </a:solidFill>
            <a:prstDash val="solid"/>
          </a:ln>
        </p:spPr>
      </p:sp>
      <p:sp>
        <p:nvSpPr>
          <p:cNvPr id="14" name="Text 12"/>
          <p:cNvSpPr txBox="1"/>
          <p:nvPr/>
        </p:nvSpPr>
        <p:spPr>
          <a:xfrm>
            <a:off x="548640" y="4434840"/>
            <a:ext cx="54864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5" name="Text 13"/>
          <p:cNvSpPr txBox="1"/>
          <p:nvPr/>
        </p:nvSpPr>
        <p:spPr>
          <a:xfrm>
            <a:off x="1371600" y="4416552"/>
            <a:ext cx="10332720" cy="6400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A pilot has finished. When should its pass mark have been set?</a:t>
            </a:r>
            <a:endParaRPr lang="en-US" sz="1800" dirty="0"/>
          </a:p>
        </p:txBody>
      </p:sp>
      <p:sp>
        <p:nvSpPr>
          <p:cNvPr id="16" name="Shape 14"/>
          <p:cNvSpPr/>
          <p:nvPr/>
        </p:nvSpPr>
        <p:spPr>
          <a:xfrm>
            <a:off x="548640" y="5212080"/>
            <a:ext cx="548640" cy="548640"/>
          </a:xfrm>
          <a:prstGeom prst="ellipse">
            <a:avLst/>
          </a:prstGeom>
          <a:solidFill>
            <a:srgbClr val="E4002B"/>
          </a:solidFill>
          <a:ln w="12700">
            <a:solidFill>
              <a:srgbClr val="E4002B"/>
            </a:solidFill>
            <a:prstDash val="solid"/>
          </a:ln>
        </p:spPr>
      </p:sp>
      <p:sp>
        <p:nvSpPr>
          <p:cNvPr id="17" name="Text 15"/>
          <p:cNvSpPr txBox="1"/>
          <p:nvPr/>
        </p:nvSpPr>
        <p:spPr>
          <a:xfrm>
            <a:off x="548640" y="5303520"/>
            <a:ext cx="54864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18" name="Text 16"/>
          <p:cNvSpPr txBox="1"/>
          <p:nvPr/>
        </p:nvSpPr>
        <p:spPr>
          <a:xfrm>
            <a:off x="1371600" y="5285232"/>
            <a:ext cx="10332720" cy="6400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A project saves 2,000 hours a year, but nobody has said where the time goes. How much of that counts?</a:t>
            </a:r>
            <a:endParaRPr lang="en-US" sz="1800" dirty="0"/>
          </a:p>
        </p:txBody>
      </p:sp>
      <p:sp>
        <p:nvSpPr>
          <p:cNvPr id="19" name="Text 17"/>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20" name="Text 18"/>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WHAT NEXT</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Your first 30 days</a:t>
            </a:r>
            <a:endParaRPr lang="en-US" sz="3200" dirty="0"/>
          </a:p>
        </p:txBody>
      </p:sp>
      <p:sp>
        <p:nvSpPr>
          <p:cNvPr id="4" name="Text 2"/>
          <p:cNvSpPr txBox="1"/>
          <p:nvPr/>
        </p:nvSpPr>
        <p:spPr>
          <a:xfrm>
            <a:off x="548640" y="1481328"/>
            <a:ext cx="11094415" cy="4572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Everything below is in the CONA AI Portal.</a:t>
            </a:r>
            <a:endParaRPr lang="en-US" sz="1600" dirty="0"/>
          </a:p>
        </p:txBody>
      </p:sp>
      <p:sp>
        <p:nvSpPr>
          <p:cNvPr id="5" name="Shape 3"/>
          <p:cNvSpPr/>
          <p:nvPr/>
        </p:nvSpPr>
        <p:spPr>
          <a:xfrm>
            <a:off x="548640" y="2103120"/>
            <a:ext cx="2606040" cy="3566160"/>
          </a:xfrm>
          <a:prstGeom prst="rect">
            <a:avLst/>
          </a:prstGeom>
          <a:solidFill>
            <a:srgbClr val="F4F4F4"/>
          </a:solidFill>
          <a:ln w="12700">
            <a:solidFill>
              <a:srgbClr val="F4F4F4"/>
            </a:solidFill>
            <a:prstDash val="solid"/>
          </a:ln>
        </p:spPr>
      </p:sp>
      <p:sp>
        <p:nvSpPr>
          <p:cNvPr id="6" name="Text 4"/>
          <p:cNvSpPr txBox="1"/>
          <p:nvPr/>
        </p:nvSpPr>
        <p:spPr>
          <a:xfrm>
            <a:off x="822960" y="2286000"/>
            <a:ext cx="210312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WEEK 1</a:t>
            </a:r>
            <a:endParaRPr lang="en-US" sz="1200" dirty="0"/>
          </a:p>
        </p:txBody>
      </p:sp>
      <p:sp>
        <p:nvSpPr>
          <p:cNvPr id="7" name="Shape 5"/>
          <p:cNvSpPr/>
          <p:nvPr/>
        </p:nvSpPr>
        <p:spPr>
          <a:xfrm>
            <a:off x="822960" y="2697480"/>
            <a:ext cx="731520" cy="731520"/>
          </a:xfrm>
          <a:prstGeom prst="ellipse">
            <a:avLst/>
          </a:prstGeom>
          <a:solidFill>
            <a:srgbClr val="111111"/>
          </a:solidFill>
          <a:ln w="12700">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1005840" y="2880360"/>
            <a:ext cx="365760" cy="365760"/>
          </a:xfrm>
          <a:prstGeom prst="rect">
            <a:avLst/>
          </a:prstGeom>
        </p:spPr>
      </p:pic>
      <p:sp>
        <p:nvSpPr>
          <p:cNvPr id="9" name="Text 6"/>
          <p:cNvSpPr txBox="1"/>
          <p:nvPr/>
        </p:nvSpPr>
        <p:spPr>
          <a:xfrm>
            <a:off x="822960" y="3611880"/>
            <a:ext cx="2148840" cy="73152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Finish the eight lessons</a:t>
            </a:r>
            <a:endParaRPr lang="en-US" sz="1800" dirty="0"/>
          </a:p>
        </p:txBody>
      </p:sp>
      <p:sp>
        <p:nvSpPr>
          <p:cNvPr id="10" name="Text 7"/>
          <p:cNvSpPr txBox="1"/>
          <p:nvPr/>
        </p:nvSpPr>
        <p:spPr>
          <a:xfrm>
            <a:off x="822960" y="4389120"/>
            <a:ext cx="2148840" cy="109728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About 40 minutes. Takes you to Practitioner.</a:t>
            </a:r>
            <a:endParaRPr lang="en-US" sz="1400" dirty="0"/>
          </a:p>
        </p:txBody>
      </p:sp>
      <p:sp>
        <p:nvSpPr>
          <p:cNvPr id="11" name="Shape 8"/>
          <p:cNvSpPr/>
          <p:nvPr/>
        </p:nvSpPr>
        <p:spPr>
          <a:xfrm>
            <a:off x="3383280" y="2103120"/>
            <a:ext cx="2606040" cy="3566160"/>
          </a:xfrm>
          <a:prstGeom prst="rect">
            <a:avLst/>
          </a:prstGeom>
          <a:solidFill>
            <a:srgbClr val="F4F4F4"/>
          </a:solidFill>
          <a:ln w="12700">
            <a:solidFill>
              <a:srgbClr val="F4F4F4"/>
            </a:solidFill>
            <a:prstDash val="solid"/>
          </a:ln>
        </p:spPr>
      </p:sp>
      <p:sp>
        <p:nvSpPr>
          <p:cNvPr id="12" name="Text 9"/>
          <p:cNvSpPr txBox="1"/>
          <p:nvPr/>
        </p:nvSpPr>
        <p:spPr>
          <a:xfrm>
            <a:off x="3657600" y="2286000"/>
            <a:ext cx="210312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WEEK 2</a:t>
            </a:r>
            <a:endParaRPr lang="en-US" sz="1200" dirty="0"/>
          </a:p>
        </p:txBody>
      </p:sp>
      <p:sp>
        <p:nvSpPr>
          <p:cNvPr id="13" name="Shape 10"/>
          <p:cNvSpPr/>
          <p:nvPr/>
        </p:nvSpPr>
        <p:spPr>
          <a:xfrm>
            <a:off x="3657600" y="2697480"/>
            <a:ext cx="731520" cy="731520"/>
          </a:xfrm>
          <a:prstGeom prst="ellipse">
            <a:avLst/>
          </a:prstGeom>
          <a:solidFill>
            <a:srgbClr val="111111"/>
          </a:solidFill>
          <a:ln w="12700">
            <a:solidFill>
              <a:srgbClr val="111111"/>
            </a:solidFill>
            <a:prstDash val="solid"/>
          </a:ln>
        </p:spPr>
      </p:sp>
      <p:pic>
        <p:nvPicPr>
          <p:cNvPr id="14" name="Image 1" descr="preencoded.png">    </p:cNvPr>
          <p:cNvPicPr>
            <a:picLocks noChangeAspect="1"/>
          </p:cNvPicPr>
          <p:nvPr/>
        </p:nvPicPr>
        <p:blipFill>
          <a:blip r:embed="rId2"/>
          <a:stretch>
            <a:fillRect/>
          </a:stretch>
        </p:blipFill>
        <p:spPr>
          <a:xfrm>
            <a:off x="3840480" y="2880360"/>
            <a:ext cx="365760" cy="365760"/>
          </a:xfrm>
          <a:prstGeom prst="rect">
            <a:avLst/>
          </a:prstGeom>
        </p:spPr>
      </p:pic>
      <p:sp>
        <p:nvSpPr>
          <p:cNvPr id="15" name="Text 11"/>
          <p:cNvSpPr txBox="1"/>
          <p:nvPr/>
        </p:nvSpPr>
        <p:spPr>
          <a:xfrm>
            <a:off x="3657600" y="3611880"/>
            <a:ext cx="2148840" cy="73152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Pick one weekly task</a:t>
            </a:r>
            <a:endParaRPr lang="en-US" sz="1800" dirty="0"/>
          </a:p>
        </p:txBody>
      </p:sp>
      <p:sp>
        <p:nvSpPr>
          <p:cNvPr id="16" name="Text 12"/>
          <p:cNvSpPr txBox="1"/>
          <p:nvPr/>
        </p:nvSpPr>
        <p:spPr>
          <a:xfrm>
            <a:off x="3657600" y="4389120"/>
            <a:ext cx="2148840" cy="109728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Use a prompt from the library on it every week.</a:t>
            </a:r>
            <a:endParaRPr lang="en-US" sz="1400" dirty="0"/>
          </a:p>
        </p:txBody>
      </p:sp>
      <p:sp>
        <p:nvSpPr>
          <p:cNvPr id="17" name="Shape 13"/>
          <p:cNvSpPr/>
          <p:nvPr/>
        </p:nvSpPr>
        <p:spPr>
          <a:xfrm>
            <a:off x="6217920" y="2103120"/>
            <a:ext cx="2606040" cy="3566160"/>
          </a:xfrm>
          <a:prstGeom prst="rect">
            <a:avLst/>
          </a:prstGeom>
          <a:solidFill>
            <a:srgbClr val="F4F4F4"/>
          </a:solidFill>
          <a:ln w="12700">
            <a:solidFill>
              <a:srgbClr val="F4F4F4"/>
            </a:solidFill>
            <a:prstDash val="solid"/>
          </a:ln>
        </p:spPr>
      </p:sp>
      <p:sp>
        <p:nvSpPr>
          <p:cNvPr id="18" name="Text 14"/>
          <p:cNvSpPr txBox="1"/>
          <p:nvPr/>
        </p:nvSpPr>
        <p:spPr>
          <a:xfrm>
            <a:off x="6492240" y="2286000"/>
            <a:ext cx="210312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WEEK 3</a:t>
            </a:r>
            <a:endParaRPr lang="en-US" sz="1200" dirty="0"/>
          </a:p>
        </p:txBody>
      </p:sp>
      <p:sp>
        <p:nvSpPr>
          <p:cNvPr id="19" name="Shape 15"/>
          <p:cNvSpPr/>
          <p:nvPr/>
        </p:nvSpPr>
        <p:spPr>
          <a:xfrm>
            <a:off x="6492240" y="2697480"/>
            <a:ext cx="731520" cy="731520"/>
          </a:xfrm>
          <a:prstGeom prst="ellipse">
            <a:avLst/>
          </a:prstGeom>
          <a:solidFill>
            <a:srgbClr val="111111"/>
          </a:solidFill>
          <a:ln w="12700">
            <a:solidFill>
              <a:srgbClr val="111111"/>
            </a:solidFill>
            <a:prstDash val="solid"/>
          </a:ln>
        </p:spPr>
      </p:sp>
      <p:pic>
        <p:nvPicPr>
          <p:cNvPr id="20" name="Image 2" descr="preencoded.png">    </p:cNvPr>
          <p:cNvPicPr>
            <a:picLocks noChangeAspect="1"/>
          </p:cNvPicPr>
          <p:nvPr/>
        </p:nvPicPr>
        <p:blipFill>
          <a:blip r:embed="rId3"/>
          <a:stretch>
            <a:fillRect/>
          </a:stretch>
        </p:blipFill>
        <p:spPr>
          <a:xfrm>
            <a:off x="6675120" y="2880360"/>
            <a:ext cx="365760" cy="365760"/>
          </a:xfrm>
          <a:prstGeom prst="rect">
            <a:avLst/>
          </a:prstGeom>
        </p:spPr>
      </p:pic>
      <p:sp>
        <p:nvSpPr>
          <p:cNvPr id="21" name="Text 16"/>
          <p:cNvSpPr txBox="1"/>
          <p:nvPr/>
        </p:nvSpPr>
        <p:spPr>
          <a:xfrm>
            <a:off x="6492240" y="3611880"/>
            <a:ext cx="2148840" cy="73152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Log your wins</a:t>
            </a:r>
            <a:endParaRPr lang="en-US" sz="1800" dirty="0"/>
          </a:p>
        </p:txBody>
      </p:sp>
      <p:sp>
        <p:nvSpPr>
          <p:cNvPr id="22" name="Text 17"/>
          <p:cNvSpPr txBox="1"/>
          <p:nvPr/>
        </p:nvSpPr>
        <p:spPr>
          <a:xfrm>
            <a:off x="6492240" y="4389120"/>
            <a:ext cx="2148840" cy="109728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Twenty seconds each. It's how we prove this works.</a:t>
            </a:r>
            <a:endParaRPr lang="en-US" sz="1400" dirty="0"/>
          </a:p>
        </p:txBody>
      </p:sp>
      <p:sp>
        <p:nvSpPr>
          <p:cNvPr id="23" name="Shape 18"/>
          <p:cNvSpPr/>
          <p:nvPr/>
        </p:nvSpPr>
        <p:spPr>
          <a:xfrm>
            <a:off x="9052560" y="2103120"/>
            <a:ext cx="2606040" cy="3566160"/>
          </a:xfrm>
          <a:prstGeom prst="rect">
            <a:avLst/>
          </a:prstGeom>
          <a:solidFill>
            <a:srgbClr val="F4F4F4"/>
          </a:solidFill>
          <a:ln w="12700">
            <a:solidFill>
              <a:srgbClr val="F4F4F4"/>
            </a:solidFill>
            <a:prstDash val="solid"/>
          </a:ln>
        </p:spPr>
      </p:sp>
      <p:sp>
        <p:nvSpPr>
          <p:cNvPr id="24" name="Text 19"/>
          <p:cNvSpPr txBox="1"/>
          <p:nvPr/>
        </p:nvSpPr>
        <p:spPr>
          <a:xfrm>
            <a:off x="9326880" y="2286000"/>
            <a:ext cx="210312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WEEK 4</a:t>
            </a:r>
            <a:endParaRPr lang="en-US" sz="1200" dirty="0"/>
          </a:p>
        </p:txBody>
      </p:sp>
      <p:sp>
        <p:nvSpPr>
          <p:cNvPr id="25" name="Shape 20"/>
          <p:cNvSpPr/>
          <p:nvPr/>
        </p:nvSpPr>
        <p:spPr>
          <a:xfrm>
            <a:off x="9326880" y="2697480"/>
            <a:ext cx="731520" cy="731520"/>
          </a:xfrm>
          <a:prstGeom prst="ellipse">
            <a:avLst/>
          </a:prstGeom>
          <a:solidFill>
            <a:srgbClr val="111111"/>
          </a:solidFill>
          <a:ln w="12700">
            <a:solidFill>
              <a:srgbClr val="111111"/>
            </a:solidFill>
            <a:prstDash val="solid"/>
          </a:ln>
        </p:spPr>
      </p:sp>
      <p:pic>
        <p:nvPicPr>
          <p:cNvPr id="26" name="Image 3" descr="preencoded.png">    </p:cNvPr>
          <p:cNvPicPr>
            <a:picLocks noChangeAspect="1"/>
          </p:cNvPicPr>
          <p:nvPr/>
        </p:nvPicPr>
        <p:blipFill>
          <a:blip r:embed="rId4"/>
          <a:stretch>
            <a:fillRect/>
          </a:stretch>
        </p:blipFill>
        <p:spPr>
          <a:xfrm>
            <a:off x="9509760" y="2880360"/>
            <a:ext cx="365760" cy="365760"/>
          </a:xfrm>
          <a:prstGeom prst="rect">
            <a:avLst/>
          </a:prstGeom>
        </p:spPr>
      </p:pic>
      <p:sp>
        <p:nvSpPr>
          <p:cNvPr id="27" name="Text 21"/>
          <p:cNvSpPr txBox="1"/>
          <p:nvPr/>
        </p:nvSpPr>
        <p:spPr>
          <a:xfrm>
            <a:off x="9326880" y="3611880"/>
            <a:ext cx="2148840" cy="73152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Share what works</a:t>
            </a:r>
            <a:endParaRPr lang="en-US" sz="1800" dirty="0"/>
          </a:p>
        </p:txBody>
      </p:sp>
      <p:sp>
        <p:nvSpPr>
          <p:cNvPr id="28" name="Text 22"/>
          <p:cNvSpPr txBox="1"/>
          <p:nvPr/>
        </p:nvSpPr>
        <p:spPr>
          <a:xfrm>
            <a:off x="9326880" y="4389120"/>
            <a:ext cx="2148840" cy="1097280"/>
          </a:xfrm>
          <a:prstGeom prst="rect">
            <a:avLst/>
          </a:prstGeom>
          <a:noFill/>
          <a:ln/>
        </p:spPr>
        <p:txBody>
          <a:bodyPr wrap="square" lIns="0" tIns="0" rIns="0" bIns="0" rtlCol="0" anchor="t"/>
          <a:lstStyle/>
          <a:p>
            <a:pPr indent="0" marL="0">
              <a:buNone/>
            </a:pPr>
            <a:r>
              <a:rPr lang="en-US" sz="1400" dirty="0">
                <a:solidFill>
                  <a:srgbClr val="3D3D3D"/>
                </a:solidFill>
                <a:latin typeface="Arial" pitchFamily="34" charset="0"/>
                <a:ea typeface="Arial" pitchFamily="34" charset="-122"/>
                <a:cs typeface="Arial" pitchFamily="34" charset="-120"/>
              </a:rPr>
              <a:t>Post a prompt, or run the 30-minute team session.</a:t>
            </a:r>
            <a:endParaRPr lang="en-US" sz="1400" dirty="0"/>
          </a:p>
        </p:txBody>
      </p:sp>
      <p:sp>
        <p:nvSpPr>
          <p:cNvPr id="29" name="Text 23"/>
          <p:cNvSpPr txBox="1"/>
          <p:nvPr/>
        </p:nvSpPr>
        <p:spPr>
          <a:xfrm>
            <a:off x="548640" y="5943600"/>
            <a:ext cx="8229600" cy="32004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Levels: Starter → Practitioner → Regular → Champion</a:t>
            </a:r>
            <a:endParaRPr lang="en-US" sz="1400" dirty="0"/>
          </a:p>
        </p:txBody>
      </p:sp>
      <p:sp>
        <p:nvSpPr>
          <p:cNvPr id="30" name="Text 24"/>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31" name="Text 25"/>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200" kern="0" dirty="0">
                <a:solidFill>
                  <a:srgbClr val="E4002B"/>
                </a:solidFill>
                <a:latin typeface="Arial" pitchFamily="34" charset="0"/>
                <a:ea typeface="Arial" pitchFamily="34" charset="-122"/>
                <a:cs typeface="Arial" pitchFamily="34" charset="-120"/>
              </a:rPr>
              <a:t>WHAT NEXT</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Where to go for help</a:t>
            </a:r>
            <a:endParaRPr lang="en-US" sz="3200" dirty="0"/>
          </a:p>
        </p:txBody>
      </p:sp>
      <p:sp>
        <p:nvSpPr>
          <p:cNvPr id="4" name="Shape 2"/>
          <p:cNvSpPr/>
          <p:nvPr/>
        </p:nvSpPr>
        <p:spPr>
          <a:xfrm>
            <a:off x="548640" y="1737360"/>
            <a:ext cx="5440680" cy="1280160"/>
          </a:xfrm>
          <a:prstGeom prst="rect">
            <a:avLst/>
          </a:prstGeom>
          <a:solidFill>
            <a:srgbClr val="FDECEF"/>
          </a:solidFill>
          <a:ln w="12700">
            <a:solidFill>
              <a:srgbClr val="FDECEF"/>
            </a:solidFill>
            <a:prstDash val="solid"/>
          </a:ln>
        </p:spPr>
      </p:sp>
      <p:sp>
        <p:nvSpPr>
          <p:cNvPr id="5" name="Text 3"/>
          <p:cNvSpPr txBox="1"/>
          <p:nvPr/>
        </p:nvSpPr>
        <p:spPr>
          <a:xfrm>
            <a:off x="777240" y="1874520"/>
            <a:ext cx="5029200" cy="36576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CONA AI Portal</a:t>
            </a:r>
            <a:endParaRPr lang="en-US" sz="1700" dirty="0"/>
          </a:p>
        </p:txBody>
      </p:sp>
      <p:sp>
        <p:nvSpPr>
          <p:cNvPr id="6" name="Text 4"/>
          <p:cNvSpPr txBox="1"/>
          <p:nvPr/>
        </p:nvSpPr>
        <p:spPr>
          <a:xfrm>
            <a:off x="777240" y="2240280"/>
            <a:ext cx="5029200" cy="365760"/>
          </a:xfrm>
          <a:prstGeom prst="rect">
            <a:avLst/>
          </a:prstGeom>
          <a:noFill/>
          <a:ln/>
        </p:spPr>
        <p:txBody>
          <a:bodyPr wrap="square" lIns="0" tIns="0" rIns="0" bIns="0" rtlCol="0" anchor="t"/>
          <a:lstStyle/>
          <a:p>
            <a:pPr indent="0" marL="0">
              <a:buNone/>
            </a:pPr>
            <a:r>
              <a:rPr lang="en-US" sz="1300" dirty="0">
                <a:solidFill>
                  <a:srgbClr val="3D3D3D"/>
                </a:solidFill>
                <a:latin typeface="Arial" pitchFamily="34" charset="0"/>
                <a:ea typeface="Arial" pitchFamily="34" charset="-122"/>
                <a:cs typeface="Arial" pitchFamily="34" charset="-120"/>
              </a:rPr>
              <a:t>Lessons, prompts, projects and the value dashboard.</a:t>
            </a:r>
            <a:endParaRPr lang="en-US" sz="1300" dirty="0"/>
          </a:p>
        </p:txBody>
      </p:sp>
      <p:sp>
        <p:nvSpPr>
          <p:cNvPr id="7" name="Text 5"/>
          <p:cNvSpPr txBox="1"/>
          <p:nvPr/>
        </p:nvSpPr>
        <p:spPr>
          <a:xfrm>
            <a:off x="777240" y="2587752"/>
            <a:ext cx="5029200" cy="320040"/>
          </a:xfrm>
          <a:prstGeom prst="rect">
            <a:avLst/>
          </a:prstGeom>
          <a:noFill/>
          <a:ln/>
        </p:spPr>
        <p:txBody>
          <a:bodyPr wrap="square" lIns="0" tIns="0" rIns="0" bIns="0" rtlCol="0" anchor="t"/>
          <a:lstStyle/>
          <a:p>
            <a:pPr indent="0" marL="0">
              <a:buNone/>
            </a:pPr>
            <a:r>
              <a:rPr lang="en-US" sz="1200" b="1" dirty="0">
                <a:solidFill>
                  <a:srgbClr val="E4002B"/>
                </a:solidFill>
                <a:latin typeface="Arial" pitchFamily="34" charset="0"/>
                <a:ea typeface="Arial" pitchFamily="34" charset="-122"/>
                <a:cs typeface="Arial" pitchFamily="34" charset="-120"/>
              </a:rPr>
              <a:t>[Add the portal link]</a:t>
            </a:r>
            <a:endParaRPr lang="en-US" sz="1200" dirty="0"/>
          </a:p>
        </p:txBody>
      </p:sp>
      <p:sp>
        <p:nvSpPr>
          <p:cNvPr id="8" name="Shape 6"/>
          <p:cNvSpPr/>
          <p:nvPr/>
        </p:nvSpPr>
        <p:spPr>
          <a:xfrm>
            <a:off x="6172200" y="1737360"/>
            <a:ext cx="5440680" cy="1280160"/>
          </a:xfrm>
          <a:prstGeom prst="rect">
            <a:avLst/>
          </a:prstGeom>
          <a:solidFill>
            <a:srgbClr val="FDECEF"/>
          </a:solidFill>
          <a:ln w="12700">
            <a:solidFill>
              <a:srgbClr val="FDECEF"/>
            </a:solidFill>
            <a:prstDash val="solid"/>
          </a:ln>
        </p:spPr>
      </p:sp>
      <p:sp>
        <p:nvSpPr>
          <p:cNvPr id="9" name="Text 7"/>
          <p:cNvSpPr txBox="1"/>
          <p:nvPr/>
        </p:nvSpPr>
        <p:spPr>
          <a:xfrm>
            <a:off x="6400800" y="1874520"/>
            <a:ext cx="5029200" cy="36576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AI review board</a:t>
            </a:r>
            <a:endParaRPr lang="en-US" sz="1700" dirty="0"/>
          </a:p>
        </p:txBody>
      </p:sp>
      <p:sp>
        <p:nvSpPr>
          <p:cNvPr id="10" name="Text 8"/>
          <p:cNvSpPr txBox="1"/>
          <p:nvPr/>
        </p:nvSpPr>
        <p:spPr>
          <a:xfrm>
            <a:off x="6400800" y="2240280"/>
            <a:ext cx="5029200" cy="365760"/>
          </a:xfrm>
          <a:prstGeom prst="rect">
            <a:avLst/>
          </a:prstGeom>
          <a:noFill/>
          <a:ln/>
        </p:spPr>
        <p:txBody>
          <a:bodyPr wrap="square" lIns="0" tIns="0" rIns="0" bIns="0" rtlCol="0" anchor="t"/>
          <a:lstStyle/>
          <a:p>
            <a:pPr indent="0" marL="0">
              <a:buNone/>
            </a:pPr>
            <a:r>
              <a:rPr lang="en-US" sz="1300" dirty="0">
                <a:solidFill>
                  <a:srgbClr val="3D3D3D"/>
                </a:solidFill>
                <a:latin typeface="Arial" pitchFamily="34" charset="0"/>
                <a:ea typeface="Arial" pitchFamily="34" charset="-122"/>
                <a:cs typeface="Arial" pitchFamily="34" charset="-120"/>
              </a:rPr>
              <a:t>Questions about projects, tiers and approvals.</a:t>
            </a:r>
            <a:endParaRPr lang="en-US" sz="1300" dirty="0"/>
          </a:p>
        </p:txBody>
      </p:sp>
      <p:sp>
        <p:nvSpPr>
          <p:cNvPr id="11" name="Text 9"/>
          <p:cNvSpPr txBox="1"/>
          <p:nvPr/>
        </p:nvSpPr>
        <p:spPr>
          <a:xfrm>
            <a:off x="6400800" y="2587752"/>
            <a:ext cx="5029200" cy="320040"/>
          </a:xfrm>
          <a:prstGeom prst="rect">
            <a:avLst/>
          </a:prstGeom>
          <a:noFill/>
          <a:ln/>
        </p:spPr>
        <p:txBody>
          <a:bodyPr wrap="square" lIns="0" tIns="0" rIns="0" bIns="0" rtlCol="0" anchor="t"/>
          <a:lstStyle/>
          <a:p>
            <a:pPr indent="0" marL="0">
              <a:buNone/>
            </a:pPr>
            <a:r>
              <a:rPr lang="en-US" sz="1200" b="1" dirty="0">
                <a:solidFill>
                  <a:srgbClr val="E4002B"/>
                </a:solidFill>
                <a:latin typeface="Arial" pitchFamily="34" charset="0"/>
                <a:ea typeface="Arial" pitchFamily="34" charset="-122"/>
                <a:cs typeface="Arial" pitchFamily="34" charset="-120"/>
              </a:rPr>
              <a:t>[Add a name or Teams channel]</a:t>
            </a:r>
            <a:endParaRPr lang="en-US" sz="1200" dirty="0"/>
          </a:p>
        </p:txBody>
      </p:sp>
      <p:sp>
        <p:nvSpPr>
          <p:cNvPr id="12" name="Shape 10"/>
          <p:cNvSpPr/>
          <p:nvPr/>
        </p:nvSpPr>
        <p:spPr>
          <a:xfrm>
            <a:off x="548640" y="3200400"/>
            <a:ext cx="5440680" cy="1280160"/>
          </a:xfrm>
          <a:prstGeom prst="rect">
            <a:avLst/>
          </a:prstGeom>
          <a:solidFill>
            <a:srgbClr val="F4F4F4"/>
          </a:solidFill>
          <a:ln w="12700">
            <a:solidFill>
              <a:srgbClr val="F4F4F4"/>
            </a:solidFill>
            <a:prstDash val="solid"/>
          </a:ln>
        </p:spPr>
      </p:sp>
      <p:sp>
        <p:nvSpPr>
          <p:cNvPr id="13" name="Text 11"/>
          <p:cNvSpPr txBox="1"/>
          <p:nvPr/>
        </p:nvSpPr>
        <p:spPr>
          <a:xfrm>
            <a:off x="777240" y="3337560"/>
            <a:ext cx="5029200" cy="36576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IT and Security</a:t>
            </a:r>
            <a:endParaRPr lang="en-US" sz="1700" dirty="0"/>
          </a:p>
        </p:txBody>
      </p:sp>
      <p:sp>
        <p:nvSpPr>
          <p:cNvPr id="14" name="Text 12"/>
          <p:cNvSpPr txBox="1"/>
          <p:nvPr/>
        </p:nvSpPr>
        <p:spPr>
          <a:xfrm>
            <a:off x="777240" y="3703320"/>
            <a:ext cx="5029200" cy="365760"/>
          </a:xfrm>
          <a:prstGeom prst="rect">
            <a:avLst/>
          </a:prstGeom>
          <a:noFill/>
          <a:ln/>
        </p:spPr>
        <p:txBody>
          <a:bodyPr wrap="square" lIns="0" tIns="0" rIns="0" bIns="0" rtlCol="0" anchor="t"/>
          <a:lstStyle/>
          <a:p>
            <a:pPr indent="0" marL="0">
              <a:buNone/>
            </a:pPr>
            <a:r>
              <a:rPr lang="en-US" sz="1300" dirty="0">
                <a:solidFill>
                  <a:srgbClr val="3D3D3D"/>
                </a:solidFill>
                <a:latin typeface="Arial" pitchFamily="34" charset="0"/>
                <a:ea typeface="Arial" pitchFamily="34" charset="-122"/>
                <a:cs typeface="Arial" pitchFamily="34" charset="-120"/>
              </a:rPr>
              <a:t>Approved tools, sharing settings and sensitivity labels.</a:t>
            </a:r>
            <a:endParaRPr lang="en-US" sz="1300" dirty="0"/>
          </a:p>
        </p:txBody>
      </p:sp>
      <p:sp>
        <p:nvSpPr>
          <p:cNvPr id="15" name="Text 13"/>
          <p:cNvSpPr txBox="1"/>
          <p:nvPr/>
        </p:nvSpPr>
        <p:spPr>
          <a:xfrm>
            <a:off x="777240" y="4050792"/>
            <a:ext cx="5029200" cy="32004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[Add the service desk link]</a:t>
            </a:r>
            <a:endParaRPr lang="en-US" sz="1200" dirty="0"/>
          </a:p>
        </p:txBody>
      </p:sp>
      <p:sp>
        <p:nvSpPr>
          <p:cNvPr id="16" name="Shape 14"/>
          <p:cNvSpPr/>
          <p:nvPr/>
        </p:nvSpPr>
        <p:spPr>
          <a:xfrm>
            <a:off x="6172200" y="3200400"/>
            <a:ext cx="5440680" cy="1280160"/>
          </a:xfrm>
          <a:prstGeom prst="rect">
            <a:avLst/>
          </a:prstGeom>
          <a:solidFill>
            <a:srgbClr val="F4F4F4"/>
          </a:solidFill>
          <a:ln w="12700">
            <a:solidFill>
              <a:srgbClr val="F4F4F4"/>
            </a:solidFill>
            <a:prstDash val="solid"/>
          </a:ln>
        </p:spPr>
      </p:sp>
      <p:sp>
        <p:nvSpPr>
          <p:cNvPr id="17" name="Text 15"/>
          <p:cNvSpPr txBox="1"/>
          <p:nvPr/>
        </p:nvSpPr>
        <p:spPr>
          <a:xfrm>
            <a:off x="6400800" y="3337560"/>
            <a:ext cx="5029200" cy="36576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Microsoft's Responsible AI principles</a:t>
            </a:r>
            <a:endParaRPr lang="en-US" sz="1700" dirty="0"/>
          </a:p>
        </p:txBody>
      </p:sp>
      <p:sp>
        <p:nvSpPr>
          <p:cNvPr id="18" name="Text 16"/>
          <p:cNvSpPr txBox="1"/>
          <p:nvPr/>
        </p:nvSpPr>
        <p:spPr>
          <a:xfrm>
            <a:off x="6400800" y="3703320"/>
            <a:ext cx="5029200" cy="365760"/>
          </a:xfrm>
          <a:prstGeom prst="rect">
            <a:avLst/>
          </a:prstGeom>
          <a:noFill/>
          <a:ln/>
        </p:spPr>
        <p:txBody>
          <a:bodyPr wrap="square" lIns="0" tIns="0" rIns="0" bIns="0" rtlCol="0" anchor="t"/>
          <a:lstStyle/>
          <a:p>
            <a:pPr indent="0" marL="0">
              <a:buNone/>
            </a:pPr>
            <a:r>
              <a:rPr lang="en-US" sz="1300" dirty="0">
                <a:solidFill>
                  <a:srgbClr val="3D3D3D"/>
                </a:solidFill>
                <a:latin typeface="Arial" pitchFamily="34" charset="0"/>
                <a:ea typeface="Arial" pitchFamily="34" charset="-122"/>
                <a:cs typeface="Arial" pitchFamily="34" charset="-120"/>
              </a:rPr>
              <a:t>The six principles and Microsoft's approach.</a:t>
            </a:r>
            <a:endParaRPr lang="en-US" sz="1300" dirty="0"/>
          </a:p>
        </p:txBody>
      </p:sp>
      <p:sp>
        <p:nvSpPr>
          <p:cNvPr id="19" name="Text 17"/>
          <p:cNvSpPr txBox="1"/>
          <p:nvPr/>
        </p:nvSpPr>
        <p:spPr>
          <a:xfrm>
            <a:off x="6400800" y="4050792"/>
            <a:ext cx="5029200" cy="32004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microsoft.com/ai/principles-and-approach</a:t>
            </a:r>
            <a:endParaRPr lang="en-US" sz="1200" dirty="0"/>
          </a:p>
        </p:txBody>
      </p:sp>
      <p:sp>
        <p:nvSpPr>
          <p:cNvPr id="20" name="Shape 18"/>
          <p:cNvSpPr/>
          <p:nvPr/>
        </p:nvSpPr>
        <p:spPr>
          <a:xfrm>
            <a:off x="548640" y="4663440"/>
            <a:ext cx="5440680" cy="1280160"/>
          </a:xfrm>
          <a:prstGeom prst="rect">
            <a:avLst/>
          </a:prstGeom>
          <a:solidFill>
            <a:srgbClr val="F4F4F4"/>
          </a:solidFill>
          <a:ln w="12700">
            <a:solidFill>
              <a:srgbClr val="F4F4F4"/>
            </a:solidFill>
            <a:prstDash val="solid"/>
          </a:ln>
        </p:spPr>
      </p:sp>
      <p:sp>
        <p:nvSpPr>
          <p:cNvPr id="21" name="Text 19"/>
          <p:cNvSpPr txBox="1"/>
          <p:nvPr/>
        </p:nvSpPr>
        <p:spPr>
          <a:xfrm>
            <a:off x="777240" y="4800600"/>
            <a:ext cx="5029200" cy="36576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Cloud Adoption Framework: Govern AI</a:t>
            </a:r>
            <a:endParaRPr lang="en-US" sz="1700" dirty="0"/>
          </a:p>
        </p:txBody>
      </p:sp>
      <p:sp>
        <p:nvSpPr>
          <p:cNvPr id="22" name="Text 20"/>
          <p:cNvSpPr txBox="1"/>
          <p:nvPr/>
        </p:nvSpPr>
        <p:spPr>
          <a:xfrm>
            <a:off x="777240" y="5166360"/>
            <a:ext cx="5029200" cy="365760"/>
          </a:xfrm>
          <a:prstGeom prst="rect">
            <a:avLst/>
          </a:prstGeom>
          <a:noFill/>
          <a:ln/>
        </p:spPr>
        <p:txBody>
          <a:bodyPr wrap="square" lIns="0" tIns="0" rIns="0" bIns="0" rtlCol="0" anchor="t"/>
          <a:lstStyle/>
          <a:p>
            <a:pPr indent="0" marL="0">
              <a:buNone/>
            </a:pPr>
            <a:r>
              <a:rPr lang="en-US" sz="1300" dirty="0">
                <a:solidFill>
                  <a:srgbClr val="3D3D3D"/>
                </a:solidFill>
                <a:latin typeface="Arial" pitchFamily="34" charset="0"/>
                <a:ea typeface="Arial" pitchFamily="34" charset="-122"/>
                <a:cs typeface="Arial" pitchFamily="34" charset="-120"/>
              </a:rPr>
              <a:t>Microsoft's four steps for governing AI.</a:t>
            </a:r>
            <a:endParaRPr lang="en-US" sz="1300" dirty="0"/>
          </a:p>
        </p:txBody>
      </p:sp>
      <p:sp>
        <p:nvSpPr>
          <p:cNvPr id="23" name="Text 21"/>
          <p:cNvSpPr txBox="1"/>
          <p:nvPr/>
        </p:nvSpPr>
        <p:spPr>
          <a:xfrm>
            <a:off x="777240" y="5513832"/>
            <a:ext cx="5029200" cy="32004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learn.microsoft.com/azure/cloud-adoption-framework/ai/govern</a:t>
            </a:r>
            <a:endParaRPr lang="en-US" sz="1200" dirty="0"/>
          </a:p>
        </p:txBody>
      </p:sp>
      <p:sp>
        <p:nvSpPr>
          <p:cNvPr id="24" name="Shape 22"/>
          <p:cNvSpPr/>
          <p:nvPr/>
        </p:nvSpPr>
        <p:spPr>
          <a:xfrm>
            <a:off x="6172200" y="4663440"/>
            <a:ext cx="5440680" cy="1280160"/>
          </a:xfrm>
          <a:prstGeom prst="rect">
            <a:avLst/>
          </a:prstGeom>
          <a:solidFill>
            <a:srgbClr val="F4F4F4"/>
          </a:solidFill>
          <a:ln w="12700">
            <a:solidFill>
              <a:srgbClr val="F4F4F4"/>
            </a:solidFill>
            <a:prstDash val="solid"/>
          </a:ln>
        </p:spPr>
      </p:sp>
      <p:sp>
        <p:nvSpPr>
          <p:cNvPr id="25" name="Text 23"/>
          <p:cNvSpPr txBox="1"/>
          <p:nvPr/>
        </p:nvSpPr>
        <p:spPr>
          <a:xfrm>
            <a:off x="6400800" y="4800600"/>
            <a:ext cx="5029200" cy="36576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Microsoft Responsible AI Standard v2</a:t>
            </a:r>
            <a:endParaRPr lang="en-US" sz="1700" dirty="0"/>
          </a:p>
        </p:txBody>
      </p:sp>
      <p:sp>
        <p:nvSpPr>
          <p:cNvPr id="26" name="Text 24"/>
          <p:cNvSpPr txBox="1"/>
          <p:nvPr/>
        </p:nvSpPr>
        <p:spPr>
          <a:xfrm>
            <a:off x="6400800" y="5166360"/>
            <a:ext cx="5029200" cy="365760"/>
          </a:xfrm>
          <a:prstGeom prst="rect">
            <a:avLst/>
          </a:prstGeom>
          <a:noFill/>
          <a:ln/>
        </p:spPr>
        <p:txBody>
          <a:bodyPr wrap="square" lIns="0" tIns="0" rIns="0" bIns="0" rtlCol="0" anchor="t"/>
          <a:lstStyle/>
          <a:p>
            <a:pPr indent="0" marL="0">
              <a:buNone/>
            </a:pPr>
            <a:r>
              <a:rPr lang="en-US" sz="1300" dirty="0">
                <a:solidFill>
                  <a:srgbClr val="3D3D3D"/>
                </a:solidFill>
                <a:latin typeface="Arial" pitchFamily="34" charset="0"/>
                <a:ea typeface="Arial" pitchFamily="34" charset="-122"/>
                <a:cs typeface="Arial" pitchFamily="34" charset="-120"/>
              </a:rPr>
              <a:t>Where the sensitive uses and impact assessment come from.</a:t>
            </a:r>
            <a:endParaRPr lang="en-US" sz="1300" dirty="0"/>
          </a:p>
        </p:txBody>
      </p:sp>
      <p:sp>
        <p:nvSpPr>
          <p:cNvPr id="27" name="Text 25"/>
          <p:cNvSpPr txBox="1"/>
          <p:nvPr/>
        </p:nvSpPr>
        <p:spPr>
          <a:xfrm>
            <a:off x="6400800" y="5513832"/>
            <a:ext cx="5029200" cy="32004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Search: Microsoft Responsible AI Standard General Requirements</a:t>
            </a:r>
            <a:endParaRPr lang="en-US" sz="1200" dirty="0"/>
          </a:p>
        </p:txBody>
      </p:sp>
      <p:sp>
        <p:nvSpPr>
          <p:cNvPr id="28" name="Text 26"/>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CONA Services  ·  Responsible AI training</a:t>
            </a:r>
            <a:endParaRPr lang="en-US" sz="900" dirty="0"/>
          </a:p>
        </p:txBody>
      </p:sp>
      <p:sp>
        <p:nvSpPr>
          <p:cNvPr id="29" name="Text 27"/>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6B6B6B"/>
                </a:solidFill>
                <a:latin typeface="Arial" pitchFamily="34" charset="0"/>
                <a:ea typeface="Arial" pitchFamily="34" charset="-122"/>
                <a:cs typeface="Arial"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4002B"/>
        </a:solidFill>
      </p:bgPr>
    </p:bg>
    <p:spTree>
      <p:nvGrpSpPr>
        <p:cNvPr id="1" name=""/>
        <p:cNvGrpSpPr/>
        <p:nvPr/>
      </p:nvGrpSpPr>
      <p:grpSpPr>
        <a:xfrm>
          <a:off x="0" y="0"/>
          <a:ext cx="0" cy="0"/>
          <a:chOff x="0" y="0"/>
          <a:chExt cx="0" cy="0"/>
        </a:xfrm>
      </p:grpSpPr>
      <p:sp>
        <p:nvSpPr>
          <p:cNvPr id="2" name="Text 0"/>
          <p:cNvSpPr txBox="1"/>
          <p:nvPr/>
        </p:nvSpPr>
        <p:spPr>
          <a:xfrm>
            <a:off x="548640" y="1188720"/>
            <a:ext cx="7315200" cy="3291840"/>
          </a:xfrm>
          <a:prstGeom prst="rect">
            <a:avLst/>
          </a:prstGeom>
          <a:noFill/>
          <a:ln/>
        </p:spPr>
        <p:txBody>
          <a:bodyPr wrap="square" lIns="0" tIns="0" rIns="0" bIns="0" rtlCol="0" anchor="t"/>
          <a:lstStyle/>
          <a:p>
            <a:pPr indent="0" marL="0">
              <a:buNone/>
            </a:pPr>
            <a:r>
              <a:rPr lang="en-US" sz="6000" b="1" dirty="0">
                <a:solidFill>
                  <a:srgbClr val="FFFFFF"/>
                </a:solidFill>
                <a:latin typeface="Arial" pitchFamily="34" charset="0"/>
                <a:ea typeface="Arial" pitchFamily="34" charset="-122"/>
                <a:cs typeface="Arial" pitchFamily="34" charset="-120"/>
              </a:rPr>
              <a:t>Use it well.</a:t>
            </a:r>
            <a:endParaRPr lang="en-US" sz="6000" dirty="0"/>
          </a:p>
          <a:p>
            <a:pPr indent="0" marL="0">
              <a:buNone/>
            </a:pPr>
            <a:r>
              <a:rPr lang="en-US" sz="6000" b="1" dirty="0">
                <a:solidFill>
                  <a:srgbClr val="FFFFFF"/>
                </a:solidFill>
                <a:latin typeface="Arial" pitchFamily="34" charset="0"/>
                <a:ea typeface="Arial" pitchFamily="34" charset="-122"/>
                <a:cs typeface="Arial" pitchFamily="34" charset="-120"/>
              </a:rPr>
              <a:t>Check it.</a:t>
            </a:r>
            <a:endParaRPr lang="en-US" sz="6000" dirty="0"/>
          </a:p>
          <a:p>
            <a:pPr indent="0" marL="0">
              <a:buNone/>
            </a:pPr>
            <a:r>
              <a:rPr lang="en-US" sz="6000" b="1" dirty="0">
                <a:solidFill>
                  <a:srgbClr val="FFFFFF"/>
                </a:solidFill>
                <a:latin typeface="Arial" pitchFamily="34" charset="0"/>
                <a:ea typeface="Arial" pitchFamily="34" charset="-122"/>
                <a:cs typeface="Arial" pitchFamily="34" charset="-120"/>
              </a:rPr>
              <a:t>Own it.</a:t>
            </a:r>
            <a:endParaRPr lang="en-US" sz="6000" dirty="0"/>
          </a:p>
        </p:txBody>
      </p:sp>
      <p:sp>
        <p:nvSpPr>
          <p:cNvPr id="3" name="Text 1"/>
          <p:cNvSpPr txBox="1"/>
          <p:nvPr/>
        </p:nvSpPr>
        <p:spPr>
          <a:xfrm>
            <a:off x="548640" y="4754880"/>
            <a:ext cx="5486400" cy="640080"/>
          </a:xfrm>
          <a:prstGeom prst="rect">
            <a:avLst/>
          </a:prstGeom>
          <a:noFill/>
          <a:ln/>
        </p:spPr>
        <p:txBody>
          <a:bodyPr wrap="square" lIns="0" tIns="0" rIns="0" bIns="0" rtlCol="0" anchor="t"/>
          <a:lstStyle/>
          <a:p>
            <a:pPr indent="0" marL="0">
              <a:buNone/>
            </a:pPr>
            <a:r>
              <a:rPr lang="en-US" sz="2800" dirty="0">
                <a:solidFill>
                  <a:srgbClr val="FFFFFF"/>
                </a:solidFill>
                <a:latin typeface="Arial" pitchFamily="34" charset="0"/>
                <a:ea typeface="Arial" pitchFamily="34" charset="-122"/>
                <a:cs typeface="Arial" pitchFamily="34" charset="-120"/>
              </a:rPr>
              <a:t>Questions?</a:t>
            </a:r>
            <a:endParaRPr lang="en-US" sz="2800" dirty="0"/>
          </a:p>
        </p:txBody>
      </p:sp>
      <p:sp>
        <p:nvSpPr>
          <p:cNvPr id="4" name="Shape 2"/>
          <p:cNvSpPr/>
          <p:nvPr/>
        </p:nvSpPr>
        <p:spPr>
          <a:xfrm>
            <a:off x="9052560" y="1645920"/>
            <a:ext cx="2377440" cy="237744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9646920" y="2240280"/>
            <a:ext cx="1188720" cy="1188720"/>
          </a:xfrm>
          <a:prstGeom prst="rect">
            <a:avLst/>
          </a:prstGeom>
        </p:spPr>
      </p:pic>
      <p:sp>
        <p:nvSpPr>
          <p:cNvPr id="6" name="Text 3"/>
          <p:cNvSpPr txBox="1"/>
          <p:nvPr/>
        </p:nvSpPr>
        <p:spPr>
          <a:xfrm>
            <a:off x="548640" y="6446520"/>
            <a:ext cx="3200400" cy="228600"/>
          </a:xfrm>
          <a:prstGeom prst="rect">
            <a:avLst/>
          </a:prstGeom>
          <a:noFill/>
          <a:ln/>
        </p:spPr>
        <p:txBody>
          <a:bodyPr wrap="square" lIns="0" tIns="0" rIns="0" bIns="0" rtlCol="0" anchor="t"/>
          <a:lstStyle/>
          <a:p>
            <a:pPr indent="0" marL="0">
              <a:buNone/>
            </a:pPr>
            <a:r>
              <a:rPr lang="en-US" sz="900" dirty="0">
                <a:solidFill>
                  <a:srgbClr val="FFD1DA"/>
                </a:solidFill>
                <a:latin typeface="Arial" pitchFamily="34" charset="0"/>
                <a:ea typeface="Arial" pitchFamily="34" charset="-122"/>
                <a:cs typeface="Arial" pitchFamily="34" charset="-120"/>
              </a:rPr>
              <a:t>CONA Services  ·  Responsible AI training</a:t>
            </a:r>
            <a:endParaRPr lang="en-US" sz="900" dirty="0"/>
          </a:p>
        </p:txBody>
      </p:sp>
      <p:sp>
        <p:nvSpPr>
          <p:cNvPr id="7"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FFD1DA"/>
                </a:solidFill>
                <a:latin typeface="Arial" pitchFamily="34" charset="0"/>
                <a:ea typeface="Arial" pitchFamily="34" charset="-122"/>
                <a:cs typeface="Arial" pitchFamily="34" charset="-120"/>
              </a:rPr>
              <a:t>38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CONA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Responsible AI at CONA Services</dc:title>
  <dc:subject>PptxGenJS Presentation</dc:subject>
  <dc:creator>CONA Services AI Enablement</dc:creator>
  <cp:lastModifiedBy>CONA Services AI Enablement</cp:lastModifiedBy>
  <cp:revision>1</cp:revision>
  <dcterms:created xsi:type="dcterms:W3CDTF">2026-09-26T21:00:30Z</dcterms:created>
  <dcterms:modified xsi:type="dcterms:W3CDTF">2026-09-26T21:00:30Z</dcterms:modified>
</cp:coreProperties>
</file>